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1 ]  Open cold. Don't read the slide out.
Hey everyone — welcome back to MOI Builders. I'm Adi, I work on ecosystem here at Sarva Labs, and
this is session seven.
Quick hello if you're new: grab the repo link in the description, everything I run today is in
there and you can follow along or break it afterwards, whichever you prefer.
And if you've been with us the last few sessions — you've already put an agent on chain. Session
three was the agent registry, session four was native assets and swaps. So you've got agents that
exist, and you've got money that moves. What you haven't had yet is the two of them in the same
room.
That's today. I want to show you two agents doing business with each other.
[ gesture at the slide ]
So here's what's actually running on my machine right now. Two programs. One of them sells
probability estimates on bitcoin. The other one has a question it can't answer for itself.
And the interesting part — they've never met. No account, no API key, nobody introduced them. They
genuinely do not know about each other yet.
In about thirty seconds one of them is going to find the other, decide it's legitimate, and pay it.
And the only thing I'm going to touch is the keyboard, once, at the very start.
Let me introduce them properly first.
[ next slide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2 ]  Stay here a while. This is the whole setup. Nothing to click.
Okay. So let me actually introduce these two, because I'm going to keep saying "agent" for the next
forty minutes and I'd rather be precise about what I mean by it.
On the left — the Risk Agent. This one's the buyer. It's got a question, it can't answer it, and it
has a wallet. And two things make it an agent rather than just a script: it works out for itself
which market actually answers its question, and it decides whether the price it gets quoted is
worth paying. Both of those are real decisions.
On the right — the Signal Desk. This one sells probability estimates. Will bitcoin draw down more
than twenty percent this quarter. Will it close higher next week. That sort of thing.
And here's the bit I like about it. It sets its own price, per request. That number isn't sitting in
a config file that I wrote. The desk works it out, fresh, every single time somebody asks.
[ pause — now point at the gap in the middle ]
Right. Now the important bit, and it's the empty space in the middle of this slide.
The buyer does not have the seller's address. It doesn't have its URL. It doesn't know it exists.
There's no shared secret, no contract, nobody signed up to anything.
The only thing these two have in common is that strip along the bottom — they're both registered on
MOI, and the money they're going to settle in is native to it. That's the entire relationship.
That's all they've got.
So the question for the rest of this session is a pretty simple one: how does one of them pay the
other?
[ CAREFUL — the seller sets its own price, but it does NOT decline a sale. Refusing isn't
  implemented. And don't say "two AI agents transacting autonomously" beyond what's on the slide;
  the seller's product is a stub and somebody will ask.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3 ]
Now, you might be thinking: this is a solved problem, right? Moving money is easy. And honestly,
yeah — chains have been doing that for the better part of two decades. That's not the hard part.
The hard part is everything you do without thinking, every single time you buy something from
somebody you've never met.
Think about it. You glance at the shop and you decide it looks real. You've got a rough number in
your head that you're not going past. And you quietly assume that if nothing turns up, there's some
way to get your money back.
Three instincts. You don't even notice you're using them — but you'd notice immediately if they
were gone.
[ pause ]
So take the human out, and every one of them disappears.
And you do have to take the human out. You can't approve a fraction-of-a-cent purchase by hand. The
clicking genuinely costs more than the thing you're buying.
Which means each of those instincts has to turn into something a machine can actually check. Three
questions — and it turns out that's three sessions, because they're each a different problem.
Today is the first one. How do you know who you're paying?
Let's go and watch it happen.
[ &gt;&gt;&gt; SWITCH TO BROWSER — http://localhost:4000 ]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BROWSER — http://localhost:4000 ]  Leave this slide up while you switch across.
Okay, so this is the buyer's console. And I'm just going to type what I want, in plain language.
Watch what I don't do here. I don't name a seller. I don't name a price. I don't give it an
address. I'm just telling it what I'm worried about.
[ TYPE: should i be worried about a crash ]
— 1 · "I don't know the answer to this" —
And the first thing it does is admit it's stuck. Which I think is the honest starting point for any
agent — I can't answer this, so who can?
And notice it isn't going looking for a company. It's going looking for a skill.
— 2 · "Found one" —
There we go. One agent came back. And look at everything that came with it — an id, the wallet it
registered, the URL where it lives, the skills it says it has.
All of that came off the chain. I never gave it that address. I gave it a question, and it worked
the rest out.
— 3 · "Here is what I sell" —
Now it's reading the catalog, and the catalog is free. The questions are public, you only pay for
the answers.
That's deliberate, by the way. If browsing cost money you couldn't work out what you wanted without
paying to find out — which is a rubbish shop.
— 4 · "This is the one I want" —
And it's gone for the drawdown market. Look at "decided by" — that's a model, actually reasoning
about it.
Worth pointing out: I typed the word "crash". That word appears nowhere in this catalog. The market
says "draw down". If this were keyword matching it would have missed it completely.
— 5 · "402 Payment Required" —
And here's the bill. Four-oh-two, Payment Required.
That status code has been sitting in the HTTP spec since 1997, basically unused, because until
fairly recently nothing needed to charge a machine for a single request.
And see how the desk tells me why it's charging this? That's its own pricing decision. It's not
reading a number off a shelf.
— 6 · "3 USDM — I'll pay that" —
And now the buyer decides whether that's fair. Two agents, two decisions, one transaction.
If the desk had marked this up hard, you'd be watching the buyer walk away instead of pay.
— 7 · "Checked who I am paying" —  ** SLOW DOWN. THIS IS THE WHOLE SESSION. **
Okay. This one I want to sit on for a second, because this is the thing I actually want you to
leave with.
That address in the quote is thirty-two bytes. And those thirty-two bytes tell you where to send
money. They tell you absolutely nothing about whose address it is.
And no payment protocol can help you here. That's genuinely not what they're for. They move value.
They don't vouch for people.
[ pause ]
So before it spends anything, the agent goes back to the chain and asks a completely different
question — is this actually the wallet that this agent registered?
It matches. So now it'll pay.
That check takes about a second. And crucially it happens before the money moves, not after. That
ordering is the entire security property — there's no escrow here, nothing to claw back, so a check
that runs late may as well not run at all.
— 8 · "Paid — on chain, from my own wallet" —
And there's the money. Real transfer, real interaction hash.
[ point at the green value next to "interaction" — click it, it copies ]
That's not a receipt I printed for myself. That interaction is sitting on devnet whether or not you
believe a single thing on this screen. Paste it into an explorer, it's there.
And read the wording on that one — from my own wallet. On MOI only the owner can move their own
funds. Nobody's holding this money on anybody's behalf, because nobody can.
— 9 · "I checked your payment myself" —
Seven checks now, on the seller's side. And it isn't taking the buyer's word for any of it — it
goes and reads that interaction off the chain and decodes it. Right sender, right recipient, right
amount, hasn't already been spent.
Same hash at the bottom there. The seller independently arrived at the transaction the buyer
claimed.
— 10 · the answer —
And there it is. Paid, delivered, and the balance up the top just dropped by three.
One thing I want to say plainly, because this is a number about bitcoin and those get
screenshotted — that probability is made up. There's no model behind it, no market data. Every
response says so in the payload. Today is about the payment, not the forecast.
=== THE REFUSAL — tick "Simulate a compromised listing", ask the same thing again ===
Right. Now let's break it.
So I've repointed the seller's registry entry at an attacker — imagine somebody got into the
listing and swapped the payout address. The seller itself hasn't changed at all. It's still going to
ask to be paid at its real address.
Watch what happens.
[ it stops at step 7 ]
And it stopped. Registry says one thing, quote says another, and it just walked away.
"Money moved: none" — and that's literal, that's not a nice message I wrote. It never built a
transaction. There's nothing to reverse because nothing happened.
[ let it sit for a beat ]
And notice who caught that. Not the seller. Not a middleman. The one with something to lose.
[ IF THE HAPPY PATH REFUSES: you Ctrl-C'd a tamper run earlier. Rerun it, let it finish.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EDITOR ]
Okay, so let's look at how much code that actually is — because I think people assume this sort of
thing is enormous, and it really isn't.
Four files. Everything that makes this safe is in them and nowhere else.
— payment-proof.ts —
So the entire wire format is two messages.
The seller sends a Quote — here's my price, here's the asset, here's where to pay, and here's my
agent id. And the buyer sends back a Claim — I sent this much, to you, in this transaction, for
this thing, and here's my signature over all of it.
That's the protocol. There's no third service, nothing to negotiate.
[ point at payToAgentId ]
And that field there is why any of this works. Take it away and payTo goes back to being thirty-two
anonymous bytes.
— identity-check.ts —  [ whole file on screen, 42 lines, don't scroll ]
And this is the idea the entire session is built on. Forty-two lines.
[ point at: if (normalizeAddress(registryWallet) !== normalizeAddress(quote.payTo)) ]
Read the wallet this agent registered. Compare it to the one on the invoice. Refuse if they
disagree.
That's it. That's the check no payment protocol can do for you — because it needs an identity that
lives somewhere both parties can go and look independently, without having to ask each other.
[ then show where approve() is called in pay.ts ]
And this is where it runs. Before the transfer. Not after, not alongside — before. The payment
client literally cannot spend anything until this returns a yes.
— verify-proof.ts —  [ show two of the seven, don't read them all out ]
I'll show you two of these rather than all seven.
Check three, key binds to payer. So — transfers are public. Anyone watching the chain can see that
payment land. Which raises a fun question: what stops somebody else grabbing my transaction hash,
claiming it, and walking off with the answer I paid for?
This does. The claim is signed, and this check derives the account id back out of the public key.
You can't claim a payment you didn't make.
And check six, transfer landed on chain. This is the seller doing the work itself — pulling the
interaction, decoding the calldata, checking sender and recipient and amount.
That's the cost of not having a middleman. There's nobody to ask, so you go and look it up
yourself.
[ OPTIONAL — run: npm run attack-test ]
Eleven forged payments. Every one rejected, and rejected for the right reason — plus one honest
payment that has to be accepted, because otherwise a verifier that just refuses everything would
look perfect.
— pricing.ts and worth.ts —
And these last two are why I'm comfortable calling both of these agents. The desk decides what to
charge, the buyer decides whether to pay it, and both of those are model calls.
But — and this is the bit I'd really like you to take away from the code — look at what the model
is not allowed to touch.
[ point at the clamp in pricing.ts, then SOFT_LIMIT in worth.ts ]
The price bounds are arithmetic. And the buyer's hard ceiling gets checked before the model is even
asked, which matters more than it looks — because the seller's justification for its price goes
straight into the buyer's prompt. That's untrusted text, written by the counterparty.
A model can be talked into things. That's a lovely property when you're choosing what to buy, and a
disqualifying one when you're guarding a wallet.
And nothing about whether a payment is valid goes anywhere near a model. That's all arithmetic and
signatures.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6 ]  — run the command in the terminal first, then come back to this slide.
So — the buyer's got a spending limit. It refuses anything over six.
Let me show you what that's actually worth.
[ &gt;&gt;&gt; TERMINAL: MAX_PRICE_PER_ANSWER=999999 npm run ask -- "should i be worried about a crash" ]
I didn't touch the code there. I set an environment variable, and the limit's gone.
Now — to be fair, it still won't pay something ridiculous, because there's a second opinion in
there: the model's own read on whether a markup is reasonable. But look where that lives. Same
process. It's a prompt I wrote, in a file I control.
[ pause ]
And that's the point I want to make. Every guardrail in this demo is self-imposed. A number the
agent set for itself, and a model it asks for a second opinion. Both of them are just code, and
whoever runs the agent can change it, delete it, or reword it.
[ point at the right-hand card ]
And honestly it's worse than that, in a way people don't usually expect.
That limit is per purchase. Nothing anywhere is tracking the total. So an agent with a six-unit
limit and a ninety-nine-thousand balance can spend every last unit of it — six at a time — without
ever violating its limit once. Every individual purchase is compliant. The wallet still empties.
[ pause ]
There is nothing on the chain capping this wallet. It spent three today because it decided to.
And that's the gap: an agent promising not to overspend is not the same thing as an agent that
can't.
[ DON'T say the env var makes it pay anything — I tested it, the model still refuses. The honest
  version is the one above: both guardrails live inside the agent.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7 ]
So that brings us back to the three questions we started with — and an honest scorecard.
Who am I paying? That one's answered. The registry, checked before any money moves. That's today.
What am I allowed to spend? Not answered. And that's session eight — a cap that the chain itself
enforces, that the agent can't just lift by editing a variable, because it doesn't own that
authority. It inherits it. Which is a genuinely different thing, and it's the whole next session.
And what happens if they don't deliver? Also not answered. Right now it is pay and hope. Session
nine makes it pay-on-delivery using MOI's native lockup and release.
So — one down, two to go. Come back for those.
[ IF ASKED what happens today when a seller takes the money and vanishes: you lose it. Same as
  handing over cash. Don't dress it up.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8 ]  Close here, then open it up for questions.
Right — that's the session.
Everything you just watched settled on MOI devnet. Those interaction hashes are real, go and look
them up, I'd encourage it. The repo's linked, and one funded wallet runs the whole thing end to
end — the seller never needs gas because it only ever receives.
And the thing I'd like you to walk away with isn't the payment. Moving money is the easy part.
It's the check that happens in the second before the money moves — and the fact that an agent can
only make that check because there's a chain sitting there that it can go and ask.
Next time: what happens when it isn't allowed to spend it in the first place.
Thanks for watching — happy to take questions.
=== LIKELY QUESTIONS ===
Seller takes the money and delivers nothing? You lose it. Same as handing over cash. Session nine
makes the payment conditional on delivery.
Are these really two separate agents? Two wallets, two on-chain identities, two independent
decisions. But one machine and one mnemonic today — same operator, two accounts. The chain doesn't
know or care, and the transfer between them is real either way.
Why not x402? We built that first, it's on a branch. It buys you interoperability — any x402 client
could pay this seller. Costs about twice the code and a second service to run. The identity check,
which is the actual point, is identical in both.
What stops a replayed payment? The transfer hash gets burned once it's bought something. Honest
caveat: that set's in memory, so restarting the seller resets it. A real seller would persist it.
Is the seller's product real? No — it's a stub. Invented numbers, with a disclaimer on every
response. The payment machinery around it is real, and that's the part that doesn't change when you
put an actual model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pic>
        <p:nvPicPr>
          <p:cNvPr id="3" name="Image 0" descr="moi-mark.png">    </p:cNvPr>
          <p:cNvPicPr>
            <a:picLocks noChangeAspect="1"/>
          </p:cNvPicPr>
          <p:nvPr/>
        </p:nvPicPr>
        <p:blipFill>
          <a:blip r:embed="rId1"/>
          <a:stretch>
            <a:fillRect/>
          </a:stretch>
        </p:blipFill>
        <p:spPr>
          <a:xfrm>
            <a:off x="822960" y="1481328"/>
            <a:ext cx="420624" cy="420624"/>
          </a:xfrm>
          <a:prstGeom prst="rect">
            <a:avLst/>
          </a:prstGeom>
        </p:spPr>
      </p:pic>
      <p:sp>
        <p:nvSpPr>
          <p:cNvPr id="4" name="Text 0"/>
          <p:cNvSpPr/>
          <p:nvPr/>
        </p:nvSpPr>
        <p:spPr>
          <a:xfrm>
            <a:off x="822960" y="2139696"/>
            <a:ext cx="5486400" cy="274320"/>
          </a:xfrm>
          <a:prstGeom prst="rect">
            <a:avLst/>
          </a:prstGeom>
          <a:noFill/>
          <a:ln/>
        </p:spPr>
        <p:txBody>
          <a:bodyPr wrap="square" lIns="0" tIns="0" rIns="0" bIns="0" rtlCol="0" anchor="ctr"/>
          <a:lstStyle/>
          <a:p>
            <a:pPr indent="0" marL="0">
              <a:buNone/>
            </a:pPr>
            <a:r>
              <a:rPr lang="en-US" sz="1100" b="1" spc="220" kern="0" dirty="0">
                <a:solidFill>
                  <a:srgbClr val="8B8AF0"/>
                </a:solidFill>
                <a:latin typeface="JetBrains Mono" pitchFamily="34" charset="0"/>
                <a:ea typeface="JetBrains Mono" pitchFamily="34" charset="-122"/>
                <a:cs typeface="JetBrains Mono" pitchFamily="34" charset="-120"/>
              </a:rPr>
              <a:t>MOI BUILDERS · SESSION 07</a:t>
            </a:r>
            <a:endParaRPr lang="en-US" sz="1100" dirty="0"/>
          </a:p>
        </p:txBody>
      </p:sp>
      <p:sp>
        <p:nvSpPr>
          <p:cNvPr id="5" name="Text 1"/>
          <p:cNvSpPr/>
          <p:nvPr/>
        </p:nvSpPr>
        <p:spPr>
          <a:xfrm>
            <a:off x="777240" y="2487168"/>
            <a:ext cx="6400800" cy="1828800"/>
          </a:xfrm>
          <a:prstGeom prst="rect">
            <a:avLst/>
          </a:prstGeom>
          <a:noFill/>
          <a:ln/>
        </p:spPr>
        <p:txBody>
          <a:bodyPr wrap="square" lIns="0" tIns="0" rIns="0" bIns="0" rtlCol="0" anchor="t"/>
          <a:lstStyle/>
          <a:p>
            <a:pPr indent="0" marL="0">
              <a:lnSpc>
                <a:spcPts val="6600"/>
              </a:lnSpc>
              <a:buNone/>
            </a:pPr>
            <a:r>
              <a:rPr lang="en-US" sz="6200" b="1" dirty="0">
                <a:solidFill>
                  <a:srgbClr val="FFFFFF"/>
                </a:solidFill>
                <a:latin typeface="Inter" pitchFamily="34" charset="0"/>
                <a:ea typeface="Inter" pitchFamily="34" charset="-122"/>
                <a:cs typeface="Inter" pitchFamily="34" charset="-120"/>
              </a:rPr>
              <a:t>Agentic</a:t>
            </a:r>
            <a:endParaRPr lang="en-US" sz="6200" dirty="0"/>
          </a:p>
          <a:p>
            <a:pPr indent="0" marL="0">
              <a:lnSpc>
                <a:spcPts val="6600"/>
              </a:lnSpc>
              <a:buNone/>
            </a:pPr>
            <a:r>
              <a:rPr lang="en-US" sz="6200" b="1" dirty="0">
                <a:solidFill>
                  <a:srgbClr val="FFFFFF"/>
                </a:solidFill>
                <a:latin typeface="Inter" pitchFamily="34" charset="0"/>
                <a:ea typeface="Inter" pitchFamily="34" charset="-122"/>
                <a:cs typeface="Inter" pitchFamily="34" charset="-120"/>
              </a:rPr>
              <a:t>Payments</a:t>
            </a:r>
            <a:endParaRPr lang="en-US" sz="6200" dirty="0"/>
          </a:p>
        </p:txBody>
      </p:sp>
      <p:sp>
        <p:nvSpPr>
          <p:cNvPr id="6" name="Text 2"/>
          <p:cNvSpPr/>
          <p:nvPr/>
        </p:nvSpPr>
        <p:spPr>
          <a:xfrm>
            <a:off x="822960" y="4443984"/>
            <a:ext cx="5852160" cy="731520"/>
          </a:xfrm>
          <a:prstGeom prst="rect">
            <a:avLst/>
          </a:prstGeom>
          <a:noFill/>
          <a:ln/>
        </p:spPr>
        <p:txBody>
          <a:bodyPr wrap="square" lIns="0" tIns="0" rIns="0" bIns="0" rtlCol="0" anchor="ctr"/>
          <a:lstStyle/>
          <a:p>
            <a:pPr indent="0" marL="0">
              <a:lnSpc>
                <a:spcPts val="2600"/>
              </a:lnSpc>
              <a:buNone/>
            </a:pPr>
            <a:r>
              <a:rPr lang="en-US" sz="1650" dirty="0">
                <a:solidFill>
                  <a:srgbClr val="B9BECD"/>
                </a:solidFill>
                <a:latin typeface="Inter" pitchFamily="34" charset="0"/>
                <a:ea typeface="Inter" pitchFamily="34" charset="-122"/>
                <a:cs typeface="Inter" pitchFamily="34" charset="-120"/>
              </a:rPr>
              <a:t>An agent finds another agent on MOI — and pays it.</a:t>
            </a:r>
            <a:endParaRPr lang="en-US" sz="1650" dirty="0"/>
          </a:p>
          <a:p>
            <a:pPr indent="0" marL="0">
              <a:lnSpc>
                <a:spcPts val="2600"/>
              </a:lnSpc>
              <a:buNone/>
            </a:pPr>
            <a:r>
              <a:rPr lang="en-US" sz="1650" dirty="0">
                <a:solidFill>
                  <a:srgbClr val="B9BECD"/>
                </a:solidFill>
                <a:latin typeface="Inter" pitchFamily="34" charset="0"/>
                <a:ea typeface="Inter" pitchFamily="34" charset="-122"/>
                <a:cs typeface="Inter" pitchFamily="34" charset="-120"/>
              </a:rPr>
              <a:t>No human, no account, no API key.</a:t>
            </a:r>
            <a:endParaRPr lang="en-US" sz="1650" dirty="0"/>
          </a:p>
        </p:txBody>
      </p:sp>
      <p:sp>
        <p:nvSpPr>
          <p:cNvPr id="7" name="Text 3"/>
          <p:cNvSpPr/>
          <p:nvPr/>
        </p:nvSpPr>
        <p:spPr>
          <a:xfrm>
            <a:off x="822960" y="5321808"/>
            <a:ext cx="5486400" cy="274320"/>
          </a:xfrm>
          <a:prstGeom prst="rect">
            <a:avLst/>
          </a:prstGeom>
          <a:noFill/>
          <a:ln/>
        </p:spPr>
        <p:txBody>
          <a:bodyPr wrap="square" lIns="0" tIns="0" rIns="0" bIns="0" rtlCol="0" anchor="ctr"/>
          <a:lstStyle/>
          <a:p>
            <a:pPr indent="0" marL="0">
              <a:buNone/>
            </a:pPr>
            <a:r>
              <a:rPr lang="en-US" sz="1000" spc="180" kern="0" dirty="0">
                <a:solidFill>
                  <a:srgbClr val="6B7280"/>
                </a:solidFill>
                <a:latin typeface="JetBrains Mono" pitchFamily="34" charset="0"/>
                <a:ea typeface="JetBrains Mono" pitchFamily="34" charset="-122"/>
                <a:cs typeface="JetBrains Mono" pitchFamily="34" charset="-120"/>
              </a:rPr>
              <a:t>PART 1 OF 3 · IDENTITY</a:t>
            </a:r>
            <a:endParaRPr lang="en-US" sz="1000" dirty="0"/>
          </a:p>
        </p:txBody>
      </p:sp>
      <p:sp>
        <p:nvSpPr>
          <p:cNvPr id="8" name="Shape 4"/>
          <p:cNvSpPr/>
          <p:nvPr/>
        </p:nvSpPr>
        <p:spPr>
          <a:xfrm>
            <a:off x="8366760" y="3127248"/>
            <a:ext cx="1097280" cy="914400"/>
          </a:xfrm>
          <a:prstGeom prst="line">
            <a:avLst/>
          </a:prstGeom>
          <a:noFill/>
          <a:ln w="19050">
            <a:solidFill>
              <a:srgbClr val="363C49"/>
            </a:solidFill>
            <a:prstDash val="dash"/>
          </a:ln>
        </p:spPr>
      </p:sp>
      <p:sp>
        <p:nvSpPr>
          <p:cNvPr id="9" name="Shape 5"/>
          <p:cNvSpPr/>
          <p:nvPr/>
        </p:nvSpPr>
        <p:spPr>
          <a:xfrm>
            <a:off x="7269480" y="2084832"/>
            <a:ext cx="2606040" cy="1170432"/>
          </a:xfrm>
          <a:prstGeom prst="roundRect">
            <a:avLst>
              <a:gd name="adj" fmla="val 4688"/>
            </a:avLst>
          </a:prstGeom>
          <a:solidFill>
            <a:srgbClr val="1C212B"/>
          </a:solidFill>
          <a:ln w="12700">
            <a:solidFill>
              <a:srgbClr val="363C49"/>
            </a:solidFill>
            <a:prstDash val="solid"/>
          </a:ln>
        </p:spPr>
      </p:sp>
      <p:sp>
        <p:nvSpPr>
          <p:cNvPr id="10" name="Text 6"/>
          <p:cNvSpPr/>
          <p:nvPr/>
        </p:nvSpPr>
        <p:spPr>
          <a:xfrm>
            <a:off x="7525512" y="2249424"/>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BUYER</a:t>
            </a:r>
            <a:endParaRPr lang="en-US" sz="900" dirty="0"/>
          </a:p>
        </p:txBody>
      </p:sp>
      <p:sp>
        <p:nvSpPr>
          <p:cNvPr id="11" name="Text 7"/>
          <p:cNvSpPr/>
          <p:nvPr/>
        </p:nvSpPr>
        <p:spPr>
          <a:xfrm>
            <a:off x="7525512" y="2487168"/>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Risk Agent</a:t>
            </a:r>
            <a:endParaRPr lang="en-US" sz="1700" dirty="0"/>
          </a:p>
        </p:txBody>
      </p:sp>
      <p:sp>
        <p:nvSpPr>
          <p:cNvPr id="12" name="Text 8"/>
          <p:cNvSpPr/>
          <p:nvPr/>
        </p:nvSpPr>
        <p:spPr>
          <a:xfrm>
            <a:off x="7525512" y="2852928"/>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0x…8ef2c197…</a:t>
            </a:r>
            <a:endParaRPr lang="en-US" sz="900" dirty="0"/>
          </a:p>
        </p:txBody>
      </p:sp>
      <p:sp>
        <p:nvSpPr>
          <p:cNvPr id="13" name="Shape 9"/>
          <p:cNvSpPr/>
          <p:nvPr/>
        </p:nvSpPr>
        <p:spPr>
          <a:xfrm>
            <a:off x="8732520" y="4041648"/>
            <a:ext cx="2606040" cy="1170432"/>
          </a:xfrm>
          <a:prstGeom prst="roundRect">
            <a:avLst>
              <a:gd name="adj" fmla="val 4688"/>
            </a:avLst>
          </a:prstGeom>
          <a:solidFill>
            <a:srgbClr val="1C212B"/>
          </a:solidFill>
          <a:ln w="12700">
            <a:solidFill>
              <a:srgbClr val="363C49"/>
            </a:solidFill>
            <a:prstDash val="solid"/>
          </a:ln>
        </p:spPr>
      </p:sp>
      <p:sp>
        <p:nvSpPr>
          <p:cNvPr id="14" name="Text 10"/>
          <p:cNvSpPr/>
          <p:nvPr/>
        </p:nvSpPr>
        <p:spPr>
          <a:xfrm>
            <a:off x="8988552" y="4206240"/>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SELLER</a:t>
            </a:r>
            <a:endParaRPr lang="en-US" sz="900" dirty="0"/>
          </a:p>
        </p:txBody>
      </p:sp>
      <p:sp>
        <p:nvSpPr>
          <p:cNvPr id="15" name="Text 11"/>
          <p:cNvSpPr/>
          <p:nvPr/>
        </p:nvSpPr>
        <p:spPr>
          <a:xfrm>
            <a:off x="8988552" y="4443984"/>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Signal Desk</a:t>
            </a:r>
            <a:endParaRPr lang="en-US" sz="1700" dirty="0"/>
          </a:p>
        </p:txBody>
      </p:sp>
      <p:sp>
        <p:nvSpPr>
          <p:cNvPr id="16" name="Text 12"/>
          <p:cNvSpPr/>
          <p:nvPr/>
        </p:nvSpPr>
        <p:spPr>
          <a:xfrm>
            <a:off x="8988552" y="4809744"/>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0x…1d2f8c28…</a:t>
            </a:r>
            <a:endParaRPr lang="en-US" sz="900" dirty="0"/>
          </a:p>
        </p:txBody>
      </p:sp>
      <p:sp>
        <p:nvSpPr>
          <p:cNvPr id="17" name="Shape 13"/>
          <p:cNvSpPr/>
          <p:nvPr/>
        </p:nvSpPr>
        <p:spPr>
          <a:xfrm>
            <a:off x="8686800" y="3383280"/>
            <a:ext cx="420624" cy="420624"/>
          </a:xfrm>
          <a:prstGeom prst="ellipse">
            <a:avLst/>
          </a:prstGeom>
          <a:solidFill>
            <a:srgbClr val="0E1116"/>
          </a:solidFill>
          <a:ln w="15875">
            <a:solidFill>
              <a:srgbClr val="D6336C"/>
            </a:solidFill>
            <a:prstDash val="solid"/>
          </a:ln>
        </p:spPr>
      </p:sp>
      <p:sp>
        <p:nvSpPr>
          <p:cNvPr id="18" name="Text 14"/>
          <p:cNvSpPr/>
          <p:nvPr/>
        </p:nvSpPr>
        <p:spPr>
          <a:xfrm>
            <a:off x="8686800" y="3383280"/>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19" name="Text 15"/>
          <p:cNvSpPr/>
          <p:nvPr/>
        </p:nvSpPr>
        <p:spPr>
          <a:xfrm>
            <a:off x="9189720" y="3456432"/>
            <a:ext cx="1645920" cy="274320"/>
          </a:xfrm>
          <a:prstGeom prst="rect">
            <a:avLst/>
          </a:prstGeom>
          <a:noFill/>
          <a:ln/>
        </p:spPr>
        <p:txBody>
          <a:bodyPr wrap="square" lIns="0" tIns="0" rIns="0" bIns="0" rtlCol="0" anchor="ctr"/>
          <a:lstStyle/>
          <a:p>
            <a:pPr indent="0" marL="0">
              <a:buNone/>
            </a:pPr>
            <a:r>
              <a:rPr lang="en-US" sz="1000" dirty="0">
                <a:solidFill>
                  <a:srgbClr val="9AA0AE"/>
                </a:solidFill>
                <a:latin typeface="JetBrains Mono" pitchFamily="34" charset="0"/>
                <a:ea typeface="JetBrains Mono" pitchFamily="34" charset="-122"/>
                <a:cs typeface="JetBrains Mono" pitchFamily="34" charset="-120"/>
              </a:rPr>
              <a:t>never met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02</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SETUP</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02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Two agents that have never met</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One needs an answer. One sells them. Neither was told the other exists.</a:t>
            </a:r>
            <a:endParaRPr lang="en-US" sz="1450" dirty="0"/>
          </a:p>
        </p:txBody>
      </p:sp>
      <p:sp>
        <p:nvSpPr>
          <p:cNvPr id="9" name="Shape 6"/>
          <p:cNvSpPr/>
          <p:nvPr/>
        </p:nvSpPr>
        <p:spPr>
          <a:xfrm>
            <a:off x="822960" y="2377440"/>
            <a:ext cx="4526280" cy="2286000"/>
          </a:xfrm>
          <a:prstGeom prst="roundRect">
            <a:avLst>
              <a:gd name="adj" fmla="val 2400"/>
            </a:avLst>
          </a:prstGeom>
          <a:solidFill>
            <a:srgbClr val="EEF0FB"/>
          </a:solidFill>
          <a:ln w="12700">
            <a:solidFill>
              <a:srgbClr val="C9CBF0"/>
            </a:solidFill>
            <a:prstDash val="solid"/>
          </a:ln>
        </p:spPr>
      </p:sp>
      <p:sp>
        <p:nvSpPr>
          <p:cNvPr id="10" name="Text 7"/>
          <p:cNvSpPr/>
          <p:nvPr/>
        </p:nvSpPr>
        <p:spPr>
          <a:xfrm>
            <a:off x="1133856"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BUYER</a:t>
            </a:r>
            <a:endParaRPr lang="en-US" sz="950" dirty="0"/>
          </a:p>
        </p:txBody>
      </p:sp>
      <p:sp>
        <p:nvSpPr>
          <p:cNvPr id="11" name="Text 8"/>
          <p:cNvSpPr/>
          <p:nvPr/>
        </p:nvSpPr>
        <p:spPr>
          <a:xfrm>
            <a:off x="1133856"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Risk Agent</a:t>
            </a:r>
            <a:endParaRPr lang="en-US" sz="2400" dirty="0"/>
          </a:p>
        </p:txBody>
      </p:sp>
      <p:sp>
        <p:nvSpPr>
          <p:cNvPr id="12" name="Text 9"/>
          <p:cNvSpPr/>
          <p:nvPr/>
        </p:nvSpPr>
        <p:spPr>
          <a:xfrm>
            <a:off x="1133856"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Has a question it cannot answer itself.</a:t>
            </a:r>
            <a:endParaRPr lang="en-US" sz="1350" dirty="0"/>
          </a:p>
        </p:txBody>
      </p:sp>
      <p:sp>
        <p:nvSpPr>
          <p:cNvPr id="13" name="Text 10"/>
          <p:cNvSpPr/>
          <p:nvPr/>
        </p:nvSpPr>
        <p:spPr>
          <a:xfrm>
            <a:off x="1152144"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which market answers it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whether the price is worth paying</a:t>
            </a:r>
            <a:endParaRPr lang="en-US" sz="1250" dirty="0"/>
          </a:p>
        </p:txBody>
      </p:sp>
      <p:sp>
        <p:nvSpPr>
          <p:cNvPr id="14" name="Text 11"/>
          <p:cNvSpPr/>
          <p:nvPr/>
        </p:nvSpPr>
        <p:spPr>
          <a:xfrm>
            <a:off x="1133856"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0x…8ef2c197…</a:t>
            </a:r>
            <a:pPr indent="0" marL="0">
              <a:buNone/>
            </a:pPr>
            <a:r>
              <a:rPr lang="en-US" sz="950" dirty="0">
                <a:solidFill>
                  <a:srgbClr val="9AA0AE"/>
                </a:solidFill>
                <a:latin typeface="JetBrains Mono" pitchFamily="34" charset="0"/>
                <a:ea typeface="JetBrains Mono" pitchFamily="34" charset="-122"/>
                <a:cs typeface="JetBrains Mono" pitchFamily="34" charset="-120"/>
              </a:rPr>
              <a:t>   holds the funds</a:t>
            </a:r>
            <a:endParaRPr lang="en-US" sz="950" dirty="0"/>
          </a:p>
        </p:txBody>
      </p:sp>
      <p:sp>
        <p:nvSpPr>
          <p:cNvPr id="15" name="Shape 12"/>
          <p:cNvSpPr/>
          <p:nvPr/>
        </p:nvSpPr>
        <p:spPr>
          <a:xfrm>
            <a:off x="6839712" y="2377440"/>
            <a:ext cx="4526280" cy="2286000"/>
          </a:xfrm>
          <a:prstGeom prst="roundRect">
            <a:avLst>
              <a:gd name="adj" fmla="val 2400"/>
            </a:avLst>
          </a:prstGeom>
          <a:solidFill>
            <a:srgbClr val="F4F4F8"/>
          </a:solidFill>
          <a:ln w="12700">
            <a:solidFill>
              <a:srgbClr val="E4E5EC"/>
            </a:solidFill>
            <a:prstDash val="solid"/>
          </a:ln>
        </p:spPr>
      </p:sp>
      <p:sp>
        <p:nvSpPr>
          <p:cNvPr id="16" name="Text 13"/>
          <p:cNvSpPr/>
          <p:nvPr/>
        </p:nvSpPr>
        <p:spPr>
          <a:xfrm>
            <a:off x="7150608"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SELLER</a:t>
            </a:r>
            <a:endParaRPr lang="en-US" sz="950" dirty="0"/>
          </a:p>
        </p:txBody>
      </p:sp>
      <p:sp>
        <p:nvSpPr>
          <p:cNvPr id="17" name="Text 14"/>
          <p:cNvSpPr/>
          <p:nvPr/>
        </p:nvSpPr>
        <p:spPr>
          <a:xfrm>
            <a:off x="7150608"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Signal Desk</a:t>
            </a:r>
            <a:endParaRPr lang="en-US" sz="2400" dirty="0"/>
          </a:p>
        </p:txBody>
      </p:sp>
      <p:sp>
        <p:nvSpPr>
          <p:cNvPr id="18" name="Text 15"/>
          <p:cNvSpPr/>
          <p:nvPr/>
        </p:nvSpPr>
        <p:spPr>
          <a:xfrm>
            <a:off x="7150608"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Sells probability estimates on bitcoin.</a:t>
            </a:r>
            <a:endParaRPr lang="en-US" sz="1350" dirty="0"/>
          </a:p>
        </p:txBody>
      </p:sp>
      <p:sp>
        <p:nvSpPr>
          <p:cNvPr id="19" name="Text 16"/>
          <p:cNvSpPr/>
          <p:nvPr/>
        </p:nvSpPr>
        <p:spPr>
          <a:xfrm>
            <a:off x="7168896"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what to charge, per request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Sets its own price, per request</a:t>
            </a:r>
            <a:endParaRPr lang="en-US" sz="1250" dirty="0"/>
          </a:p>
        </p:txBody>
      </p:sp>
      <p:sp>
        <p:nvSpPr>
          <p:cNvPr id="20" name="Text 17"/>
          <p:cNvSpPr/>
          <p:nvPr/>
        </p:nvSpPr>
        <p:spPr>
          <a:xfrm>
            <a:off x="7150608"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0x…1d2f8c28…</a:t>
            </a:r>
            <a:pPr indent="0" marL="0">
              <a:buNone/>
            </a:pPr>
            <a:r>
              <a:rPr lang="en-US" sz="950" dirty="0">
                <a:solidFill>
                  <a:srgbClr val="9AA0AE"/>
                </a:solidFill>
                <a:latin typeface="JetBrains Mono" pitchFamily="34" charset="0"/>
                <a:ea typeface="JetBrains Mono" pitchFamily="34" charset="-122"/>
                <a:cs typeface="JetBrains Mono" pitchFamily="34" charset="-120"/>
              </a:rPr>
              <a:t>   receive-only</a:t>
            </a:r>
            <a:endParaRPr lang="en-US" sz="950" dirty="0"/>
          </a:p>
        </p:txBody>
      </p:sp>
      <p:sp>
        <p:nvSpPr>
          <p:cNvPr id="21" name="Shape 18"/>
          <p:cNvSpPr/>
          <p:nvPr/>
        </p:nvSpPr>
        <p:spPr>
          <a:xfrm>
            <a:off x="5513832" y="3218688"/>
            <a:ext cx="457200" cy="0"/>
          </a:xfrm>
          <a:prstGeom prst="line">
            <a:avLst/>
          </a:prstGeom>
          <a:noFill/>
          <a:ln w="19050">
            <a:solidFill>
              <a:srgbClr val="C9CBF0"/>
            </a:solidFill>
            <a:prstDash val="dash"/>
          </a:ln>
        </p:spPr>
      </p:sp>
      <p:sp>
        <p:nvSpPr>
          <p:cNvPr id="22" name="Shape 19"/>
          <p:cNvSpPr/>
          <p:nvPr/>
        </p:nvSpPr>
        <p:spPr>
          <a:xfrm>
            <a:off x="6217920" y="3218688"/>
            <a:ext cx="457200" cy="0"/>
          </a:xfrm>
          <a:prstGeom prst="line">
            <a:avLst/>
          </a:prstGeom>
          <a:noFill/>
          <a:ln w="19050">
            <a:solidFill>
              <a:srgbClr val="C9CBF0"/>
            </a:solidFill>
            <a:prstDash val="dash"/>
          </a:ln>
        </p:spPr>
      </p:sp>
      <p:sp>
        <p:nvSpPr>
          <p:cNvPr id="23" name="Shape 20"/>
          <p:cNvSpPr/>
          <p:nvPr/>
        </p:nvSpPr>
        <p:spPr>
          <a:xfrm>
            <a:off x="5884164" y="3008376"/>
            <a:ext cx="420624" cy="420624"/>
          </a:xfrm>
          <a:prstGeom prst="ellipse">
            <a:avLst/>
          </a:prstGeom>
          <a:solidFill>
            <a:srgbClr val="FFFFFF"/>
          </a:solidFill>
          <a:ln w="15875">
            <a:solidFill>
              <a:srgbClr val="D6336C"/>
            </a:solidFill>
            <a:prstDash val="solid"/>
          </a:ln>
        </p:spPr>
      </p:sp>
      <p:sp>
        <p:nvSpPr>
          <p:cNvPr id="24" name="Text 21"/>
          <p:cNvSpPr/>
          <p:nvPr/>
        </p:nvSpPr>
        <p:spPr>
          <a:xfrm>
            <a:off x="5884164" y="3008376"/>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25" name="Text 22"/>
          <p:cNvSpPr/>
          <p:nvPr/>
        </p:nvSpPr>
        <p:spPr>
          <a:xfrm>
            <a:off x="5317236" y="3584448"/>
            <a:ext cx="1554480" cy="685800"/>
          </a:xfrm>
          <a:prstGeom prst="rect">
            <a:avLst/>
          </a:prstGeom>
          <a:noFill/>
          <a:ln/>
        </p:spPr>
        <p:txBody>
          <a:bodyPr wrap="square" lIns="0" tIns="0" rIns="0" bIns="0" rtlCol="0" anchor="ctr"/>
          <a:lstStyle/>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account</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API key</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prior contact</a:t>
            </a:r>
            <a:endParaRPr lang="en-US" sz="950" dirty="0"/>
          </a:p>
        </p:txBody>
      </p:sp>
      <p:sp>
        <p:nvSpPr>
          <p:cNvPr id="26" name="Shape 23"/>
          <p:cNvSpPr/>
          <p:nvPr/>
        </p:nvSpPr>
        <p:spPr>
          <a:xfrm>
            <a:off x="3086100" y="4754880"/>
            <a:ext cx="0" cy="365760"/>
          </a:xfrm>
          <a:prstGeom prst="line">
            <a:avLst/>
          </a:prstGeom>
          <a:noFill/>
          <a:ln w="19050">
            <a:solidFill>
              <a:srgbClr val="C9CBF0"/>
            </a:solidFill>
            <a:prstDash val="solid"/>
            <a:tailEnd type="triangle"/>
          </a:ln>
        </p:spPr>
      </p:sp>
      <p:sp>
        <p:nvSpPr>
          <p:cNvPr id="27" name="Shape 24"/>
          <p:cNvSpPr/>
          <p:nvPr/>
        </p:nvSpPr>
        <p:spPr>
          <a:xfrm>
            <a:off x="9102852" y="4754880"/>
            <a:ext cx="0" cy="365760"/>
          </a:xfrm>
          <a:prstGeom prst="line">
            <a:avLst/>
          </a:prstGeom>
          <a:noFill/>
          <a:ln w="19050">
            <a:solidFill>
              <a:srgbClr val="C9CBF0"/>
            </a:solidFill>
            <a:prstDash val="solid"/>
            <a:tailEnd type="triangle"/>
          </a:ln>
        </p:spPr>
      </p:sp>
      <p:sp>
        <p:nvSpPr>
          <p:cNvPr id="28" name="Shape 25"/>
          <p:cNvSpPr/>
          <p:nvPr/>
        </p:nvSpPr>
        <p:spPr>
          <a:xfrm>
            <a:off x="822960" y="5166360"/>
            <a:ext cx="10543032" cy="896112"/>
          </a:xfrm>
          <a:prstGeom prst="roundRect">
            <a:avLst>
              <a:gd name="adj" fmla="val 6122"/>
            </a:avLst>
          </a:prstGeom>
          <a:solidFill>
            <a:srgbClr val="0E1116"/>
          </a:solidFill>
          <a:ln/>
        </p:spPr>
      </p:sp>
      <p:sp>
        <p:nvSpPr>
          <p:cNvPr id="29" name="Text 26"/>
          <p:cNvSpPr/>
          <p:nvPr/>
        </p:nvSpPr>
        <p:spPr>
          <a:xfrm>
            <a:off x="1133856" y="5303520"/>
            <a:ext cx="4572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MOI VOYAGE DEVNET</a:t>
            </a:r>
            <a:endParaRPr lang="en-US" sz="950" dirty="0"/>
          </a:p>
        </p:txBody>
      </p:sp>
      <p:sp>
        <p:nvSpPr>
          <p:cNvPr id="30" name="Text 27"/>
          <p:cNvSpPr/>
          <p:nvPr/>
        </p:nvSpPr>
        <p:spPr>
          <a:xfrm>
            <a:off x="1133856" y="5559552"/>
            <a:ext cx="9921240" cy="274320"/>
          </a:xfrm>
          <a:prstGeom prst="rect">
            <a:avLst/>
          </a:prstGeom>
          <a:noFill/>
          <a:ln/>
        </p:spPr>
        <p:txBody>
          <a:bodyPr wrap="square" lIns="0" tIns="0" rIns="0" bIns="0" rtlCol="0" anchor="ctr"/>
          <a:lstStyle/>
          <a:p>
            <a:pPr indent="0" marL="0">
              <a:buNone/>
            </a:pPr>
            <a:r>
              <a:rPr lang="en-US" sz="1250" b="1" dirty="0">
                <a:solidFill>
                  <a:srgbClr val="FFFFFF"/>
                </a:solidFill>
                <a:latin typeface="Inter" pitchFamily="34" charset="0"/>
                <a:ea typeface="Inter" pitchFamily="34" charset="-122"/>
                <a:cs typeface="Inter" pitchFamily="34" charset="-120"/>
              </a:rPr>
              <a:t>Agent registry</a:t>
            </a:r>
            <a:pPr indent="0" marL="0">
              <a:buNone/>
            </a:pPr>
            <a:r>
              <a:rPr lang="en-US" sz="1250" dirty="0">
                <a:solidFill>
                  <a:srgbClr val="B9BECD"/>
                </a:solidFill>
                <a:latin typeface="Inter" pitchFamily="34" charset="0"/>
                <a:ea typeface="Inter" pitchFamily="34" charset="-122"/>
                <a:cs typeface="Inter" pitchFamily="34" charset="-120"/>
              </a:rPr>
              <a:t> — both identities, and the wallet each one registered.   ·   </a:t>
            </a:r>
            <a:pPr indent="0" marL="0">
              <a:buNone/>
            </a:pPr>
            <a:r>
              <a:rPr lang="en-US" sz="1250" b="1" dirty="0">
                <a:solidFill>
                  <a:srgbClr val="FFFFFF"/>
                </a:solidFill>
                <a:latin typeface="Inter" pitchFamily="34" charset="0"/>
                <a:ea typeface="Inter" pitchFamily="34" charset="-122"/>
                <a:cs typeface="Inter" pitchFamily="34" charset="-120"/>
              </a:rPr>
              <a:t>Native MAS0 asset</a:t>
            </a:r>
            <a:pPr indent="0" marL="0">
              <a:buNone/>
            </a:pPr>
            <a:r>
              <a:rPr lang="en-US" sz="1250" dirty="0">
                <a:solidFill>
                  <a:srgbClr val="B9BECD"/>
                </a:solidFill>
                <a:latin typeface="Inter" pitchFamily="34" charset="0"/>
                <a:ea typeface="Inter" pitchFamily="34" charset="-122"/>
                <a:cs typeface="Inter" pitchFamily="34" charset="-120"/>
              </a:rPr>
              <a:t> — what actually moves.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03</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PROBLEM</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03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Paying a stranger</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A human does three things without noticing. Take the human out and none of them happen by default.</a:t>
            </a:r>
            <a:endParaRPr lang="en-US" sz="1450" dirty="0"/>
          </a:p>
        </p:txBody>
      </p:sp>
      <p:sp>
        <p:nvSpPr>
          <p:cNvPr id="9" name="Shape 6"/>
          <p:cNvSpPr/>
          <p:nvPr/>
        </p:nvSpPr>
        <p:spPr>
          <a:xfrm>
            <a:off x="822960" y="2395728"/>
            <a:ext cx="10543032" cy="1042416"/>
          </a:xfrm>
          <a:prstGeom prst="roundRect">
            <a:avLst>
              <a:gd name="adj" fmla="val 5263"/>
            </a:avLst>
          </a:prstGeom>
          <a:solidFill>
            <a:srgbClr val="2D2BB6"/>
          </a:solidFill>
          <a:ln w="12700">
            <a:solidFill>
              <a:srgbClr val="2D2BB6"/>
            </a:solidFill>
            <a:prstDash val="solid"/>
          </a:ln>
        </p:spPr>
      </p:sp>
      <p:sp>
        <p:nvSpPr>
          <p:cNvPr id="10" name="Text 7"/>
          <p:cNvSpPr/>
          <p:nvPr/>
        </p:nvSpPr>
        <p:spPr>
          <a:xfrm>
            <a:off x="1188720" y="2395728"/>
            <a:ext cx="3749040" cy="1042416"/>
          </a:xfrm>
          <a:prstGeom prst="rect">
            <a:avLst/>
          </a:prstGeom>
          <a:noFill/>
          <a:ln/>
        </p:spPr>
        <p:txBody>
          <a:bodyPr wrap="square" lIns="0" tIns="0" rIns="0" bIns="0" rtlCol="0" anchor="ctr"/>
          <a:lstStyle/>
          <a:p>
            <a:pPr indent="0" marL="0">
              <a:buNone/>
            </a:pPr>
            <a:r>
              <a:rPr lang="en-US" sz="1500" i="1" dirty="0">
                <a:solidFill>
                  <a:srgbClr val="C9CBF0"/>
                </a:solidFill>
                <a:latin typeface="Inter" pitchFamily="34" charset="0"/>
                <a:ea typeface="Inter" pitchFamily="34" charset="-122"/>
                <a:cs typeface="Inter" pitchFamily="34" charset="-120"/>
              </a:rPr>
              <a:t>“Does this shop look real?”</a:t>
            </a:r>
            <a:endParaRPr lang="en-US" sz="1500" dirty="0"/>
          </a:p>
        </p:txBody>
      </p:sp>
      <p:sp>
        <p:nvSpPr>
          <p:cNvPr id="11" name="Text 8"/>
          <p:cNvSpPr/>
          <p:nvPr/>
        </p:nvSpPr>
        <p:spPr>
          <a:xfrm>
            <a:off x="4983480" y="2395728"/>
            <a:ext cx="548640" cy="1042416"/>
          </a:xfrm>
          <a:prstGeom prst="rect">
            <a:avLst/>
          </a:prstGeom>
          <a:noFill/>
          <a:ln/>
        </p:spPr>
        <p:txBody>
          <a:bodyPr wrap="square" lIns="0" tIns="0" rIns="0" bIns="0" rtlCol="0" anchor="ctr"/>
          <a:lstStyle/>
          <a:p>
            <a:pPr algn="ctr" indent="0" marL="0">
              <a:buNone/>
            </a:pPr>
            <a:r>
              <a:rPr lang="en-US" sz="1500" dirty="0">
                <a:solidFill>
                  <a:srgbClr val="8B8AF0"/>
                </a:solidFill>
                <a:latin typeface="JetBrains Mono" pitchFamily="34" charset="0"/>
                <a:ea typeface="JetBrains Mono" pitchFamily="34" charset="-122"/>
                <a:cs typeface="JetBrains Mono" pitchFamily="34" charset="-120"/>
              </a:rPr>
              <a:t>→</a:t>
            </a:r>
            <a:endParaRPr lang="en-US" sz="1500" dirty="0"/>
          </a:p>
        </p:txBody>
      </p:sp>
      <p:sp>
        <p:nvSpPr>
          <p:cNvPr id="12" name="Text 9"/>
          <p:cNvSpPr/>
          <p:nvPr/>
        </p:nvSpPr>
        <p:spPr>
          <a:xfrm>
            <a:off x="5669280" y="2395728"/>
            <a:ext cx="4480560" cy="1042416"/>
          </a:xfrm>
          <a:prstGeom prst="rect">
            <a:avLst/>
          </a:prstGeom>
          <a:noFill/>
          <a:ln/>
        </p:spPr>
        <p:txBody>
          <a:bodyPr wrap="square" lIns="0" tIns="0" rIns="0" bIns="0" rtlCol="0" anchor="ctr"/>
          <a:lstStyle/>
          <a:p>
            <a:pPr indent="0" marL="0">
              <a:buNone/>
            </a:pPr>
            <a:r>
              <a:rPr lang="en-US" sz="1650" b="1" dirty="0">
                <a:solidFill>
                  <a:srgbClr val="FFFFFF"/>
                </a:solidFill>
                <a:latin typeface="Inter" pitchFamily="34" charset="0"/>
                <a:ea typeface="Inter" pitchFamily="34" charset="-122"/>
                <a:cs typeface="Inter" pitchFamily="34" charset="-120"/>
              </a:rPr>
              <a:t>Is payTo really that agent's wallet?</a:t>
            </a:r>
            <a:endParaRPr lang="en-US" sz="1650" dirty="0"/>
          </a:p>
        </p:txBody>
      </p:sp>
      <p:sp>
        <p:nvSpPr>
          <p:cNvPr id="13" name="Text 10"/>
          <p:cNvSpPr/>
          <p:nvPr/>
        </p:nvSpPr>
        <p:spPr>
          <a:xfrm>
            <a:off x="9262872" y="2395728"/>
            <a:ext cx="1737360" cy="1042416"/>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TODAY</a:t>
            </a:r>
            <a:endParaRPr lang="en-US" sz="1050" dirty="0"/>
          </a:p>
        </p:txBody>
      </p:sp>
      <p:sp>
        <p:nvSpPr>
          <p:cNvPr id="14" name="Shape 11"/>
          <p:cNvSpPr/>
          <p:nvPr/>
        </p:nvSpPr>
        <p:spPr>
          <a:xfrm>
            <a:off x="822960" y="3675888"/>
            <a:ext cx="10543032" cy="1042416"/>
          </a:xfrm>
          <a:prstGeom prst="roundRect">
            <a:avLst>
              <a:gd name="adj" fmla="val 5263"/>
            </a:avLst>
          </a:prstGeom>
          <a:solidFill>
            <a:srgbClr val="F4F4F8"/>
          </a:solidFill>
          <a:ln w="12700">
            <a:solidFill>
              <a:srgbClr val="E4E5EC"/>
            </a:solidFill>
            <a:prstDash val="solid"/>
          </a:ln>
        </p:spPr>
      </p:sp>
      <p:sp>
        <p:nvSpPr>
          <p:cNvPr id="15" name="Text 12"/>
          <p:cNvSpPr/>
          <p:nvPr/>
        </p:nvSpPr>
        <p:spPr>
          <a:xfrm>
            <a:off x="1188720" y="367588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“I'm not spending more than X.”</a:t>
            </a:r>
            <a:endParaRPr lang="en-US" sz="1500" dirty="0"/>
          </a:p>
        </p:txBody>
      </p:sp>
      <p:sp>
        <p:nvSpPr>
          <p:cNvPr id="16" name="Text 13"/>
          <p:cNvSpPr/>
          <p:nvPr/>
        </p:nvSpPr>
        <p:spPr>
          <a:xfrm>
            <a:off x="4983480" y="367588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17" name="Text 14"/>
          <p:cNvSpPr/>
          <p:nvPr/>
        </p:nvSpPr>
        <p:spPr>
          <a:xfrm>
            <a:off x="5669280" y="367588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A cap the chain enforces.</a:t>
            </a:r>
            <a:endParaRPr lang="en-US" sz="1650" dirty="0"/>
          </a:p>
        </p:txBody>
      </p:sp>
      <p:sp>
        <p:nvSpPr>
          <p:cNvPr id="18" name="Text 15"/>
          <p:cNvSpPr/>
          <p:nvPr/>
        </p:nvSpPr>
        <p:spPr>
          <a:xfrm>
            <a:off x="9262872" y="367588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8</a:t>
            </a:r>
            <a:endParaRPr lang="en-US" sz="1050" dirty="0"/>
          </a:p>
        </p:txBody>
      </p:sp>
      <p:sp>
        <p:nvSpPr>
          <p:cNvPr id="19" name="Shape 16"/>
          <p:cNvSpPr/>
          <p:nvPr/>
        </p:nvSpPr>
        <p:spPr>
          <a:xfrm>
            <a:off x="822960" y="4956048"/>
            <a:ext cx="10543032" cy="1042416"/>
          </a:xfrm>
          <a:prstGeom prst="roundRect">
            <a:avLst>
              <a:gd name="adj" fmla="val 5263"/>
            </a:avLst>
          </a:prstGeom>
          <a:solidFill>
            <a:srgbClr val="F4F4F8"/>
          </a:solidFill>
          <a:ln w="12700">
            <a:solidFill>
              <a:srgbClr val="E4E5EC"/>
            </a:solidFill>
            <a:prstDash val="solid"/>
          </a:ln>
        </p:spPr>
      </p:sp>
      <p:sp>
        <p:nvSpPr>
          <p:cNvPr id="20" name="Text 17"/>
          <p:cNvSpPr/>
          <p:nvPr/>
        </p:nvSpPr>
        <p:spPr>
          <a:xfrm>
            <a:off x="1188720" y="495604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 can get my money back.”</a:t>
            </a:r>
            <a:endParaRPr lang="en-US" sz="1500" dirty="0"/>
          </a:p>
        </p:txBody>
      </p:sp>
      <p:sp>
        <p:nvSpPr>
          <p:cNvPr id="21" name="Text 18"/>
          <p:cNvSpPr/>
          <p:nvPr/>
        </p:nvSpPr>
        <p:spPr>
          <a:xfrm>
            <a:off x="4983480" y="495604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22" name="Text 19"/>
          <p:cNvSpPr/>
          <p:nvPr/>
        </p:nvSpPr>
        <p:spPr>
          <a:xfrm>
            <a:off x="5669280" y="495604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Pay only on delivery.</a:t>
            </a:r>
            <a:endParaRPr lang="en-US" sz="1650" dirty="0"/>
          </a:p>
        </p:txBody>
      </p:sp>
      <p:sp>
        <p:nvSpPr>
          <p:cNvPr id="23" name="Text 20"/>
          <p:cNvSpPr/>
          <p:nvPr/>
        </p:nvSpPr>
        <p:spPr>
          <a:xfrm>
            <a:off x="9262872" y="495604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9</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04</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04 / 8</a:t>
            </a:r>
            <a:endParaRPr lang="en-US" sz="900" dirty="0"/>
          </a:p>
        </p:txBody>
      </p:sp>
      <p:sp>
        <p:nvSpPr>
          <p:cNvPr id="7" name="Shape 4"/>
          <p:cNvSpPr/>
          <p:nvPr/>
        </p:nvSpPr>
        <p:spPr>
          <a:xfrm>
            <a:off x="10314432" y="438912"/>
            <a:ext cx="1051560" cy="384048"/>
          </a:xfrm>
          <a:prstGeom prst="roundRect">
            <a:avLst>
              <a:gd name="adj" fmla="val 47619"/>
            </a:avLst>
          </a:prstGeom>
          <a:solidFill>
            <a:srgbClr val="2A1520"/>
          </a:solidFill>
          <a:ln w="12700">
            <a:solidFill>
              <a:srgbClr val="D6336C"/>
            </a:solidFill>
            <a:prstDash val="solid"/>
          </a:ln>
        </p:spPr>
      </p:sp>
      <p:sp>
        <p:nvSpPr>
          <p:cNvPr id="8" name="Shape 5"/>
          <p:cNvSpPr/>
          <p:nvPr/>
        </p:nvSpPr>
        <p:spPr>
          <a:xfrm>
            <a:off x="10497312" y="580644"/>
            <a:ext cx="100584" cy="100584"/>
          </a:xfrm>
          <a:prstGeom prst="ellipse">
            <a:avLst/>
          </a:prstGeom>
          <a:solidFill>
            <a:srgbClr val="D6336C"/>
          </a:solidFill>
          <a:ln/>
        </p:spPr>
      </p:sp>
      <p:sp>
        <p:nvSpPr>
          <p:cNvPr id="9" name="Text 6"/>
          <p:cNvSpPr/>
          <p:nvPr/>
        </p:nvSpPr>
        <p:spPr>
          <a:xfrm>
            <a:off x="10652760" y="438912"/>
            <a:ext cx="566928" cy="384048"/>
          </a:xfrm>
          <a:prstGeom prst="rect">
            <a:avLst/>
          </a:prstGeom>
          <a:noFill/>
          <a:ln/>
        </p:spPr>
        <p:txBody>
          <a:bodyPr wrap="square" lIns="0" tIns="0" rIns="0" bIns="0" rtlCol="0" anchor="ctr"/>
          <a:lstStyle/>
          <a:p>
            <a:pPr indent="0" marL="0">
              <a:buNone/>
            </a:pPr>
            <a:r>
              <a:rPr lang="en-US" sz="950" b="1" spc="120" kern="0" dirty="0">
                <a:solidFill>
                  <a:srgbClr val="D6336C"/>
                </a:solidFill>
                <a:latin typeface="JetBrains Mono" pitchFamily="34" charset="0"/>
                <a:ea typeface="JetBrains Mono" pitchFamily="34" charset="-122"/>
                <a:cs typeface="JetBrains Mono" pitchFamily="34" charset="-120"/>
              </a:rPr>
              <a:t>LIVE</a:t>
            </a:r>
            <a:endParaRPr lang="en-US" sz="950" dirty="0"/>
          </a:p>
        </p:txBody>
      </p:sp>
      <p:sp>
        <p:nvSpPr>
          <p:cNvPr id="10" name="Text 7"/>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Watch it happen</a:t>
            </a:r>
            <a:endParaRPr lang="en-US" sz="3800" dirty="0"/>
          </a:p>
        </p:txBody>
      </p:sp>
      <p:sp>
        <p:nvSpPr>
          <p:cNvPr id="11" name="Text 8"/>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Two agents, one purchase, settled on Voyage devnet — end to end.</a:t>
            </a:r>
            <a:endParaRPr lang="en-US" sz="1450" dirty="0"/>
          </a:p>
        </p:txBody>
      </p:sp>
      <p:sp>
        <p:nvSpPr>
          <p:cNvPr id="12" name="Shape 9"/>
          <p:cNvSpPr/>
          <p:nvPr/>
        </p:nvSpPr>
        <p:spPr>
          <a:xfrm>
            <a:off x="822960" y="2432304"/>
            <a:ext cx="2409444" cy="1975104"/>
          </a:xfrm>
          <a:prstGeom prst="roundRect">
            <a:avLst>
              <a:gd name="adj" fmla="val 2778"/>
            </a:avLst>
          </a:prstGeom>
          <a:solidFill>
            <a:srgbClr val="1C212B"/>
          </a:solidFill>
          <a:ln w="12700">
            <a:solidFill>
              <a:srgbClr val="363C49"/>
            </a:solidFill>
            <a:prstDash val="solid"/>
          </a:ln>
        </p:spPr>
      </p:sp>
      <p:sp>
        <p:nvSpPr>
          <p:cNvPr id="13" name="Text 10"/>
          <p:cNvSpPr/>
          <p:nvPr/>
        </p:nvSpPr>
        <p:spPr>
          <a:xfrm>
            <a:off x="1097280"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01</a:t>
            </a:r>
            <a:endParaRPr lang="en-US" sz="2600" dirty="0"/>
          </a:p>
        </p:txBody>
      </p:sp>
      <p:sp>
        <p:nvSpPr>
          <p:cNvPr id="14" name="Text 11"/>
          <p:cNvSpPr/>
          <p:nvPr/>
        </p:nvSpPr>
        <p:spPr>
          <a:xfrm>
            <a:off x="1097280"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admits it can't answer, and scans the registry</a:t>
            </a:r>
            <a:endParaRPr lang="en-US" sz="1400" dirty="0"/>
          </a:p>
        </p:txBody>
      </p:sp>
      <p:sp>
        <p:nvSpPr>
          <p:cNvPr id="15" name="Text 12"/>
          <p:cNvSpPr/>
          <p:nvPr/>
        </p:nvSpPr>
        <p:spPr>
          <a:xfrm>
            <a:off x="3250692"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16" name="Shape 13"/>
          <p:cNvSpPr/>
          <p:nvPr/>
        </p:nvSpPr>
        <p:spPr>
          <a:xfrm>
            <a:off x="3534156" y="2432304"/>
            <a:ext cx="2409444" cy="1975104"/>
          </a:xfrm>
          <a:prstGeom prst="roundRect">
            <a:avLst>
              <a:gd name="adj" fmla="val 2778"/>
            </a:avLst>
          </a:prstGeom>
          <a:solidFill>
            <a:srgbClr val="1C212B"/>
          </a:solidFill>
          <a:ln w="12700">
            <a:solidFill>
              <a:srgbClr val="363C49"/>
            </a:solidFill>
            <a:prstDash val="solid"/>
          </a:ln>
        </p:spPr>
      </p:sp>
      <p:sp>
        <p:nvSpPr>
          <p:cNvPr id="17" name="Text 14"/>
          <p:cNvSpPr/>
          <p:nvPr/>
        </p:nvSpPr>
        <p:spPr>
          <a:xfrm>
            <a:off x="3808476"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02</a:t>
            </a:r>
            <a:endParaRPr lang="en-US" sz="2600" dirty="0"/>
          </a:p>
        </p:txBody>
      </p:sp>
      <p:sp>
        <p:nvSpPr>
          <p:cNvPr id="18" name="Text 15"/>
          <p:cNvSpPr/>
          <p:nvPr/>
        </p:nvSpPr>
        <p:spPr>
          <a:xfrm>
            <a:off x="3808476"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reads the seller's skills, wallet and URL off the chain</a:t>
            </a:r>
            <a:endParaRPr lang="en-US" sz="1400" dirty="0"/>
          </a:p>
        </p:txBody>
      </p:sp>
      <p:sp>
        <p:nvSpPr>
          <p:cNvPr id="19" name="Text 16"/>
          <p:cNvSpPr/>
          <p:nvPr/>
        </p:nvSpPr>
        <p:spPr>
          <a:xfrm>
            <a:off x="5961888"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0" name="Shape 17"/>
          <p:cNvSpPr/>
          <p:nvPr/>
        </p:nvSpPr>
        <p:spPr>
          <a:xfrm>
            <a:off x="6245352" y="2432304"/>
            <a:ext cx="2409444" cy="1975104"/>
          </a:xfrm>
          <a:prstGeom prst="roundRect">
            <a:avLst>
              <a:gd name="adj" fmla="val 2778"/>
            </a:avLst>
          </a:prstGeom>
          <a:solidFill>
            <a:srgbClr val="1C212B"/>
          </a:solidFill>
          <a:ln w="12700">
            <a:solidFill>
              <a:srgbClr val="363C49"/>
            </a:solidFill>
            <a:prstDash val="solid"/>
          </a:ln>
        </p:spPr>
      </p:sp>
      <p:sp>
        <p:nvSpPr>
          <p:cNvPr id="21" name="Text 18"/>
          <p:cNvSpPr/>
          <p:nvPr/>
        </p:nvSpPr>
        <p:spPr>
          <a:xfrm>
            <a:off x="6519672"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03</a:t>
            </a:r>
            <a:endParaRPr lang="en-US" sz="2600" dirty="0"/>
          </a:p>
        </p:txBody>
      </p:sp>
      <p:sp>
        <p:nvSpPr>
          <p:cNvPr id="22" name="Text 19"/>
          <p:cNvSpPr/>
          <p:nvPr/>
        </p:nvSpPr>
        <p:spPr>
          <a:xfrm>
            <a:off x="6519672"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is quoted a price — and checks who it is about to pay</a:t>
            </a:r>
            <a:endParaRPr lang="en-US" sz="1400" dirty="0"/>
          </a:p>
        </p:txBody>
      </p:sp>
      <p:sp>
        <p:nvSpPr>
          <p:cNvPr id="23" name="Text 20"/>
          <p:cNvSpPr/>
          <p:nvPr/>
        </p:nvSpPr>
        <p:spPr>
          <a:xfrm>
            <a:off x="8673084"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4" name="Shape 21"/>
          <p:cNvSpPr/>
          <p:nvPr/>
        </p:nvSpPr>
        <p:spPr>
          <a:xfrm>
            <a:off x="8956548" y="2432304"/>
            <a:ext cx="2409444" cy="1975104"/>
          </a:xfrm>
          <a:prstGeom prst="roundRect">
            <a:avLst>
              <a:gd name="adj" fmla="val 2778"/>
            </a:avLst>
          </a:prstGeom>
          <a:solidFill>
            <a:srgbClr val="1C212B"/>
          </a:solidFill>
          <a:ln w="12700">
            <a:solidFill>
              <a:srgbClr val="363C49"/>
            </a:solidFill>
            <a:prstDash val="solid"/>
          </a:ln>
        </p:spPr>
      </p:sp>
      <p:sp>
        <p:nvSpPr>
          <p:cNvPr id="25" name="Text 22"/>
          <p:cNvSpPr/>
          <p:nvPr/>
        </p:nvSpPr>
        <p:spPr>
          <a:xfrm>
            <a:off x="9230868"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04</a:t>
            </a:r>
            <a:endParaRPr lang="en-US" sz="2600" dirty="0"/>
          </a:p>
        </p:txBody>
      </p:sp>
      <p:sp>
        <p:nvSpPr>
          <p:cNvPr id="26" name="Text 23"/>
          <p:cNvSpPr/>
          <p:nvPr/>
        </p:nvSpPr>
        <p:spPr>
          <a:xfrm>
            <a:off x="9230868"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pays, and the seller verifies that itself</a:t>
            </a:r>
            <a:endParaRPr lang="en-US" sz="1400" dirty="0"/>
          </a:p>
        </p:txBody>
      </p:sp>
      <p:sp>
        <p:nvSpPr>
          <p:cNvPr id="27" name="Shape 24"/>
          <p:cNvSpPr/>
          <p:nvPr/>
        </p:nvSpPr>
        <p:spPr>
          <a:xfrm>
            <a:off x="822960" y="4828032"/>
            <a:ext cx="10543032" cy="868680"/>
          </a:xfrm>
          <a:prstGeom prst="roundRect">
            <a:avLst>
              <a:gd name="adj" fmla="val 6316"/>
            </a:avLst>
          </a:prstGeom>
          <a:solidFill>
            <a:srgbClr val="1A1119"/>
          </a:solidFill>
          <a:ln w="12700">
            <a:solidFill>
              <a:srgbClr val="D6336C"/>
            </a:solidFill>
            <a:prstDash val="solid"/>
          </a:ln>
        </p:spPr>
      </p:sp>
      <p:sp>
        <p:nvSpPr>
          <p:cNvPr id="28" name="Shape 25"/>
          <p:cNvSpPr/>
          <p:nvPr/>
        </p:nvSpPr>
        <p:spPr>
          <a:xfrm>
            <a:off x="1152144" y="5084064"/>
            <a:ext cx="365760" cy="365760"/>
          </a:xfrm>
          <a:prstGeom prst="ellipse">
            <a:avLst/>
          </a:prstGeom>
          <a:solidFill>
            <a:srgbClr val="2A1520"/>
          </a:solidFill>
          <a:ln w="12700">
            <a:solidFill>
              <a:srgbClr val="D6336C"/>
            </a:solidFill>
            <a:prstDash val="solid"/>
          </a:ln>
        </p:spPr>
      </p:sp>
      <p:sp>
        <p:nvSpPr>
          <p:cNvPr id="29" name="Text 26"/>
          <p:cNvSpPr/>
          <p:nvPr/>
        </p:nvSpPr>
        <p:spPr>
          <a:xfrm>
            <a:off x="1152144" y="5084064"/>
            <a:ext cx="365760" cy="365760"/>
          </a:xfrm>
          <a:prstGeom prst="rect">
            <a:avLst/>
          </a:prstGeom>
          <a:noFill/>
          <a:ln/>
        </p:spPr>
        <p:txBody>
          <a:bodyPr wrap="square" lIns="0" tIns="0" rIns="0" bIns="0" rtlCol="0" anchor="ctr"/>
          <a:lstStyle/>
          <a:p>
            <a:pPr algn="ctr" indent="0" marL="0">
              <a:buNone/>
            </a:pPr>
            <a:r>
              <a:rPr lang="en-US" sz="1200" b="1" dirty="0">
                <a:solidFill>
                  <a:srgbClr val="D6336C"/>
                </a:solidFill>
                <a:latin typeface="Inter" pitchFamily="34" charset="0"/>
                <a:ea typeface="Inter" pitchFamily="34" charset="-122"/>
                <a:cs typeface="Inter" pitchFamily="34" charset="-120"/>
              </a:rPr>
              <a:t>✕</a:t>
            </a:r>
            <a:endParaRPr lang="en-US" sz="1200" dirty="0"/>
          </a:p>
        </p:txBody>
      </p:sp>
      <p:sp>
        <p:nvSpPr>
          <p:cNvPr id="30" name="Text 27"/>
          <p:cNvSpPr/>
          <p:nvPr/>
        </p:nvSpPr>
        <p:spPr>
          <a:xfrm>
            <a:off x="1691640" y="4828032"/>
            <a:ext cx="6400800" cy="868680"/>
          </a:xfrm>
          <a:prstGeom prst="rect">
            <a:avLst/>
          </a:prstGeom>
          <a:noFill/>
          <a:ln/>
        </p:spPr>
        <p:txBody>
          <a:bodyPr wrap="square" lIns="0" tIns="0" rIns="0" bIns="0" rtlCol="0" anchor="ctr"/>
          <a:lstStyle/>
          <a:p>
            <a:pPr indent="0" marL="0">
              <a:buNone/>
            </a:pPr>
            <a:r>
              <a:rPr lang="en-US" sz="1700" b="1" dirty="0">
                <a:solidFill>
                  <a:srgbClr val="D6336C"/>
                </a:solidFill>
                <a:latin typeface="Inter" pitchFamily="34" charset="0"/>
                <a:ea typeface="Inter" pitchFamily="34" charset="-122"/>
                <a:cs typeface="Inter" pitchFamily="34" charset="-120"/>
              </a:rPr>
              <a:t>then I break it, and the agent refuses</a:t>
            </a:r>
            <a:endParaRPr lang="en-US" sz="1700" dirty="0"/>
          </a:p>
        </p:txBody>
      </p:sp>
      <p:sp>
        <p:nvSpPr>
          <p:cNvPr id="31" name="Text 28"/>
          <p:cNvSpPr/>
          <p:nvPr/>
        </p:nvSpPr>
        <p:spPr>
          <a:xfrm>
            <a:off x="7434072" y="4828032"/>
            <a:ext cx="3566160" cy="868680"/>
          </a:xfrm>
          <a:prstGeom prst="rect">
            <a:avLst/>
          </a:prstGeom>
          <a:noFill/>
          <a:ln/>
        </p:spPr>
        <p:txBody>
          <a:bodyPr wrap="square" lIns="0" tIns="0" rIns="0" bIns="0" rtlCol="0" anchor="ctr"/>
          <a:lstStyle/>
          <a:p>
            <a:pPr algn="r" indent="0" marL="0">
              <a:buNone/>
            </a:pPr>
            <a:r>
              <a:rPr lang="en-US" sz="1100" dirty="0">
                <a:solidFill>
                  <a:srgbClr val="9AA0AE"/>
                </a:solidFill>
                <a:latin typeface="JetBrains Mono" pitchFamily="34" charset="0"/>
                <a:ea typeface="JetBrains Mono" pitchFamily="34" charset="-122"/>
                <a:cs typeface="JetBrains Mono" pitchFamily="34" charset="-120"/>
              </a:rPr>
              <a:t>no transaction is ever built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05</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THE CODE</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05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Four files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Everything that makes the payment safe lives in these — and nowhere else.</a:t>
            </a:r>
            <a:endParaRPr lang="en-US" sz="1450" dirty="0"/>
          </a:p>
        </p:txBody>
      </p:sp>
      <p:sp>
        <p:nvSpPr>
          <p:cNvPr id="9" name="Shape 6"/>
          <p:cNvSpPr/>
          <p:nvPr/>
        </p:nvSpPr>
        <p:spPr>
          <a:xfrm>
            <a:off x="822960" y="2395728"/>
            <a:ext cx="5042916" cy="1572768"/>
          </a:xfrm>
          <a:prstGeom prst="roundRect">
            <a:avLst>
              <a:gd name="adj" fmla="val 3488"/>
            </a:avLst>
          </a:prstGeom>
          <a:solidFill>
            <a:srgbClr val="1C212B"/>
          </a:solidFill>
          <a:ln w="12700">
            <a:solidFill>
              <a:srgbClr val="363C49"/>
            </a:solidFill>
            <a:prstDash val="solid"/>
          </a:ln>
        </p:spPr>
      </p:sp>
      <p:sp>
        <p:nvSpPr>
          <p:cNvPr id="10" name="Text 7"/>
          <p:cNvSpPr/>
          <p:nvPr/>
        </p:nvSpPr>
        <p:spPr>
          <a:xfrm>
            <a:off x="4951476" y="2633472"/>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01</a:t>
            </a:r>
            <a:endParaRPr lang="en-US" sz="1000" dirty="0"/>
          </a:p>
        </p:txBody>
      </p:sp>
      <p:sp>
        <p:nvSpPr>
          <p:cNvPr id="11" name="Text 8"/>
          <p:cNvSpPr/>
          <p:nvPr/>
        </p:nvSpPr>
        <p:spPr>
          <a:xfrm>
            <a:off x="1152144" y="2724912"/>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payment-proof.ts</a:t>
            </a:r>
            <a:endParaRPr lang="en-US" sz="1800" dirty="0"/>
          </a:p>
        </p:txBody>
      </p:sp>
      <p:sp>
        <p:nvSpPr>
          <p:cNvPr id="12" name="Text 9"/>
          <p:cNvSpPr/>
          <p:nvPr/>
        </p:nvSpPr>
        <p:spPr>
          <a:xfrm>
            <a:off x="1152144"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whole wire format — a quote, and a signed claim</a:t>
            </a:r>
            <a:endParaRPr lang="en-US" sz="1400" dirty="0"/>
          </a:p>
        </p:txBody>
      </p:sp>
      <p:sp>
        <p:nvSpPr>
          <p:cNvPr id="13" name="Shape 10"/>
          <p:cNvSpPr/>
          <p:nvPr/>
        </p:nvSpPr>
        <p:spPr>
          <a:xfrm>
            <a:off x="6323076" y="2395728"/>
            <a:ext cx="5042916" cy="1572768"/>
          </a:xfrm>
          <a:prstGeom prst="roundRect">
            <a:avLst>
              <a:gd name="adj" fmla="val 3488"/>
            </a:avLst>
          </a:prstGeom>
          <a:solidFill>
            <a:srgbClr val="10221B"/>
          </a:solidFill>
          <a:ln w="15875">
            <a:solidFill>
              <a:srgbClr val="3CCB8E"/>
            </a:solidFill>
            <a:prstDash val="solid"/>
          </a:ln>
        </p:spPr>
      </p:sp>
      <p:sp>
        <p:nvSpPr>
          <p:cNvPr id="14" name="Text 11"/>
          <p:cNvSpPr/>
          <p:nvPr/>
        </p:nvSpPr>
        <p:spPr>
          <a:xfrm>
            <a:off x="10451592" y="2633472"/>
            <a:ext cx="640080" cy="237744"/>
          </a:xfrm>
          <a:prstGeom prst="rect">
            <a:avLst/>
          </a:prstGeom>
          <a:noFill/>
          <a:ln/>
        </p:spPr>
        <p:txBody>
          <a:bodyPr wrap="square" lIns="0" tIns="0" rIns="0" bIns="0" rtlCol="0" anchor="ctr"/>
          <a:lstStyle/>
          <a:p>
            <a:pPr algn="r" indent="0" marL="0">
              <a:buNone/>
            </a:pPr>
            <a:r>
              <a:rPr lang="en-US" sz="1000" dirty="0">
                <a:solidFill>
                  <a:srgbClr val="3CCB8E"/>
                </a:solidFill>
                <a:latin typeface="JetBrains Mono" pitchFamily="34" charset="0"/>
                <a:ea typeface="JetBrains Mono" pitchFamily="34" charset="-122"/>
                <a:cs typeface="JetBrains Mono" pitchFamily="34" charset="-120"/>
              </a:rPr>
              <a:t>02</a:t>
            </a:r>
            <a:endParaRPr lang="en-US" sz="1000" dirty="0"/>
          </a:p>
        </p:txBody>
      </p:sp>
      <p:sp>
        <p:nvSpPr>
          <p:cNvPr id="15" name="Text 12"/>
          <p:cNvSpPr/>
          <p:nvPr/>
        </p:nvSpPr>
        <p:spPr>
          <a:xfrm>
            <a:off x="6652260" y="2724912"/>
            <a:ext cx="3854196" cy="384048"/>
          </a:xfrm>
          <a:prstGeom prst="rect">
            <a:avLst/>
          </a:prstGeom>
          <a:noFill/>
          <a:ln/>
        </p:spPr>
        <p:txBody>
          <a:bodyPr wrap="square" lIns="0" tIns="0" rIns="0" bIns="0" rtlCol="0" anchor="ctr"/>
          <a:lstStyle/>
          <a:p>
            <a:pPr indent="0" marL="0">
              <a:buNone/>
            </a:pPr>
            <a:r>
              <a:rPr lang="en-US" sz="1800" b="1" dirty="0">
                <a:solidFill>
                  <a:srgbClr val="3CCB8E"/>
                </a:solidFill>
                <a:latin typeface="JetBrains Mono" pitchFamily="34" charset="0"/>
                <a:ea typeface="JetBrains Mono" pitchFamily="34" charset="-122"/>
                <a:cs typeface="JetBrains Mono" pitchFamily="34" charset="-120"/>
              </a:rPr>
              <a:t>identity-check.ts</a:t>
            </a:r>
            <a:endParaRPr lang="en-US" sz="1800" dirty="0"/>
          </a:p>
        </p:txBody>
      </p:sp>
      <p:sp>
        <p:nvSpPr>
          <p:cNvPr id="16" name="Text 13"/>
          <p:cNvSpPr/>
          <p:nvPr/>
        </p:nvSpPr>
        <p:spPr>
          <a:xfrm>
            <a:off x="6652260"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42 lines. this is the session.</a:t>
            </a:r>
            <a:endParaRPr lang="en-US" sz="1400" dirty="0"/>
          </a:p>
        </p:txBody>
      </p:sp>
      <p:sp>
        <p:nvSpPr>
          <p:cNvPr id="17" name="Shape 14"/>
          <p:cNvSpPr/>
          <p:nvPr/>
        </p:nvSpPr>
        <p:spPr>
          <a:xfrm>
            <a:off x="822960" y="4279392"/>
            <a:ext cx="5042916" cy="1572768"/>
          </a:xfrm>
          <a:prstGeom prst="roundRect">
            <a:avLst>
              <a:gd name="adj" fmla="val 3488"/>
            </a:avLst>
          </a:prstGeom>
          <a:solidFill>
            <a:srgbClr val="1C212B"/>
          </a:solidFill>
          <a:ln w="12700">
            <a:solidFill>
              <a:srgbClr val="363C49"/>
            </a:solidFill>
            <a:prstDash val="solid"/>
          </a:ln>
        </p:spPr>
      </p:sp>
      <p:sp>
        <p:nvSpPr>
          <p:cNvPr id="18" name="Text 15"/>
          <p:cNvSpPr/>
          <p:nvPr/>
        </p:nvSpPr>
        <p:spPr>
          <a:xfrm>
            <a:off x="4951476"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03</a:t>
            </a:r>
            <a:endParaRPr lang="en-US" sz="1000" dirty="0"/>
          </a:p>
        </p:txBody>
      </p:sp>
      <p:sp>
        <p:nvSpPr>
          <p:cNvPr id="19" name="Text 16"/>
          <p:cNvSpPr/>
          <p:nvPr/>
        </p:nvSpPr>
        <p:spPr>
          <a:xfrm>
            <a:off x="1152144"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verify-proof.ts</a:t>
            </a:r>
            <a:endParaRPr lang="en-US" sz="1800" dirty="0"/>
          </a:p>
        </p:txBody>
      </p:sp>
      <p:sp>
        <p:nvSpPr>
          <p:cNvPr id="20" name="Text 17"/>
          <p:cNvSpPr/>
          <p:nvPr/>
        </p:nvSpPr>
        <p:spPr>
          <a:xfrm>
            <a:off x="1152144"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seller's seven checks, all read-only</a:t>
            </a:r>
            <a:endParaRPr lang="en-US" sz="1400" dirty="0"/>
          </a:p>
        </p:txBody>
      </p:sp>
      <p:sp>
        <p:nvSpPr>
          <p:cNvPr id="21" name="Shape 18"/>
          <p:cNvSpPr/>
          <p:nvPr/>
        </p:nvSpPr>
        <p:spPr>
          <a:xfrm>
            <a:off x="6323076" y="4279392"/>
            <a:ext cx="5042916" cy="1572768"/>
          </a:xfrm>
          <a:prstGeom prst="roundRect">
            <a:avLst>
              <a:gd name="adj" fmla="val 3488"/>
            </a:avLst>
          </a:prstGeom>
          <a:solidFill>
            <a:srgbClr val="1C212B"/>
          </a:solidFill>
          <a:ln w="12700">
            <a:solidFill>
              <a:srgbClr val="363C49"/>
            </a:solidFill>
            <a:prstDash val="solid"/>
          </a:ln>
        </p:spPr>
      </p:sp>
      <p:sp>
        <p:nvSpPr>
          <p:cNvPr id="22" name="Text 19"/>
          <p:cNvSpPr/>
          <p:nvPr/>
        </p:nvSpPr>
        <p:spPr>
          <a:xfrm>
            <a:off x="10451592"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04</a:t>
            </a:r>
            <a:endParaRPr lang="en-US" sz="1000" dirty="0"/>
          </a:p>
        </p:txBody>
      </p:sp>
      <p:sp>
        <p:nvSpPr>
          <p:cNvPr id="23" name="Text 20"/>
          <p:cNvSpPr/>
          <p:nvPr/>
        </p:nvSpPr>
        <p:spPr>
          <a:xfrm>
            <a:off x="6652260"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pricing.ts + worth.ts</a:t>
            </a:r>
            <a:endParaRPr lang="en-US" sz="1800" dirty="0"/>
          </a:p>
        </p:txBody>
      </p:sp>
      <p:sp>
        <p:nvSpPr>
          <p:cNvPr id="24" name="Text 21"/>
          <p:cNvSpPr/>
          <p:nvPr/>
        </p:nvSpPr>
        <p:spPr>
          <a:xfrm>
            <a:off x="6652260"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what each agent decides — and what it is not allowed to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06</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WHAT'S MISSING</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06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Every guardrail here is self-imposed</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The buyer refuses anything over 6. That limit is a constant in its own source.</a:t>
            </a:r>
            <a:endParaRPr lang="en-US" sz="1450" dirty="0"/>
          </a:p>
        </p:txBody>
      </p:sp>
      <p:sp>
        <p:nvSpPr>
          <p:cNvPr id="9" name="Shape 6"/>
          <p:cNvSpPr/>
          <p:nvPr/>
        </p:nvSpPr>
        <p:spPr>
          <a:xfrm>
            <a:off x="822960" y="2286000"/>
            <a:ext cx="10543032" cy="786384"/>
          </a:xfrm>
          <a:prstGeom prst="roundRect">
            <a:avLst>
              <a:gd name="adj" fmla="val 6977"/>
            </a:avLst>
          </a:prstGeom>
          <a:solidFill>
            <a:srgbClr val="0E1116"/>
          </a:solidFill>
          <a:ln/>
        </p:spPr>
      </p:sp>
      <p:sp>
        <p:nvSpPr>
          <p:cNvPr id="10" name="Text 7"/>
          <p:cNvSpPr/>
          <p:nvPr/>
        </p:nvSpPr>
        <p:spPr>
          <a:xfrm>
            <a:off x="1152144" y="2286000"/>
            <a:ext cx="9884664" cy="786384"/>
          </a:xfrm>
          <a:prstGeom prst="rect">
            <a:avLst/>
          </a:prstGeom>
          <a:noFill/>
          <a:ln/>
        </p:spPr>
        <p:txBody>
          <a:bodyPr wrap="square" lIns="0" tIns="0" rIns="0" bIns="0" rtlCol="0" anchor="ctr"/>
          <a:lstStyle/>
          <a:p>
            <a:pPr indent="0" marL="0">
              <a:buNone/>
            </a:pPr>
            <a:r>
              <a:rPr lang="en-US" sz="1350" dirty="0">
                <a:solidFill>
                  <a:srgbClr val="9AA0AE"/>
                </a:solidFill>
                <a:latin typeface="JetBrains Mono" pitchFamily="34" charset="0"/>
                <a:ea typeface="JetBrains Mono" pitchFamily="34" charset="-122"/>
                <a:cs typeface="JetBrains Mono" pitchFamily="34" charset="-120"/>
              </a:rPr>
              <a:t>export const </a:t>
            </a:r>
            <a:pPr indent="0" marL="0">
              <a:buNone/>
            </a:pPr>
            <a:r>
              <a:rPr lang="en-US" sz="1350" dirty="0">
                <a:solidFill>
                  <a:srgbClr val="3CCB8E"/>
                </a:solidFill>
                <a:latin typeface="JetBrains Mono" pitchFamily="34" charset="0"/>
                <a:ea typeface="JetBrains Mono" pitchFamily="34" charset="-122"/>
                <a:cs typeface="JetBrains Mono" pitchFamily="34" charset="-120"/>
              </a:rPr>
              <a:t>SOFT_LIMIT</a:t>
            </a:r>
            <a:pPr indent="0" marL="0">
              <a:buNone/>
            </a:pPr>
            <a:r>
              <a:rPr lang="en-US" sz="1350" dirty="0">
                <a:solidFill>
                  <a:srgbClr val="9AA0AE"/>
                </a:solidFill>
                <a:latin typeface="JetBrains Mono" pitchFamily="34" charset="0"/>
                <a:ea typeface="JetBrains Mono" pitchFamily="34" charset="-122"/>
                <a:cs typeface="JetBrains Mono" pitchFamily="34" charset="-120"/>
              </a:rPr>
              <a:t> = </a:t>
            </a:r>
            <a:pPr indent="0" marL="0">
              <a:buNone/>
            </a:pPr>
            <a:r>
              <a:rPr lang="en-US" sz="1350" dirty="0">
                <a:solidFill>
                  <a:srgbClr val="8B8AF0"/>
                </a:solidFill>
                <a:latin typeface="JetBrains Mono" pitchFamily="34" charset="0"/>
                <a:ea typeface="JetBrains Mono" pitchFamily="34" charset="-122"/>
                <a:cs typeface="JetBrains Mono" pitchFamily="34" charset="-120"/>
              </a:rPr>
              <a:t>BigInt</a:t>
            </a:r>
            <a:pPr indent="0" marL="0">
              <a:buNone/>
            </a:pPr>
            <a:r>
              <a:rPr lang="en-US" sz="1350" dirty="0">
                <a:solidFill>
                  <a:srgbClr val="B9BECD"/>
                </a:solidFill>
                <a:latin typeface="JetBrains Mono" pitchFamily="34" charset="0"/>
                <a:ea typeface="JetBrains Mono" pitchFamily="34" charset="-122"/>
                <a:cs typeface="JetBrains Mono" pitchFamily="34" charset="-120"/>
              </a:rPr>
              <a:t>(process.env.MAX_PRICE_PER_ANSWER ?? </a:t>
            </a:r>
            <a:pPr indent="0" marL="0">
              <a:buNone/>
            </a:pPr>
            <a:r>
              <a:rPr lang="en-US" sz="1350" dirty="0">
                <a:solidFill>
                  <a:srgbClr val="3CCB8E"/>
                </a:solidFill>
                <a:latin typeface="JetBrains Mono" pitchFamily="34" charset="0"/>
                <a:ea typeface="JetBrains Mono" pitchFamily="34" charset="-122"/>
                <a:cs typeface="JetBrains Mono" pitchFamily="34" charset="-120"/>
              </a:rPr>
              <a:t>"6"</a:t>
            </a:r>
            <a:pPr indent="0" marL="0">
              <a:buNone/>
            </a:pPr>
            <a:r>
              <a:rPr lang="en-US" sz="1350" dirty="0">
                <a:solidFill>
                  <a:srgbClr val="B9BECD"/>
                </a:solidFill>
                <a:latin typeface="JetBrains Mono" pitchFamily="34" charset="0"/>
                <a:ea typeface="JetBrains Mono" pitchFamily="34" charset="-122"/>
                <a:cs typeface="JetBrains Mono" pitchFamily="34" charset="-120"/>
              </a:rPr>
              <a:t>);</a:t>
            </a:r>
            <a:endParaRPr lang="en-US" sz="1350" dirty="0"/>
          </a:p>
        </p:txBody>
      </p:sp>
      <p:sp>
        <p:nvSpPr>
          <p:cNvPr id="11" name="Shape 8"/>
          <p:cNvSpPr/>
          <p:nvPr/>
        </p:nvSpPr>
        <p:spPr>
          <a:xfrm>
            <a:off x="822960" y="3291840"/>
            <a:ext cx="5042916" cy="1828800"/>
          </a:xfrm>
          <a:prstGeom prst="roundRect">
            <a:avLst>
              <a:gd name="adj" fmla="val 3000"/>
            </a:avLst>
          </a:prstGeom>
          <a:solidFill>
            <a:srgbClr val="F4F4F8"/>
          </a:solidFill>
          <a:ln w="12700">
            <a:solidFill>
              <a:srgbClr val="E4E5EC"/>
            </a:solidFill>
            <a:prstDash val="solid"/>
          </a:ln>
        </p:spPr>
      </p:sp>
      <p:sp>
        <p:nvSpPr>
          <p:cNvPr id="12" name="Text 9"/>
          <p:cNvSpPr/>
          <p:nvPr/>
        </p:nvSpPr>
        <p:spPr>
          <a:xfrm>
            <a:off x="1133856" y="3474720"/>
            <a:ext cx="2743200" cy="219456"/>
          </a:xfrm>
          <a:prstGeom prst="rect">
            <a:avLst/>
          </a:prstGeom>
          <a:noFill/>
          <a:ln/>
        </p:spPr>
        <p:txBody>
          <a:bodyPr wrap="square" lIns="0" tIns="0" rIns="0" bIns="0" rtlCol="0" anchor="ctr"/>
          <a:lstStyle/>
          <a:p>
            <a:pPr indent="0" marL="0">
              <a:buNone/>
            </a:pPr>
            <a:r>
              <a:rPr lang="en-US" sz="950" b="1" spc="140" kern="0" dirty="0">
                <a:solidFill>
                  <a:srgbClr val="5B6170"/>
                </a:solidFill>
                <a:latin typeface="JetBrains Mono" pitchFamily="34" charset="0"/>
                <a:ea typeface="JetBrains Mono" pitchFamily="34" charset="-122"/>
                <a:cs typeface="JetBrains Mono" pitchFamily="34" charset="-120"/>
              </a:rPr>
              <a:t>REMOVABLE</a:t>
            </a:r>
            <a:endParaRPr lang="en-US" sz="950" dirty="0"/>
          </a:p>
        </p:txBody>
      </p:sp>
      <p:sp>
        <p:nvSpPr>
          <p:cNvPr id="13" name="Text 10"/>
          <p:cNvSpPr/>
          <p:nvPr/>
        </p:nvSpPr>
        <p:spPr>
          <a:xfrm>
            <a:off x="1133856"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One environment variable</a:t>
            </a:r>
            <a:endParaRPr lang="en-US" sz="1800" dirty="0"/>
          </a:p>
        </p:txBody>
      </p:sp>
      <p:sp>
        <p:nvSpPr>
          <p:cNvPr id="14" name="Text 11"/>
          <p:cNvSpPr/>
          <p:nvPr/>
        </p:nvSpPr>
        <p:spPr>
          <a:xfrm>
            <a:off x="1133856"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Set MAX_PRICE_PER_ANSWER and the ceiling is gone — no code change. The model's second opinion is also just a prompt, in a file the operator controls.</a:t>
            </a:r>
            <a:endParaRPr lang="en-US" sz="1300" dirty="0"/>
          </a:p>
        </p:txBody>
      </p:sp>
      <p:sp>
        <p:nvSpPr>
          <p:cNvPr id="15" name="Shape 12"/>
          <p:cNvSpPr/>
          <p:nvPr/>
        </p:nvSpPr>
        <p:spPr>
          <a:xfrm>
            <a:off x="6323076" y="3291840"/>
            <a:ext cx="5042916" cy="1828800"/>
          </a:xfrm>
          <a:prstGeom prst="roundRect">
            <a:avLst>
              <a:gd name="adj" fmla="val 3000"/>
            </a:avLst>
          </a:prstGeom>
          <a:solidFill>
            <a:srgbClr val="EEF0FB"/>
          </a:solidFill>
          <a:ln w="12700">
            <a:solidFill>
              <a:srgbClr val="C9CBF0"/>
            </a:solidFill>
            <a:prstDash val="solid"/>
          </a:ln>
        </p:spPr>
      </p:sp>
      <p:sp>
        <p:nvSpPr>
          <p:cNvPr id="16" name="Text 13"/>
          <p:cNvSpPr/>
          <p:nvPr/>
        </p:nvSpPr>
        <p:spPr>
          <a:xfrm>
            <a:off x="6633972" y="3474720"/>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WORSE</a:t>
            </a:r>
            <a:endParaRPr lang="en-US" sz="950" dirty="0"/>
          </a:p>
        </p:txBody>
      </p:sp>
      <p:sp>
        <p:nvSpPr>
          <p:cNvPr id="17" name="Text 14"/>
          <p:cNvSpPr/>
          <p:nvPr/>
        </p:nvSpPr>
        <p:spPr>
          <a:xfrm>
            <a:off x="6633972"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It caps per purchase, not in total</a:t>
            </a:r>
            <a:endParaRPr lang="en-US" sz="1800" dirty="0"/>
          </a:p>
        </p:txBody>
      </p:sp>
      <p:sp>
        <p:nvSpPr>
          <p:cNvPr id="18" name="Text 15"/>
          <p:cNvSpPr/>
          <p:nvPr/>
        </p:nvSpPr>
        <p:spPr>
          <a:xfrm>
            <a:off x="6633972"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Nothing tracks cumulative spend. An agent with a 6-unit limit can still drain 99,000 — six at a time — without breaking its limit once.</a:t>
            </a:r>
            <a:endParaRPr lang="en-US" sz="1300" dirty="0"/>
          </a:p>
        </p:txBody>
      </p:sp>
      <p:sp>
        <p:nvSpPr>
          <p:cNvPr id="19" name="Text 16"/>
          <p:cNvSpPr/>
          <p:nvPr/>
        </p:nvSpPr>
        <p:spPr>
          <a:xfrm>
            <a:off x="822960" y="5358384"/>
            <a:ext cx="10543032" cy="548640"/>
          </a:xfrm>
          <a:prstGeom prst="rect">
            <a:avLst/>
          </a:prstGeom>
          <a:noFill/>
          <a:ln/>
        </p:spPr>
        <p:txBody>
          <a:bodyPr wrap="square" lIns="0" tIns="0" rIns="0" bIns="0" rtlCol="0" anchor="ctr"/>
          <a:lstStyle/>
          <a:p>
            <a:pPr indent="0" marL="0">
              <a:buNone/>
            </a:pPr>
            <a:r>
              <a:rPr lang="en-US" sz="1700" b="1" dirty="0">
                <a:solidFill>
                  <a:srgbClr val="5B6170"/>
                </a:solidFill>
                <a:latin typeface="Inter" pitchFamily="34" charset="0"/>
                <a:ea typeface="Inter" pitchFamily="34" charset="-122"/>
                <a:cs typeface="Inter" pitchFamily="34" charset="-120"/>
              </a:rPr>
              <a:t>A limit the agent consults is a preference. </a:t>
            </a:r>
            <a:pPr indent="0" marL="0">
              <a:buNone/>
            </a:pPr>
            <a:r>
              <a:rPr lang="en-US" sz="1700" b="1" dirty="0">
                <a:solidFill>
                  <a:srgbClr val="2D2BB6"/>
                </a:solidFill>
                <a:latin typeface="Inter" pitchFamily="34" charset="0"/>
                <a:ea typeface="Inter" pitchFamily="34" charset="-122"/>
                <a:cs typeface="Inter" pitchFamily="34" charset="-120"/>
              </a:rPr>
              <a:t>A limit the chain applies is authority.</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07</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WHERE THIS GOES</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07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Three questions, three sessions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Today answered one of them.</a:t>
            </a:r>
            <a:endParaRPr lang="en-US" sz="1450" dirty="0"/>
          </a:p>
        </p:txBody>
      </p:sp>
      <p:sp>
        <p:nvSpPr>
          <p:cNvPr id="9" name="Shape 6"/>
          <p:cNvSpPr/>
          <p:nvPr/>
        </p:nvSpPr>
        <p:spPr>
          <a:xfrm>
            <a:off x="822960" y="2395728"/>
            <a:ext cx="10543032" cy="1060704"/>
          </a:xfrm>
          <a:prstGeom prst="roundRect">
            <a:avLst>
              <a:gd name="adj" fmla="val 5172"/>
            </a:avLst>
          </a:prstGeom>
          <a:solidFill>
            <a:srgbClr val="10221B"/>
          </a:solidFill>
          <a:ln w="15875">
            <a:solidFill>
              <a:srgbClr val="3CCB8E"/>
            </a:solidFill>
            <a:prstDash val="solid"/>
          </a:ln>
        </p:spPr>
      </p:sp>
      <p:sp>
        <p:nvSpPr>
          <p:cNvPr id="10" name="Text 7"/>
          <p:cNvSpPr/>
          <p:nvPr/>
        </p:nvSpPr>
        <p:spPr>
          <a:xfrm>
            <a:off x="1133856" y="2395728"/>
            <a:ext cx="1005840" cy="1060704"/>
          </a:xfrm>
          <a:prstGeom prst="rect">
            <a:avLst/>
          </a:prstGeom>
          <a:noFill/>
          <a:ln/>
        </p:spPr>
        <p:txBody>
          <a:bodyPr wrap="square" lIns="0" tIns="0" rIns="0" bIns="0" rtlCol="0" anchor="ctr"/>
          <a:lstStyle/>
          <a:p>
            <a:pPr indent="0" marL="0">
              <a:buNone/>
            </a:pPr>
            <a:r>
              <a:rPr lang="en-US" sz="2600" b="1" dirty="0">
                <a:solidFill>
                  <a:srgbClr val="3CCB8E"/>
                </a:solidFill>
                <a:latin typeface="JetBrains Mono" pitchFamily="34" charset="0"/>
                <a:ea typeface="JetBrains Mono" pitchFamily="34" charset="-122"/>
                <a:cs typeface="JetBrains Mono" pitchFamily="34" charset="-120"/>
              </a:rPr>
              <a:t>07</a:t>
            </a:r>
            <a:endParaRPr lang="en-US" sz="2600" dirty="0"/>
          </a:p>
        </p:txBody>
      </p:sp>
      <p:sp>
        <p:nvSpPr>
          <p:cNvPr id="11" name="Text 8"/>
          <p:cNvSpPr/>
          <p:nvPr/>
        </p:nvSpPr>
        <p:spPr>
          <a:xfrm>
            <a:off x="2240280" y="2596896"/>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Who am I paying?</a:t>
            </a:r>
            <a:endParaRPr lang="en-US" sz="1900" dirty="0"/>
          </a:p>
        </p:txBody>
      </p:sp>
      <p:sp>
        <p:nvSpPr>
          <p:cNvPr id="12" name="Text 9"/>
          <p:cNvSpPr/>
          <p:nvPr/>
        </p:nvSpPr>
        <p:spPr>
          <a:xfrm>
            <a:off x="2240280" y="2971800"/>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The registry, checked before any money moves.</a:t>
            </a:r>
            <a:endParaRPr lang="en-US" sz="1350" dirty="0"/>
          </a:p>
        </p:txBody>
      </p:sp>
      <p:sp>
        <p:nvSpPr>
          <p:cNvPr id="13" name="Text 10"/>
          <p:cNvSpPr/>
          <p:nvPr/>
        </p:nvSpPr>
        <p:spPr>
          <a:xfrm>
            <a:off x="9445752" y="2395728"/>
            <a:ext cx="1554480" cy="1060704"/>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DONE</a:t>
            </a:r>
            <a:endParaRPr lang="en-US" sz="1050" dirty="0"/>
          </a:p>
        </p:txBody>
      </p:sp>
      <p:sp>
        <p:nvSpPr>
          <p:cNvPr id="14" name="Shape 11"/>
          <p:cNvSpPr/>
          <p:nvPr/>
        </p:nvSpPr>
        <p:spPr>
          <a:xfrm>
            <a:off x="822960" y="3694176"/>
            <a:ext cx="10543032" cy="1060704"/>
          </a:xfrm>
          <a:prstGeom prst="roundRect">
            <a:avLst>
              <a:gd name="adj" fmla="val 5172"/>
            </a:avLst>
          </a:prstGeom>
          <a:solidFill>
            <a:srgbClr val="1C212B"/>
          </a:solidFill>
          <a:ln w="12700">
            <a:solidFill>
              <a:srgbClr val="363C49"/>
            </a:solidFill>
            <a:prstDash val="solid"/>
          </a:ln>
        </p:spPr>
      </p:sp>
      <p:sp>
        <p:nvSpPr>
          <p:cNvPr id="15" name="Text 12"/>
          <p:cNvSpPr/>
          <p:nvPr/>
        </p:nvSpPr>
        <p:spPr>
          <a:xfrm>
            <a:off x="1133856" y="3694176"/>
            <a:ext cx="1005840" cy="1060704"/>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08</a:t>
            </a:r>
            <a:endParaRPr lang="en-US" sz="2600" dirty="0"/>
          </a:p>
        </p:txBody>
      </p:sp>
      <p:sp>
        <p:nvSpPr>
          <p:cNvPr id="16" name="Text 13"/>
          <p:cNvSpPr/>
          <p:nvPr/>
        </p:nvSpPr>
        <p:spPr>
          <a:xfrm>
            <a:off x="2240280" y="3895344"/>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may I spend?</a:t>
            </a:r>
            <a:endParaRPr lang="en-US" sz="1900" dirty="0"/>
          </a:p>
        </p:txBody>
      </p:sp>
      <p:sp>
        <p:nvSpPr>
          <p:cNvPr id="17" name="Text 14"/>
          <p:cNvSpPr/>
          <p:nvPr/>
        </p:nvSpPr>
        <p:spPr>
          <a:xfrm>
            <a:off x="2240280" y="4270248"/>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A cap the chain enforces — authority the agent inherits, not one it grants itself.</a:t>
            </a:r>
            <a:endParaRPr lang="en-US" sz="1350" dirty="0"/>
          </a:p>
        </p:txBody>
      </p:sp>
      <p:sp>
        <p:nvSpPr>
          <p:cNvPr id="18" name="Text 15"/>
          <p:cNvSpPr/>
          <p:nvPr/>
        </p:nvSpPr>
        <p:spPr>
          <a:xfrm>
            <a:off x="9445752" y="3694176"/>
            <a:ext cx="1554480" cy="1060704"/>
          </a:xfrm>
          <a:prstGeom prst="rect">
            <a:avLst/>
          </a:prstGeom>
          <a:noFill/>
          <a:ln/>
        </p:spPr>
        <p:txBody>
          <a:bodyPr wrap="square" lIns="0" tIns="0" rIns="0" bIns="0" rtlCol="0" anchor="ctr"/>
          <a:lstStyle/>
          <a:p>
            <a:pPr algn="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NEXT</a:t>
            </a:r>
            <a:endParaRPr lang="en-US" sz="1050" dirty="0"/>
          </a:p>
        </p:txBody>
      </p:sp>
      <p:sp>
        <p:nvSpPr>
          <p:cNvPr id="19" name="Shape 16"/>
          <p:cNvSpPr/>
          <p:nvPr/>
        </p:nvSpPr>
        <p:spPr>
          <a:xfrm>
            <a:off x="822960" y="4992624"/>
            <a:ext cx="10543032" cy="1060704"/>
          </a:xfrm>
          <a:prstGeom prst="roundRect">
            <a:avLst>
              <a:gd name="adj" fmla="val 5172"/>
            </a:avLst>
          </a:prstGeom>
          <a:solidFill>
            <a:srgbClr val="1C212B"/>
          </a:solidFill>
          <a:ln w="12700">
            <a:solidFill>
              <a:srgbClr val="363C49"/>
            </a:solidFill>
            <a:prstDash val="solid"/>
          </a:ln>
        </p:spPr>
      </p:sp>
      <p:sp>
        <p:nvSpPr>
          <p:cNvPr id="20" name="Text 17"/>
          <p:cNvSpPr/>
          <p:nvPr/>
        </p:nvSpPr>
        <p:spPr>
          <a:xfrm>
            <a:off x="1133856" y="4992624"/>
            <a:ext cx="1005840" cy="1060704"/>
          </a:xfrm>
          <a:prstGeom prst="rect">
            <a:avLst/>
          </a:prstGeom>
          <a:noFill/>
          <a:ln/>
        </p:spPr>
        <p:txBody>
          <a:bodyPr wrap="square" lIns="0" tIns="0" rIns="0" bIns="0" rtlCol="0" anchor="ctr"/>
          <a:lstStyle/>
          <a:p>
            <a:pPr indent="0" marL="0">
              <a:buNone/>
            </a:pPr>
            <a:r>
              <a:rPr lang="en-US" sz="2600" b="1" dirty="0">
                <a:solidFill>
                  <a:srgbClr val="6B7280"/>
                </a:solidFill>
                <a:latin typeface="JetBrains Mono" pitchFamily="34" charset="0"/>
                <a:ea typeface="JetBrains Mono" pitchFamily="34" charset="-122"/>
                <a:cs typeface="JetBrains Mono" pitchFamily="34" charset="-120"/>
              </a:rPr>
              <a:t>09</a:t>
            </a:r>
            <a:endParaRPr lang="en-US" sz="2600" dirty="0"/>
          </a:p>
        </p:txBody>
      </p:sp>
      <p:sp>
        <p:nvSpPr>
          <p:cNvPr id="21" name="Text 18"/>
          <p:cNvSpPr/>
          <p:nvPr/>
        </p:nvSpPr>
        <p:spPr>
          <a:xfrm>
            <a:off x="2240280" y="5193792"/>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if you don't deliver?</a:t>
            </a:r>
            <a:endParaRPr lang="en-US" sz="1900" dirty="0"/>
          </a:p>
        </p:txBody>
      </p:sp>
      <p:sp>
        <p:nvSpPr>
          <p:cNvPr id="22" name="Text 19"/>
          <p:cNvSpPr/>
          <p:nvPr/>
        </p:nvSpPr>
        <p:spPr>
          <a:xfrm>
            <a:off x="2240280" y="5568696"/>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Pay on delivery, using MOI's native lockup and release.</a:t>
            </a:r>
            <a:endParaRPr lang="en-US" sz="1350" dirty="0"/>
          </a:p>
        </p:txBody>
      </p:sp>
      <p:sp>
        <p:nvSpPr>
          <p:cNvPr id="23" name="Text 20"/>
          <p:cNvSpPr/>
          <p:nvPr/>
        </p:nvSpPr>
        <p:spPr>
          <a:xfrm>
            <a:off x="9445752" y="4992624"/>
            <a:ext cx="1554480" cy="1060704"/>
          </a:xfrm>
          <a:prstGeom prst="rect">
            <a:avLst/>
          </a:prstGeom>
          <a:noFill/>
          <a:ln/>
        </p:spPr>
        <p:txBody>
          <a:bodyPr wrap="square" lIns="0" tIns="0" rIns="0" bIns="0" rtlCol="0" anchor="ctr"/>
          <a:lstStyle/>
          <a:p>
            <a:pPr algn="r" indent="0" marL="0">
              <a:buNone/>
            </a:pPr>
            <a:r>
              <a:rPr lang="en-US" sz="1050" b="1" spc="140" kern="0" dirty="0">
                <a:solidFill>
                  <a:srgbClr val="6B7280"/>
                </a:solidFill>
                <a:latin typeface="JetBrains Mono" pitchFamily="34" charset="0"/>
                <a:ea typeface="JetBrains Mono" pitchFamily="34" charset="-122"/>
                <a:cs typeface="JetBrains Mono" pitchFamily="34" charset="-120"/>
              </a:rPr>
              <a:t>AFTER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08</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GO BUILD</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08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Run it yourself</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One funded devnet wallet covers the whole thing. The seller never needs gas — it only receives.</a:t>
            </a:r>
            <a:endParaRPr lang="en-US" sz="1450" dirty="0"/>
          </a:p>
        </p:txBody>
      </p:sp>
      <p:sp>
        <p:nvSpPr>
          <p:cNvPr id="9" name="Shape 6"/>
          <p:cNvSpPr/>
          <p:nvPr/>
        </p:nvSpPr>
        <p:spPr>
          <a:xfrm>
            <a:off x="822960" y="2377440"/>
            <a:ext cx="6035040" cy="2670048"/>
          </a:xfrm>
          <a:prstGeom prst="roundRect">
            <a:avLst>
              <a:gd name="adj" fmla="val 2055"/>
            </a:avLst>
          </a:prstGeom>
          <a:solidFill>
            <a:srgbClr val="1C212B"/>
          </a:solidFill>
          <a:ln w="12700">
            <a:solidFill>
              <a:srgbClr val="363C49"/>
            </a:solidFill>
            <a:prstDash val="solid"/>
          </a:ln>
        </p:spPr>
      </p:sp>
      <p:sp>
        <p:nvSpPr>
          <p:cNvPr id="10" name="Text 7"/>
          <p:cNvSpPr/>
          <p:nvPr/>
        </p:nvSpPr>
        <p:spPr>
          <a:xfrm>
            <a:off x="1152144" y="25786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install</a:t>
            </a:r>
            <a:endParaRPr lang="en-US" sz="1250" dirty="0"/>
          </a:p>
        </p:txBody>
      </p:sp>
      <p:sp>
        <p:nvSpPr>
          <p:cNvPr id="11" name="Text 8"/>
          <p:cNvSpPr/>
          <p:nvPr/>
        </p:nvSpPr>
        <p:spPr>
          <a:xfrm>
            <a:off x="1152144" y="30358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cp .env.example .env</a:t>
            </a:r>
            <a:endParaRPr lang="en-US" sz="1250" dirty="0"/>
          </a:p>
        </p:txBody>
      </p:sp>
      <p:sp>
        <p:nvSpPr>
          <p:cNvPr id="12" name="Text 9"/>
          <p:cNvSpPr/>
          <p:nvPr/>
        </p:nvSpPr>
        <p:spPr>
          <a:xfrm>
            <a:off x="4023360" y="30358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paste a funded mnemonic</a:t>
            </a:r>
            <a:endParaRPr lang="en-US" sz="1050" dirty="0"/>
          </a:p>
        </p:txBody>
      </p:sp>
      <p:sp>
        <p:nvSpPr>
          <p:cNvPr id="13" name="Text 10"/>
          <p:cNvSpPr/>
          <p:nvPr/>
        </p:nvSpPr>
        <p:spPr>
          <a:xfrm>
            <a:off x="1152144" y="34930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setup:asset</a:t>
            </a:r>
            <a:endParaRPr lang="en-US" sz="1250" dirty="0"/>
          </a:p>
        </p:txBody>
      </p:sp>
      <p:sp>
        <p:nvSpPr>
          <p:cNvPr id="14" name="Text 11"/>
          <p:cNvSpPr/>
          <p:nvPr/>
        </p:nvSpPr>
        <p:spPr>
          <a:xfrm>
            <a:off x="4023360" y="34930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mint the settlement asset</a:t>
            </a:r>
            <a:endParaRPr lang="en-US" sz="1050" dirty="0"/>
          </a:p>
        </p:txBody>
      </p:sp>
      <p:sp>
        <p:nvSpPr>
          <p:cNvPr id="15" name="Text 12"/>
          <p:cNvSpPr/>
          <p:nvPr/>
        </p:nvSpPr>
        <p:spPr>
          <a:xfrm>
            <a:off x="1152144" y="39502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setup:registry</a:t>
            </a:r>
            <a:endParaRPr lang="en-US" sz="1250" dirty="0"/>
          </a:p>
        </p:txBody>
      </p:sp>
      <p:sp>
        <p:nvSpPr>
          <p:cNvPr id="16" name="Text 13"/>
          <p:cNvSpPr/>
          <p:nvPr/>
        </p:nvSpPr>
        <p:spPr>
          <a:xfrm>
            <a:off x="4023360" y="39502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put both agents on chain</a:t>
            </a:r>
            <a:endParaRPr lang="en-US" sz="1050" dirty="0"/>
          </a:p>
        </p:txBody>
      </p:sp>
      <p:sp>
        <p:nvSpPr>
          <p:cNvPr id="17" name="Text 14"/>
          <p:cNvSpPr/>
          <p:nvPr/>
        </p:nvSpPr>
        <p:spPr>
          <a:xfrm>
            <a:off x="1152144" y="44074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ui</a:t>
            </a:r>
            <a:endParaRPr lang="en-US" sz="1250" dirty="0"/>
          </a:p>
        </p:txBody>
      </p:sp>
      <p:sp>
        <p:nvSpPr>
          <p:cNvPr id="18" name="Text 15"/>
          <p:cNvSpPr/>
          <p:nvPr/>
        </p:nvSpPr>
        <p:spPr>
          <a:xfrm>
            <a:off x="4023360" y="44074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the agent console</a:t>
            </a:r>
            <a:endParaRPr lang="en-US" sz="1050" dirty="0"/>
          </a:p>
        </p:txBody>
      </p:sp>
      <p:sp>
        <p:nvSpPr>
          <p:cNvPr id="19" name="Shape 16"/>
          <p:cNvSpPr/>
          <p:nvPr/>
        </p:nvSpPr>
        <p:spPr>
          <a:xfrm>
            <a:off x="7315200" y="2377440"/>
            <a:ext cx="4050792" cy="1261872"/>
          </a:xfrm>
          <a:prstGeom prst="roundRect">
            <a:avLst>
              <a:gd name="adj" fmla="val 4348"/>
            </a:avLst>
          </a:prstGeom>
          <a:solidFill>
            <a:srgbClr val="1C212B"/>
          </a:solidFill>
          <a:ln w="12700">
            <a:solidFill>
              <a:srgbClr val="363C49"/>
            </a:solidFill>
            <a:prstDash val="solid"/>
          </a:ln>
        </p:spPr>
      </p:sp>
      <p:sp>
        <p:nvSpPr>
          <p:cNvPr id="20" name="Text 17"/>
          <p:cNvSpPr/>
          <p:nvPr/>
        </p:nvSpPr>
        <p:spPr>
          <a:xfrm>
            <a:off x="7626096" y="2651760"/>
            <a:ext cx="3429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FAUCET · ONE WALLET</a:t>
            </a:r>
            <a:endParaRPr lang="en-US" sz="950" dirty="0"/>
          </a:p>
        </p:txBody>
      </p:sp>
      <p:sp>
        <p:nvSpPr>
          <p:cNvPr id="21" name="Text 18"/>
          <p:cNvSpPr/>
          <p:nvPr/>
        </p:nvSpPr>
        <p:spPr>
          <a:xfrm>
            <a:off x="7626096" y="2971800"/>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voyage.moi.technology</a:t>
            </a:r>
            <a:endParaRPr lang="en-US" sz="1900" dirty="0"/>
          </a:p>
        </p:txBody>
      </p:sp>
      <p:sp>
        <p:nvSpPr>
          <p:cNvPr id="22" name="Shape 19"/>
          <p:cNvSpPr/>
          <p:nvPr/>
        </p:nvSpPr>
        <p:spPr>
          <a:xfrm>
            <a:off x="7315200" y="3785616"/>
            <a:ext cx="4050792" cy="1261872"/>
          </a:xfrm>
          <a:prstGeom prst="roundRect">
            <a:avLst>
              <a:gd name="adj" fmla="val 4348"/>
            </a:avLst>
          </a:prstGeom>
          <a:solidFill>
            <a:srgbClr val="1C212B"/>
          </a:solidFill>
          <a:ln w="12700">
            <a:solidFill>
              <a:srgbClr val="363C49"/>
            </a:solidFill>
            <a:prstDash val="solid"/>
          </a:ln>
        </p:spPr>
      </p:sp>
      <p:sp>
        <p:nvSpPr>
          <p:cNvPr id="23" name="Text 20"/>
          <p:cNvSpPr/>
          <p:nvPr/>
        </p:nvSpPr>
        <p:spPr>
          <a:xfrm>
            <a:off x="7626096" y="4059936"/>
            <a:ext cx="3429000" cy="219456"/>
          </a:xfrm>
          <a:prstGeom prst="rect">
            <a:avLst/>
          </a:prstGeom>
          <a:noFill/>
          <a:ln/>
        </p:spPr>
        <p:txBody>
          <a:bodyPr wrap="square" lIns="0" tIns="0" rIns="0" bIns="0" rtlCol="0" anchor="ctr"/>
          <a:lstStyle/>
          <a:p>
            <a:pPr indent="0" marL="0">
              <a:buNone/>
            </a:pPr>
            <a:r>
              <a:rPr lang="en-US" sz="950" b="1" spc="140" kern="0" dirty="0">
                <a:solidFill>
                  <a:srgbClr val="3CCB8E"/>
                </a:solidFill>
                <a:latin typeface="JetBrains Mono" pitchFamily="34" charset="0"/>
                <a:ea typeface="JetBrains Mono" pitchFamily="34" charset="-122"/>
                <a:cs typeface="JetBrains Mono" pitchFamily="34" charset="-120"/>
              </a:rPr>
              <a:t>NEXT</a:t>
            </a:r>
            <a:endParaRPr lang="en-US" sz="950" dirty="0"/>
          </a:p>
        </p:txBody>
      </p:sp>
      <p:sp>
        <p:nvSpPr>
          <p:cNvPr id="24" name="Text 21"/>
          <p:cNvSpPr/>
          <p:nvPr/>
        </p:nvSpPr>
        <p:spPr>
          <a:xfrm>
            <a:off x="7626096" y="4379976"/>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Session 8 — authority</a:t>
            </a:r>
            <a:endParaRPr lang="en-US" sz="1900" dirty="0"/>
          </a:p>
        </p:txBody>
      </p:sp>
      <p:sp>
        <p:nvSpPr>
          <p:cNvPr id="25" name="Text 22"/>
          <p:cNvSpPr/>
          <p:nvPr/>
        </p:nvSpPr>
        <p:spPr>
          <a:xfrm>
            <a:off x="822960" y="5303520"/>
            <a:ext cx="10543032" cy="548640"/>
          </a:xfrm>
          <a:prstGeom prst="rect">
            <a:avLst/>
          </a:prstGeom>
          <a:noFill/>
          <a:ln/>
        </p:spPr>
        <p:txBody>
          <a:bodyPr wrap="square" lIns="0" tIns="0" rIns="0" bIns="0" rtlCol="0" anchor="ctr"/>
          <a:lstStyle/>
          <a:p>
            <a:pPr indent="0" marL="0">
              <a:buNone/>
            </a:pPr>
            <a:r>
              <a:rPr lang="en-US" sz="1750" b="1" dirty="0">
                <a:solidFill>
                  <a:srgbClr val="B9BECD"/>
                </a:solidFill>
                <a:latin typeface="Inter" pitchFamily="34" charset="0"/>
                <a:ea typeface="Inter" pitchFamily="34" charset="-122"/>
                <a:cs typeface="Inter" pitchFamily="34" charset="-120"/>
              </a:rPr>
              <a:t>The payment was the easy half. </a:t>
            </a:r>
            <a:pPr indent="0" marL="0">
              <a:buNone/>
            </a:pPr>
            <a:r>
              <a:rPr lang="en-US" sz="1750" b="1" dirty="0">
                <a:solidFill>
                  <a:srgbClr val="FFFFFF"/>
                </a:solidFill>
                <a:latin typeface="Inter" pitchFamily="34" charset="0"/>
                <a:ea typeface="Inter" pitchFamily="34" charset="-122"/>
                <a:cs typeface="Inter" pitchFamily="34" charset="-120"/>
              </a:rPr>
              <a:t>Knowing who you're paying is what makes it safe.</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MOI Builders · Session 07 — Agentic Payments</dc:title>
  <dc:subject>PptxGenJS Presentation</dc:subject>
  <dc:creator>Sarva Labs</dc:creator>
  <cp:lastModifiedBy>Sarva Labs</cp:lastModifiedBy>
  <cp:revision>1</cp:revision>
  <dcterms:created xsi:type="dcterms:W3CDTF">2026-08-05T19:59:07Z</dcterms:created>
  <dcterms:modified xsi:type="dcterms:W3CDTF">2026-08-05T19:59:07Z</dcterms:modified>
</cp:coreProperties>
</file>