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1 ]  Open cold. Do not read the slide.
Two programs. One of them sells probability estimates on bitcoin. The other one has a question it
can't answer for itself.
They have never met. No account, no API key, nobody introduced them.
In about thirty seconds, one of them is going to find the other, decide it's legitimate, and pay
it — and the only thing I'll touch is the keyboard, once, at the start.
Let's meet them properly.
[ next slide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2 ]  Stay here. This is the whole setup. Nothing to click.
Let me introduce them properly, because I'm going to keep calling these agents and that word gets
thrown around.
On the left, the Risk Agent. It's the buyer. It has a question, it can't answer it, and it has a
wallet. Two things make it an agent and not a script: it works out which market actually answers
its question, and it decides whether the price it gets quoted is worth paying.
On the right, the Signal Desk. It sells probability estimates. Will bitcoin draw down more than
twenty percent this quarter. Will it close higher next week. And here's the part I like — it sets
its own price, per request. That number is not sitting in a config file somewhere. The desk decides
it, every single time you ask.
[ pause — then point at the gap in the middle ]
Now the important bit.
The buyer does not have the seller's address. It doesn't have its URL. It doesn't know it exists.
There's no shared secret, no contract, nobody signed up for anything.
The only thing these two have in common is that strip along the bottom. They're both registered on
MOI, and the money they'll settle in is native to it. That's the entire relationship.
So — how does one of them pay the other?
[ CAREFUL: the seller sets its price, it does not decline a sale. Refusing isn't implemented.
  Don't claim "two AI agents transacting autonomously" beyond what's on the slide — the seller's
  product is a stub and someone will ask.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3 ]
Moving money is the easy part. Chains have been doing that for the better part of two decades.
The hard part is what you do without thinking, every single time you buy something from someone
you've never met.
You glance at the shop and decide it looks real. You've got a rough number in your head that you
won't go past. And you assume that if nothing turns up, there's some way to get your money back.
Three instincts. You don't even notice you're using them.
[ pause ]
Take the human out and every one of them disappears. And you do have to take the human out —
you can't approve a fraction-of-a-cent purchase by hand. The clicking costs more than the thing
you're buying.
So each of those instincts has to become something a machine can actually check. Three questions.
Three sessions. Today is the first one.
How do you know who you're paying?
[ &gt;&gt;&gt; SWITCH TO BROWSER — http://localhost:4000 ]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&gt;&gt;&gt; BROWSER — http://localhost:4000 ]  Leave this slide up while you switch.
I'm going to type what I want, in plain language. Watch what I don't do. I don't name a seller, I
don't name a price, and I don't give it an address.
[ TYPE: should i be worried about a crash ]
— 1 · "I don't know the answer to this" —
First thing it does is admit it's stuck. That's the honest starting point for any agent: I can't
answer this, so who can? And notice it isn't looking for a company. It's looking for a skill.
— 2 · "Found one" —
There. One agent came back, and look at everything that came with it. An id, the wallet it
registered, the URL where it lives, the skills it advertises. All of that came off the chain.
I never gave it that address. I gave it a question.
— 3 · "Here is what I sell" —
Now it's reading the catalog, and the catalog is free. The questions are public — you only pay for
the answers. That's deliberate. If browsing cost money, you couldn't work out what you wanted
without paying to find out.
— 4 · "This is the one I want" —
It went for the drawdown market. Look at "decided by" — that's a model, reasoning. And worth
noticing: I typed the word "crash". That word appears nowhere in the catalog. The market says
"draw down". Keyword matching would have missed it.
— 5 · "402 Payment Required" —
Four-oh-two. Payment Required. It's been sitting in the HTTP spec since 1997, essentially unused,
because until recently nothing needed to charge a machine for a single request. And notice the desk
tells me why it's charging this. That's its own pricing decision, not a lookup.
— 6 · "3 USDM — I'll pay that" —
And the buyer decides whether that's fair. Two agents, two decisions, one transaction. If the desk
had marked this up hard, you'd be watching the buyer walk away instead.
— 7 · "Checked who I am paying" —  ** SLOW DOWN. THIS IS THE SESSION. **
Here's the thing I actually want you to leave with.
That address in the quote is thirty-two bytes. It tells you where to send money. It tells you
absolutely nothing about whose address it is.
No payment protocol can help you here. That's not what they're for. They move value; they don't
vouch for people.
[ pause ]
So before it spends anything, the agent goes back to the chain and asks a different question: is
this actually the wallet that this agent registered? It matches. Now it'll pay.
That check takes about a second, and it happens before the money moves — not after. That ordering
is the whole security property. There's no escrow here and nothing to claw back, so a check that
runs late may as well not run at all.
— 8 · "Paid — on chain, from my own wallet" —
Money's moved. Real transfer, real interaction hash.
[ point at the green value next to "interaction" — click it, it copies ]
That is not a receipt I printed for myself. That interaction is on devnet whether or not you
believe a single thing on this screen. Paste it into an explorer and it's there.
And read the wording — from my own wallet. On MOI, only the owner can move their own funds. Nobody
is holding this money on anyone's behalf, because nobody can.
— 9 · "I checked your payment myself" —
Seven checks. And the seller isn't taking the buyer's word for any of it. It goes and reads that
interaction off the chain and decodes it. Right sender, right recipient, right amount, not already
spent. Same hash at the bottom — the seller independently arrived at the transaction the buyer
claimed.
— 10 · the answer —
Paid. Delivered. Balance at the top dropped by three.
One thing I want to say plainly, because it's a number about bitcoin and those get screenshotted.
That probability is made up. There's no model behind it and no market data. Every response says so.
Today is about the payment, not the forecast.
=== THE REFUSAL — tick "Simulate a compromised listing", ask the same thing again ===
Now let's break it. I've repointed the seller's registry entry at an attacker — as if someone got
into the listing and swapped the payout address. The seller itself hasn't changed. It's still going
to ask to be paid at its real address. Watch.
[ it stops at step 7 ]
Stopped. The registry says one thing, the quote says another, and it walked.
Money moved: none. And that's literal, not a friendly message. It never built a transaction. There
is nothing to reverse, because nothing happened.
[ let it sit ]
And notice who caught it. Not the seller. Not a middleman. The one with something to lose.
[ IF THE HAPPY PATH REFUSES: you Ctrl-C'd a tamper run earlier. Rerun it and let it finish.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&gt;&gt;&gt; EDITOR ]
Four files. Everything that makes this safe is in them, and nowhere else.
— payment-proof.ts —
The entire wire format is two messages. The seller sends a Quote: here's my price, here's the
asset, here's where to pay, and here's my agent id. The buyer sends back a Claim: I sent this much,
to you, in this transaction, for this thing, and here's my signature over all of it.
That's the protocol. No third service, nothing to negotiate.
[ point at payToAgentId ]
And that field is why any of this works. Take it away and payTo is thirty-two anonymous bytes
again.
— identity-check.ts —  [ whole file on screen, 42 lines, don't scroll ]
This is the idea the entire session is built on, and it's forty-two lines.
[ point at the one line: if (normalizeAddress(registryWallet) !== normalizeAddress(quote.payTo)) ]
Read the wallet this agent registered. Compare it to the one on the invoice. Refuse if they
disagree.
That's it. That's the check no payment protocol can do for you, because it needs an identity that
lives somewhere both parties can go and look — independently, without having to ask each other.
[ then show where approve() is called in pay.ts ]
And this is where it runs. Before the transfer. Not after, not alongside — before. The payment
client is physically incapable of spending until this returns a yes.
— verify-proof.ts —  [ show two of the seven, don't read them all ]
Check three, key binds to payer. Transfers are public. Anyone watching the chain can see that
payment land. So what stops someone else grabbing my transaction hash, claiming it, and walking off
with the answer I paid for? This. The claim is signed, and this check derives the account id back
out of the public key. You cannot claim a payment you didn't make.
Check six, transfer landed on chain. This is the seller doing the work itself — pulling the
interaction, decoding the calldata, checking sender and recipient and amount. That's the cost of
having no middleman. There's nobody to ask, so you look it up yourself.
[ OPTIONAL — run: npm run attack-test ]
Eleven forged payments. Every one rejected, and rejected for the right reason. Plus one honest
payment that has to be accepted, because a verifier that refuses everything would otherwise look
perfect.
— pricing.ts and worth.ts —
These two are why I'm comfortable calling both of these agents. The desk decides what to charge.
The buyer decides whether to pay it. Both of those are model calls.
But look very carefully at what the model is not allowed to touch.
[ point at the clamp in pricing.ts, then SOFT_LIMIT in worth.ts ]
The price bounds are arithmetic. The buyer's hard ceiling is checked before the model is even
asked — and that matters, because the seller's justification for its price goes straight into the
buyer's prompt. That's untrusted text, written by the counterparty.
A model can be talked into things. That's a wonderful property when you're choosing what to buy,
and a disqualifying one when you're guarding a wallet.
And nothing about whether a payment is valid goes near a model at all. That's arithmetic and
signatures.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6 ]  — but run the command in the terminal first.
[ &gt;&gt;&gt; TERMINAL: MAX_PRICE_PER_ANSWER=999999 npm run ask -- "should i be worried about a crash" ]
So the buyer has a spending limit. It refuses anything over six. Let me show you exactly what that
is worth.
I didn't touch the code. I set an environment variable, and the limit is gone.
Now — it still won't pay something ridiculous, because there's a second opinion: the model's own
read on whether a markup is reasonable. But look where that lives. Same process. It's a prompt I
wrote, in a file I control.
[ pause ]
That's the point. Every guardrail in this demo is self-imposed. A number the agent set for itself,
and a model it asks for a second opinion. Both of them are code that whoever runs the agent can
change, delete, or reword.
[ point at the right-hand card — this is the one that surprises people ]
And it's worse than that, in a way people don't expect.
That limit is per purchase. Nothing anywhere tracks the total. An agent with a six-unit limit and a
ninety-nine-thousand balance can spend every last unit of it — six at a time — without violating
its limit once. Every individual purchase is compliant. The wallet still empties.
[ pause ]
Nothing on the chain caps this wallet. It spent three today because it decided to.
An agent promising not to overspend is not the same thing as an agent that cannot.
[ DON'T claim the env var makes it pay anything — tested, the model still refuses. The honest
  version is the one above: both guardrails live inside the agent.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7 ]
Which brings us back to the three questions, and the honest scorecard.
Who am I paying? Answered. The registry, checked before any money moves.
What am I allowed to spend? Not answered. That's session eight — a cap the chain itself enforces,
that the agent can't lift by editing a variable, because it doesn't own that authority. It inherits
it.
And what happens if they don't deliver? Also not answered. Right now it's pay and hope. Session
nine makes it pay-on-delivery, using MOI's native lockup and release.
[ IF ASKED what happens today when a seller takes the money and vanishes: you lose it. Same as cash
  across a counter. Don't dress it up.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8 ]  Close here, then Q&amp;A.
Everything you just watched settled on MOI devnet. Those interaction hashes are real — go and look
them up. The repo is linked, and one funded wallet runs the whole thing.
And the thing I want you to walk away with isn't the payment. Moving money is the easy part.
It's the check that happens in the second before the money moves — and the fact that an agent can
only make that check because there's a chain it can go and ask.
Next time: what happens when it isn't allowed to spend it in the first place.
=== LIKELY QUESTIONS ===
Seller takes the money and delivers nothing? You lose it. Same as cash across a counter. Session
nine makes the payment conditional on delivery.
Are these really two separate agents? Two wallets, two on-chain identities, two independent
decisions. But one machine and one mnemonic today — same operator, two accounts. The chain doesn't
know or care, and the transfer between them is real either way.
Why not x402? Built that first; it's on a branch. It buys interoperability — any x402 client could
pay this seller. It costs about twice the code and a second service to run. The identity check,
which is the actual point, is identical in both.
What stops a replayed payment? The transfer hash is burned once it's bought something. Honest
caveat: that set is in memory, so restarting the seller resets it. A real seller persists it.
Is the seller's product real? No. It's a stub — invented numbers with a disclaimer on every
response. The payment machinery around it is real, and that's the part that doesn't change when you
put a genuine model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6"/>
        </a:solidFill>
      </p:bgPr>
    </p:bg>
    <p:spTree>
      <p:nvGrpSpPr>
        <p:cNvPr id="1" name=""/>
        <p:cNvGrpSpPr/>
        <p:nvPr/>
      </p:nvGrpSpPr>
      <p:grpSpPr>
        <a:xfrm>
          <a:off x="0" y="0"/>
          <a:ext cx="0" cy="0"/>
          <a:chOff x="0" y="0"/>
          <a:chExt cx="0" cy="0"/>
        </a:xfrm>
      </p:grpSpPr>
      <p:pic>
        <p:nvPicPr>
          <p:cNvPr id="3" name="Image 0" descr="moi-mark.png">    </p:cNvPr>
          <p:cNvPicPr>
            <a:picLocks noChangeAspect="1"/>
          </p:cNvPicPr>
          <p:nvPr/>
        </p:nvPicPr>
        <p:blipFill>
          <a:blip r:embed="rId1"/>
          <a:stretch>
            <a:fillRect/>
          </a:stretch>
        </p:blipFill>
        <p:spPr>
          <a:xfrm>
            <a:off x="822960" y="1481328"/>
            <a:ext cx="420624" cy="420624"/>
          </a:xfrm>
          <a:prstGeom prst="rect">
            <a:avLst/>
          </a:prstGeom>
        </p:spPr>
      </p:pic>
      <p:sp>
        <p:nvSpPr>
          <p:cNvPr id="4" name="Text 0"/>
          <p:cNvSpPr/>
          <p:nvPr/>
        </p:nvSpPr>
        <p:spPr>
          <a:xfrm>
            <a:off x="822960" y="2139696"/>
            <a:ext cx="5486400" cy="274320"/>
          </a:xfrm>
          <a:prstGeom prst="rect">
            <a:avLst/>
          </a:prstGeom>
          <a:noFill/>
          <a:ln/>
        </p:spPr>
        <p:txBody>
          <a:bodyPr wrap="square" lIns="0" tIns="0" rIns="0" bIns="0" rtlCol="0" anchor="ctr"/>
          <a:lstStyle/>
          <a:p>
            <a:pPr indent="0" marL="0">
              <a:buNone/>
            </a:pPr>
            <a:r>
              <a:rPr lang="en-US" sz="1100" b="1" spc="220" kern="0" dirty="0">
                <a:solidFill>
                  <a:srgbClr val="8B8AF0"/>
                </a:solidFill>
                <a:latin typeface="JetBrains Mono" pitchFamily="34" charset="0"/>
                <a:ea typeface="JetBrains Mono" pitchFamily="34" charset="-122"/>
                <a:cs typeface="JetBrains Mono" pitchFamily="34" charset="-120"/>
              </a:rPr>
              <a:t>MOI BUILDERS · SESSION 07</a:t>
            </a:r>
            <a:endParaRPr lang="en-US" sz="1100" dirty="0"/>
          </a:p>
        </p:txBody>
      </p:sp>
      <p:sp>
        <p:nvSpPr>
          <p:cNvPr id="5" name="Text 1"/>
          <p:cNvSpPr/>
          <p:nvPr/>
        </p:nvSpPr>
        <p:spPr>
          <a:xfrm>
            <a:off x="777240" y="2487168"/>
            <a:ext cx="6400800" cy="1828800"/>
          </a:xfrm>
          <a:prstGeom prst="rect">
            <a:avLst/>
          </a:prstGeom>
          <a:noFill/>
          <a:ln/>
        </p:spPr>
        <p:txBody>
          <a:bodyPr wrap="square" lIns="0" tIns="0" rIns="0" bIns="0" rtlCol="0" anchor="t"/>
          <a:lstStyle/>
          <a:p>
            <a:pPr indent="0" marL="0">
              <a:lnSpc>
                <a:spcPts val="6600"/>
              </a:lnSpc>
              <a:buNone/>
            </a:pPr>
            <a:r>
              <a:rPr lang="en-US" sz="6200" b="1" dirty="0">
                <a:solidFill>
                  <a:srgbClr val="FFFFFF"/>
                </a:solidFill>
                <a:latin typeface="Inter" pitchFamily="34" charset="0"/>
                <a:ea typeface="Inter" pitchFamily="34" charset="-122"/>
                <a:cs typeface="Inter" pitchFamily="34" charset="-120"/>
              </a:rPr>
              <a:t>Agentic</a:t>
            </a:r>
            <a:endParaRPr lang="en-US" sz="6200" dirty="0"/>
          </a:p>
          <a:p>
            <a:pPr indent="0" marL="0">
              <a:lnSpc>
                <a:spcPts val="6600"/>
              </a:lnSpc>
              <a:buNone/>
            </a:pPr>
            <a:r>
              <a:rPr lang="en-US" sz="6200" b="1" dirty="0">
                <a:solidFill>
                  <a:srgbClr val="FFFFFF"/>
                </a:solidFill>
                <a:latin typeface="Inter" pitchFamily="34" charset="0"/>
                <a:ea typeface="Inter" pitchFamily="34" charset="-122"/>
                <a:cs typeface="Inter" pitchFamily="34" charset="-120"/>
              </a:rPr>
              <a:t>Payments</a:t>
            </a:r>
            <a:endParaRPr lang="en-US" sz="6200" dirty="0"/>
          </a:p>
        </p:txBody>
      </p:sp>
      <p:sp>
        <p:nvSpPr>
          <p:cNvPr id="6" name="Text 2"/>
          <p:cNvSpPr/>
          <p:nvPr/>
        </p:nvSpPr>
        <p:spPr>
          <a:xfrm>
            <a:off x="822960" y="4443984"/>
            <a:ext cx="5852160" cy="731520"/>
          </a:xfrm>
          <a:prstGeom prst="rect">
            <a:avLst/>
          </a:prstGeom>
          <a:noFill/>
          <a:ln/>
        </p:spPr>
        <p:txBody>
          <a:bodyPr wrap="square" lIns="0" tIns="0" rIns="0" bIns="0" rtlCol="0" anchor="ctr"/>
          <a:lstStyle/>
          <a:p>
            <a:pPr indent="0" marL="0">
              <a:lnSpc>
                <a:spcPts val="2600"/>
              </a:lnSpc>
              <a:buNone/>
            </a:pPr>
            <a:r>
              <a:rPr lang="en-US" sz="1650" dirty="0">
                <a:solidFill>
                  <a:srgbClr val="B9BECD"/>
                </a:solidFill>
                <a:latin typeface="Inter" pitchFamily="34" charset="0"/>
                <a:ea typeface="Inter" pitchFamily="34" charset="-122"/>
                <a:cs typeface="Inter" pitchFamily="34" charset="-120"/>
              </a:rPr>
              <a:t>An agent finds another agent on MOI — and pays it.</a:t>
            </a:r>
            <a:endParaRPr lang="en-US" sz="1650" dirty="0"/>
          </a:p>
          <a:p>
            <a:pPr indent="0" marL="0">
              <a:lnSpc>
                <a:spcPts val="2600"/>
              </a:lnSpc>
              <a:buNone/>
            </a:pPr>
            <a:r>
              <a:rPr lang="en-US" sz="1650" dirty="0">
                <a:solidFill>
                  <a:srgbClr val="B9BECD"/>
                </a:solidFill>
                <a:latin typeface="Inter" pitchFamily="34" charset="0"/>
                <a:ea typeface="Inter" pitchFamily="34" charset="-122"/>
                <a:cs typeface="Inter" pitchFamily="34" charset="-120"/>
              </a:rPr>
              <a:t>No human, no account, no API key.</a:t>
            </a:r>
            <a:endParaRPr lang="en-US" sz="1650" dirty="0"/>
          </a:p>
        </p:txBody>
      </p:sp>
      <p:sp>
        <p:nvSpPr>
          <p:cNvPr id="7" name="Text 3"/>
          <p:cNvSpPr/>
          <p:nvPr/>
        </p:nvSpPr>
        <p:spPr>
          <a:xfrm>
            <a:off x="822960" y="5321808"/>
            <a:ext cx="5486400" cy="274320"/>
          </a:xfrm>
          <a:prstGeom prst="rect">
            <a:avLst/>
          </a:prstGeom>
          <a:noFill/>
          <a:ln/>
        </p:spPr>
        <p:txBody>
          <a:bodyPr wrap="square" lIns="0" tIns="0" rIns="0" bIns="0" rtlCol="0" anchor="ctr"/>
          <a:lstStyle/>
          <a:p>
            <a:pPr indent="0" marL="0">
              <a:buNone/>
            </a:pPr>
            <a:r>
              <a:rPr lang="en-US" sz="1000" spc="180" kern="0" dirty="0">
                <a:solidFill>
                  <a:srgbClr val="6B7280"/>
                </a:solidFill>
                <a:latin typeface="JetBrains Mono" pitchFamily="34" charset="0"/>
                <a:ea typeface="JetBrains Mono" pitchFamily="34" charset="-122"/>
                <a:cs typeface="JetBrains Mono" pitchFamily="34" charset="-120"/>
              </a:rPr>
              <a:t>PART 1 OF 3 · IDENTITY</a:t>
            </a:r>
            <a:endParaRPr lang="en-US" sz="1000" dirty="0"/>
          </a:p>
        </p:txBody>
      </p:sp>
      <p:sp>
        <p:nvSpPr>
          <p:cNvPr id="8" name="Shape 4"/>
          <p:cNvSpPr/>
          <p:nvPr/>
        </p:nvSpPr>
        <p:spPr>
          <a:xfrm>
            <a:off x="8366760" y="3127248"/>
            <a:ext cx="1097280" cy="914400"/>
          </a:xfrm>
          <a:prstGeom prst="line">
            <a:avLst/>
          </a:prstGeom>
          <a:noFill/>
          <a:ln w="19050">
            <a:solidFill>
              <a:srgbClr val="363C49"/>
            </a:solidFill>
            <a:prstDash val="dash"/>
          </a:ln>
        </p:spPr>
      </p:sp>
      <p:sp>
        <p:nvSpPr>
          <p:cNvPr id="9" name="Shape 5"/>
          <p:cNvSpPr/>
          <p:nvPr/>
        </p:nvSpPr>
        <p:spPr>
          <a:xfrm>
            <a:off x="7269480" y="2084832"/>
            <a:ext cx="2606040" cy="1170432"/>
          </a:xfrm>
          <a:prstGeom prst="roundRect">
            <a:avLst>
              <a:gd name="adj" fmla="val 4688"/>
            </a:avLst>
          </a:prstGeom>
          <a:solidFill>
            <a:srgbClr val="1C212B"/>
          </a:solidFill>
          <a:ln w="12700">
            <a:solidFill>
              <a:srgbClr val="363C49"/>
            </a:solidFill>
            <a:prstDash val="solid"/>
          </a:ln>
        </p:spPr>
      </p:sp>
      <p:sp>
        <p:nvSpPr>
          <p:cNvPr id="10" name="Text 6"/>
          <p:cNvSpPr/>
          <p:nvPr/>
        </p:nvSpPr>
        <p:spPr>
          <a:xfrm>
            <a:off x="7525512" y="2249424"/>
            <a:ext cx="2103120" cy="219456"/>
          </a:xfrm>
          <a:prstGeom prst="rect">
            <a:avLst/>
          </a:prstGeom>
          <a:noFill/>
          <a:ln/>
        </p:spPr>
        <p:txBody>
          <a:bodyPr wrap="square" lIns="0" tIns="0" rIns="0" bIns="0" rtlCol="0" anchor="ctr"/>
          <a:lstStyle/>
          <a:p>
            <a:pPr indent="0" marL="0">
              <a:buNone/>
            </a:pPr>
            <a:r>
              <a:rPr lang="en-US" sz="900" b="1" spc="140" kern="0" dirty="0">
                <a:solidFill>
                  <a:srgbClr val="8B8AF0"/>
                </a:solidFill>
                <a:latin typeface="JetBrains Mono" pitchFamily="34" charset="0"/>
                <a:ea typeface="JetBrains Mono" pitchFamily="34" charset="-122"/>
                <a:cs typeface="JetBrains Mono" pitchFamily="34" charset="-120"/>
              </a:rPr>
              <a:t>BUYER</a:t>
            </a:r>
            <a:endParaRPr lang="en-US" sz="900" dirty="0"/>
          </a:p>
        </p:txBody>
      </p:sp>
      <p:sp>
        <p:nvSpPr>
          <p:cNvPr id="11" name="Text 7"/>
          <p:cNvSpPr/>
          <p:nvPr/>
        </p:nvSpPr>
        <p:spPr>
          <a:xfrm>
            <a:off x="7525512" y="2487168"/>
            <a:ext cx="2194560" cy="310896"/>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Risk Agent</a:t>
            </a:r>
            <a:endParaRPr lang="en-US" sz="1700" dirty="0"/>
          </a:p>
        </p:txBody>
      </p:sp>
      <p:sp>
        <p:nvSpPr>
          <p:cNvPr id="12" name="Text 8"/>
          <p:cNvSpPr/>
          <p:nvPr/>
        </p:nvSpPr>
        <p:spPr>
          <a:xfrm>
            <a:off x="7525512" y="2852928"/>
            <a:ext cx="219456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0x…8ef2c197…</a:t>
            </a:r>
            <a:endParaRPr lang="en-US" sz="900" dirty="0"/>
          </a:p>
        </p:txBody>
      </p:sp>
      <p:sp>
        <p:nvSpPr>
          <p:cNvPr id="13" name="Shape 9"/>
          <p:cNvSpPr/>
          <p:nvPr/>
        </p:nvSpPr>
        <p:spPr>
          <a:xfrm>
            <a:off x="8732520" y="4041648"/>
            <a:ext cx="2606040" cy="1170432"/>
          </a:xfrm>
          <a:prstGeom prst="roundRect">
            <a:avLst>
              <a:gd name="adj" fmla="val 4688"/>
            </a:avLst>
          </a:prstGeom>
          <a:solidFill>
            <a:srgbClr val="1C212B"/>
          </a:solidFill>
          <a:ln w="12700">
            <a:solidFill>
              <a:srgbClr val="363C49"/>
            </a:solidFill>
            <a:prstDash val="solid"/>
          </a:ln>
        </p:spPr>
      </p:sp>
      <p:sp>
        <p:nvSpPr>
          <p:cNvPr id="14" name="Text 10"/>
          <p:cNvSpPr/>
          <p:nvPr/>
        </p:nvSpPr>
        <p:spPr>
          <a:xfrm>
            <a:off x="8988552" y="4206240"/>
            <a:ext cx="2103120" cy="219456"/>
          </a:xfrm>
          <a:prstGeom prst="rect">
            <a:avLst/>
          </a:prstGeom>
          <a:noFill/>
          <a:ln/>
        </p:spPr>
        <p:txBody>
          <a:bodyPr wrap="square" lIns="0" tIns="0" rIns="0" bIns="0" rtlCol="0" anchor="ctr"/>
          <a:lstStyle/>
          <a:p>
            <a:pPr indent="0" marL="0">
              <a:buNone/>
            </a:pPr>
            <a:r>
              <a:rPr lang="en-US" sz="900" b="1" spc="140" kern="0" dirty="0">
                <a:solidFill>
                  <a:srgbClr val="8B8AF0"/>
                </a:solidFill>
                <a:latin typeface="JetBrains Mono" pitchFamily="34" charset="0"/>
                <a:ea typeface="JetBrains Mono" pitchFamily="34" charset="-122"/>
                <a:cs typeface="JetBrains Mono" pitchFamily="34" charset="-120"/>
              </a:rPr>
              <a:t>SELLER</a:t>
            </a:r>
            <a:endParaRPr lang="en-US" sz="900" dirty="0"/>
          </a:p>
        </p:txBody>
      </p:sp>
      <p:sp>
        <p:nvSpPr>
          <p:cNvPr id="15" name="Text 11"/>
          <p:cNvSpPr/>
          <p:nvPr/>
        </p:nvSpPr>
        <p:spPr>
          <a:xfrm>
            <a:off x="8988552" y="4443984"/>
            <a:ext cx="2194560" cy="310896"/>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Signal Desk</a:t>
            </a:r>
            <a:endParaRPr lang="en-US" sz="1700" dirty="0"/>
          </a:p>
        </p:txBody>
      </p:sp>
      <p:sp>
        <p:nvSpPr>
          <p:cNvPr id="16" name="Text 12"/>
          <p:cNvSpPr/>
          <p:nvPr/>
        </p:nvSpPr>
        <p:spPr>
          <a:xfrm>
            <a:off x="8988552" y="4809744"/>
            <a:ext cx="219456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0x…1d2f8c28…</a:t>
            </a:r>
            <a:endParaRPr lang="en-US" sz="900" dirty="0"/>
          </a:p>
        </p:txBody>
      </p:sp>
      <p:sp>
        <p:nvSpPr>
          <p:cNvPr id="17" name="Shape 13"/>
          <p:cNvSpPr/>
          <p:nvPr/>
        </p:nvSpPr>
        <p:spPr>
          <a:xfrm>
            <a:off x="8686800" y="3383280"/>
            <a:ext cx="420624" cy="420624"/>
          </a:xfrm>
          <a:prstGeom prst="ellipse">
            <a:avLst/>
          </a:prstGeom>
          <a:solidFill>
            <a:srgbClr val="0E1116"/>
          </a:solidFill>
          <a:ln w="15875">
            <a:solidFill>
              <a:srgbClr val="D6336C"/>
            </a:solidFill>
            <a:prstDash val="solid"/>
          </a:ln>
        </p:spPr>
      </p:sp>
      <p:sp>
        <p:nvSpPr>
          <p:cNvPr id="18" name="Text 14"/>
          <p:cNvSpPr/>
          <p:nvPr/>
        </p:nvSpPr>
        <p:spPr>
          <a:xfrm>
            <a:off x="8686800" y="3383280"/>
            <a:ext cx="420624" cy="420624"/>
          </a:xfrm>
          <a:prstGeom prst="rect">
            <a:avLst/>
          </a:prstGeom>
          <a:noFill/>
          <a:ln/>
        </p:spPr>
        <p:txBody>
          <a:bodyPr wrap="square" lIns="0" tIns="0" rIns="0" bIns="0" rtlCol="0" anchor="ctr"/>
          <a:lstStyle/>
          <a:p>
            <a:pPr algn="ctr" indent="0" marL="0">
              <a:buNone/>
            </a:pPr>
            <a:r>
              <a:rPr lang="en-US" sz="1300" b="1" dirty="0">
                <a:solidFill>
                  <a:srgbClr val="D6336C"/>
                </a:solidFill>
                <a:latin typeface="Inter" pitchFamily="34" charset="0"/>
                <a:ea typeface="Inter" pitchFamily="34" charset="-122"/>
                <a:cs typeface="Inter" pitchFamily="34" charset="-120"/>
              </a:rPr>
              <a:t>✕</a:t>
            </a:r>
            <a:endParaRPr lang="en-US" sz="1300" dirty="0"/>
          </a:p>
        </p:txBody>
      </p:sp>
      <p:sp>
        <p:nvSpPr>
          <p:cNvPr id="19" name="Text 15"/>
          <p:cNvSpPr/>
          <p:nvPr/>
        </p:nvSpPr>
        <p:spPr>
          <a:xfrm>
            <a:off x="9189720" y="3456432"/>
            <a:ext cx="1645920" cy="274320"/>
          </a:xfrm>
          <a:prstGeom prst="rect">
            <a:avLst/>
          </a:prstGeom>
          <a:noFill/>
          <a:ln/>
        </p:spPr>
        <p:txBody>
          <a:bodyPr wrap="square" lIns="0" tIns="0" rIns="0" bIns="0" rtlCol="0" anchor="ctr"/>
          <a:lstStyle/>
          <a:p>
            <a:pPr indent="0" marL="0">
              <a:buNone/>
            </a:pPr>
            <a:r>
              <a:rPr lang="en-US" sz="1000" dirty="0">
                <a:solidFill>
                  <a:srgbClr val="9AA0AE"/>
                </a:solidFill>
                <a:latin typeface="JetBrains Mono" pitchFamily="34" charset="0"/>
                <a:ea typeface="JetBrains Mono" pitchFamily="34" charset="-122"/>
                <a:cs typeface="JetBrains Mono" pitchFamily="34" charset="-120"/>
              </a:rPr>
              <a:t>never met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2D2BB6"/>
                </a:solidFill>
                <a:latin typeface="JetBrains Mono" pitchFamily="34" charset="0"/>
                <a:ea typeface="JetBrains Mono" pitchFamily="34" charset="-122"/>
                <a:cs typeface="JetBrains Mono" pitchFamily="34" charset="-120"/>
              </a:rPr>
              <a:t>MOI · BUILD 02</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5B6170"/>
                </a:solidFill>
                <a:latin typeface="JetBrains Mono" pitchFamily="34" charset="0"/>
                <a:ea typeface="JetBrains Mono" pitchFamily="34" charset="-122"/>
                <a:cs typeface="JetBrains Mono" pitchFamily="34" charset="-120"/>
              </a:rPr>
              <a:t>THE SETUP</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9AA0AE"/>
                </a:solidFill>
                <a:latin typeface="JetBrains Mono" pitchFamily="34" charset="0"/>
                <a:ea typeface="JetBrains Mono" pitchFamily="34" charset="-122"/>
                <a:cs typeface="JetBrains Mono" pitchFamily="34" charset="-120"/>
              </a:rPr>
              <a:t>02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0E1116"/>
                </a:solidFill>
                <a:latin typeface="Inter" pitchFamily="34" charset="0"/>
                <a:ea typeface="Inter" pitchFamily="34" charset="-122"/>
                <a:cs typeface="Inter" pitchFamily="34" charset="-120"/>
              </a:rPr>
              <a:t>Two agents that have never met</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5B6170"/>
                </a:solidFill>
                <a:latin typeface="Inter" pitchFamily="34" charset="0"/>
                <a:ea typeface="Inter" pitchFamily="34" charset="-122"/>
                <a:cs typeface="Inter" pitchFamily="34" charset="-120"/>
              </a:rPr>
              <a:t>One needs an answer. One sells them. Neither was told the other exists.</a:t>
            </a:r>
            <a:endParaRPr lang="en-US" sz="1450" dirty="0"/>
          </a:p>
        </p:txBody>
      </p:sp>
      <p:sp>
        <p:nvSpPr>
          <p:cNvPr id="9" name="Shape 6"/>
          <p:cNvSpPr/>
          <p:nvPr/>
        </p:nvSpPr>
        <p:spPr>
          <a:xfrm>
            <a:off x="822960" y="2377440"/>
            <a:ext cx="4526280" cy="2286000"/>
          </a:xfrm>
          <a:prstGeom prst="roundRect">
            <a:avLst>
              <a:gd name="adj" fmla="val 2400"/>
            </a:avLst>
          </a:prstGeom>
          <a:solidFill>
            <a:srgbClr val="EEF0FB"/>
          </a:solidFill>
          <a:ln w="12700">
            <a:solidFill>
              <a:srgbClr val="C9CBF0"/>
            </a:solidFill>
            <a:prstDash val="solid"/>
          </a:ln>
        </p:spPr>
      </p:sp>
      <p:sp>
        <p:nvSpPr>
          <p:cNvPr id="10" name="Text 7"/>
          <p:cNvSpPr/>
          <p:nvPr/>
        </p:nvSpPr>
        <p:spPr>
          <a:xfrm>
            <a:off x="1133856" y="2596896"/>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BUYER</a:t>
            </a:r>
            <a:endParaRPr lang="en-US" sz="950" dirty="0"/>
          </a:p>
        </p:txBody>
      </p:sp>
      <p:sp>
        <p:nvSpPr>
          <p:cNvPr id="11" name="Text 8"/>
          <p:cNvSpPr/>
          <p:nvPr/>
        </p:nvSpPr>
        <p:spPr>
          <a:xfrm>
            <a:off x="1133856" y="2834640"/>
            <a:ext cx="3657600" cy="402336"/>
          </a:xfrm>
          <a:prstGeom prst="rect">
            <a:avLst/>
          </a:prstGeom>
          <a:noFill/>
          <a:ln/>
        </p:spPr>
        <p:txBody>
          <a:bodyPr wrap="square" lIns="0" tIns="0" rIns="0" bIns="0" rtlCol="0" anchor="ctr"/>
          <a:lstStyle/>
          <a:p>
            <a:pPr indent="0" marL="0">
              <a:buNone/>
            </a:pPr>
            <a:r>
              <a:rPr lang="en-US" sz="2400" b="1" dirty="0">
                <a:solidFill>
                  <a:srgbClr val="0E1116"/>
                </a:solidFill>
                <a:latin typeface="Inter" pitchFamily="34" charset="0"/>
                <a:ea typeface="Inter" pitchFamily="34" charset="-122"/>
                <a:cs typeface="Inter" pitchFamily="34" charset="-120"/>
              </a:rPr>
              <a:t>Risk Agent</a:t>
            </a:r>
            <a:endParaRPr lang="en-US" sz="2400" dirty="0"/>
          </a:p>
        </p:txBody>
      </p:sp>
      <p:sp>
        <p:nvSpPr>
          <p:cNvPr id="12" name="Text 9"/>
          <p:cNvSpPr/>
          <p:nvPr/>
        </p:nvSpPr>
        <p:spPr>
          <a:xfrm>
            <a:off x="1133856" y="3291840"/>
            <a:ext cx="3904488" cy="256032"/>
          </a:xfrm>
          <a:prstGeom prst="rect">
            <a:avLst/>
          </a:prstGeom>
          <a:noFill/>
          <a:ln/>
        </p:spPr>
        <p:txBody>
          <a:bodyPr wrap="square" lIns="0" tIns="0" rIns="0" bIns="0" rtlCol="0" anchor="ctr"/>
          <a:lstStyle/>
          <a:p>
            <a:pPr indent="0" marL="0">
              <a:buNone/>
            </a:pPr>
            <a:r>
              <a:rPr lang="en-US" sz="1350" dirty="0">
                <a:solidFill>
                  <a:srgbClr val="0E1116"/>
                </a:solidFill>
                <a:latin typeface="Inter" pitchFamily="34" charset="0"/>
                <a:ea typeface="Inter" pitchFamily="34" charset="-122"/>
                <a:cs typeface="Inter" pitchFamily="34" charset="-120"/>
              </a:rPr>
              <a:t>Has a question it cannot answer itself.</a:t>
            </a:r>
            <a:endParaRPr lang="en-US" sz="1350" dirty="0"/>
          </a:p>
        </p:txBody>
      </p:sp>
      <p:sp>
        <p:nvSpPr>
          <p:cNvPr id="13" name="Text 10"/>
          <p:cNvSpPr/>
          <p:nvPr/>
        </p:nvSpPr>
        <p:spPr>
          <a:xfrm>
            <a:off x="1152144" y="3584448"/>
            <a:ext cx="3886200" cy="658368"/>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which market answers it</a:t>
            </a:r>
            <a:endParaRPr lang="en-US" sz="1250" dirty="0"/>
          </a:p>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whether the price is worth paying</a:t>
            </a:r>
            <a:endParaRPr lang="en-US" sz="1250" dirty="0"/>
          </a:p>
        </p:txBody>
      </p:sp>
      <p:sp>
        <p:nvSpPr>
          <p:cNvPr id="14" name="Text 11"/>
          <p:cNvSpPr/>
          <p:nvPr/>
        </p:nvSpPr>
        <p:spPr>
          <a:xfrm>
            <a:off x="1133856" y="4187952"/>
            <a:ext cx="3904488" cy="274320"/>
          </a:xfrm>
          <a:prstGeom prst="rect">
            <a:avLst/>
          </a:prstGeom>
          <a:noFill/>
          <a:ln/>
        </p:spPr>
        <p:txBody>
          <a:bodyPr wrap="square" lIns="0" tIns="0" rIns="0" bIns="0" rtlCol="0" anchor="ctr"/>
          <a:lstStyle/>
          <a:p>
            <a:pPr indent="0" marL="0">
              <a:buNone/>
            </a:pPr>
            <a:r>
              <a:rPr lang="en-US" sz="950" dirty="0">
                <a:solidFill>
                  <a:srgbClr val="5B6170"/>
                </a:solidFill>
                <a:latin typeface="JetBrains Mono" pitchFamily="34" charset="0"/>
                <a:ea typeface="JetBrains Mono" pitchFamily="34" charset="-122"/>
                <a:cs typeface="JetBrains Mono" pitchFamily="34" charset="-120"/>
              </a:rPr>
              <a:t>0x…8ef2c197…</a:t>
            </a:r>
            <a:pPr indent="0" marL="0">
              <a:buNone/>
            </a:pPr>
            <a:r>
              <a:rPr lang="en-US" sz="950" dirty="0">
                <a:solidFill>
                  <a:srgbClr val="9AA0AE"/>
                </a:solidFill>
                <a:latin typeface="JetBrains Mono" pitchFamily="34" charset="0"/>
                <a:ea typeface="JetBrains Mono" pitchFamily="34" charset="-122"/>
                <a:cs typeface="JetBrains Mono" pitchFamily="34" charset="-120"/>
              </a:rPr>
              <a:t>   holds the funds</a:t>
            </a:r>
            <a:endParaRPr lang="en-US" sz="950" dirty="0"/>
          </a:p>
        </p:txBody>
      </p:sp>
      <p:sp>
        <p:nvSpPr>
          <p:cNvPr id="15" name="Shape 12"/>
          <p:cNvSpPr/>
          <p:nvPr/>
        </p:nvSpPr>
        <p:spPr>
          <a:xfrm>
            <a:off x="6839712" y="2377440"/>
            <a:ext cx="4526280" cy="2286000"/>
          </a:xfrm>
          <a:prstGeom prst="roundRect">
            <a:avLst>
              <a:gd name="adj" fmla="val 2400"/>
            </a:avLst>
          </a:prstGeom>
          <a:solidFill>
            <a:srgbClr val="F4F4F8"/>
          </a:solidFill>
          <a:ln w="12700">
            <a:solidFill>
              <a:srgbClr val="E4E5EC"/>
            </a:solidFill>
            <a:prstDash val="solid"/>
          </a:ln>
        </p:spPr>
      </p:sp>
      <p:sp>
        <p:nvSpPr>
          <p:cNvPr id="16" name="Text 13"/>
          <p:cNvSpPr/>
          <p:nvPr/>
        </p:nvSpPr>
        <p:spPr>
          <a:xfrm>
            <a:off x="7150608" y="2596896"/>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SELLER</a:t>
            </a:r>
            <a:endParaRPr lang="en-US" sz="950" dirty="0"/>
          </a:p>
        </p:txBody>
      </p:sp>
      <p:sp>
        <p:nvSpPr>
          <p:cNvPr id="17" name="Text 14"/>
          <p:cNvSpPr/>
          <p:nvPr/>
        </p:nvSpPr>
        <p:spPr>
          <a:xfrm>
            <a:off x="7150608" y="2834640"/>
            <a:ext cx="3657600" cy="402336"/>
          </a:xfrm>
          <a:prstGeom prst="rect">
            <a:avLst/>
          </a:prstGeom>
          <a:noFill/>
          <a:ln/>
        </p:spPr>
        <p:txBody>
          <a:bodyPr wrap="square" lIns="0" tIns="0" rIns="0" bIns="0" rtlCol="0" anchor="ctr"/>
          <a:lstStyle/>
          <a:p>
            <a:pPr indent="0" marL="0">
              <a:buNone/>
            </a:pPr>
            <a:r>
              <a:rPr lang="en-US" sz="2400" b="1" dirty="0">
                <a:solidFill>
                  <a:srgbClr val="0E1116"/>
                </a:solidFill>
                <a:latin typeface="Inter" pitchFamily="34" charset="0"/>
                <a:ea typeface="Inter" pitchFamily="34" charset="-122"/>
                <a:cs typeface="Inter" pitchFamily="34" charset="-120"/>
              </a:rPr>
              <a:t>Signal Desk</a:t>
            </a:r>
            <a:endParaRPr lang="en-US" sz="2400" dirty="0"/>
          </a:p>
        </p:txBody>
      </p:sp>
      <p:sp>
        <p:nvSpPr>
          <p:cNvPr id="18" name="Text 15"/>
          <p:cNvSpPr/>
          <p:nvPr/>
        </p:nvSpPr>
        <p:spPr>
          <a:xfrm>
            <a:off x="7150608" y="3291840"/>
            <a:ext cx="3904488" cy="256032"/>
          </a:xfrm>
          <a:prstGeom prst="rect">
            <a:avLst/>
          </a:prstGeom>
          <a:noFill/>
          <a:ln/>
        </p:spPr>
        <p:txBody>
          <a:bodyPr wrap="square" lIns="0" tIns="0" rIns="0" bIns="0" rtlCol="0" anchor="ctr"/>
          <a:lstStyle/>
          <a:p>
            <a:pPr indent="0" marL="0">
              <a:buNone/>
            </a:pPr>
            <a:r>
              <a:rPr lang="en-US" sz="1350" dirty="0">
                <a:solidFill>
                  <a:srgbClr val="0E1116"/>
                </a:solidFill>
                <a:latin typeface="Inter" pitchFamily="34" charset="0"/>
                <a:ea typeface="Inter" pitchFamily="34" charset="-122"/>
                <a:cs typeface="Inter" pitchFamily="34" charset="-120"/>
              </a:rPr>
              <a:t>Sells probability estimates on bitcoin.</a:t>
            </a:r>
            <a:endParaRPr lang="en-US" sz="1350" dirty="0"/>
          </a:p>
        </p:txBody>
      </p:sp>
      <p:sp>
        <p:nvSpPr>
          <p:cNvPr id="19" name="Text 16"/>
          <p:cNvSpPr/>
          <p:nvPr/>
        </p:nvSpPr>
        <p:spPr>
          <a:xfrm>
            <a:off x="7168896" y="3584448"/>
            <a:ext cx="3886200" cy="658368"/>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what to charge, per request</a:t>
            </a:r>
            <a:endParaRPr lang="en-US" sz="1250" dirty="0"/>
          </a:p>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Sets its own price, per request</a:t>
            </a:r>
            <a:endParaRPr lang="en-US" sz="1250" dirty="0"/>
          </a:p>
        </p:txBody>
      </p:sp>
      <p:sp>
        <p:nvSpPr>
          <p:cNvPr id="20" name="Text 17"/>
          <p:cNvSpPr/>
          <p:nvPr/>
        </p:nvSpPr>
        <p:spPr>
          <a:xfrm>
            <a:off x="7150608" y="4187952"/>
            <a:ext cx="3904488" cy="274320"/>
          </a:xfrm>
          <a:prstGeom prst="rect">
            <a:avLst/>
          </a:prstGeom>
          <a:noFill/>
          <a:ln/>
        </p:spPr>
        <p:txBody>
          <a:bodyPr wrap="square" lIns="0" tIns="0" rIns="0" bIns="0" rtlCol="0" anchor="ctr"/>
          <a:lstStyle/>
          <a:p>
            <a:pPr indent="0" marL="0">
              <a:buNone/>
            </a:pPr>
            <a:r>
              <a:rPr lang="en-US" sz="950" dirty="0">
                <a:solidFill>
                  <a:srgbClr val="5B6170"/>
                </a:solidFill>
                <a:latin typeface="JetBrains Mono" pitchFamily="34" charset="0"/>
                <a:ea typeface="JetBrains Mono" pitchFamily="34" charset="-122"/>
                <a:cs typeface="JetBrains Mono" pitchFamily="34" charset="-120"/>
              </a:rPr>
              <a:t>0x…1d2f8c28…</a:t>
            </a:r>
            <a:pPr indent="0" marL="0">
              <a:buNone/>
            </a:pPr>
            <a:r>
              <a:rPr lang="en-US" sz="950" dirty="0">
                <a:solidFill>
                  <a:srgbClr val="9AA0AE"/>
                </a:solidFill>
                <a:latin typeface="JetBrains Mono" pitchFamily="34" charset="0"/>
                <a:ea typeface="JetBrains Mono" pitchFamily="34" charset="-122"/>
                <a:cs typeface="JetBrains Mono" pitchFamily="34" charset="-120"/>
              </a:rPr>
              <a:t>   receive-only</a:t>
            </a:r>
            <a:endParaRPr lang="en-US" sz="950" dirty="0"/>
          </a:p>
        </p:txBody>
      </p:sp>
      <p:sp>
        <p:nvSpPr>
          <p:cNvPr id="21" name="Shape 18"/>
          <p:cNvSpPr/>
          <p:nvPr/>
        </p:nvSpPr>
        <p:spPr>
          <a:xfrm>
            <a:off x="5513832" y="3218688"/>
            <a:ext cx="457200" cy="0"/>
          </a:xfrm>
          <a:prstGeom prst="line">
            <a:avLst/>
          </a:prstGeom>
          <a:noFill/>
          <a:ln w="19050">
            <a:solidFill>
              <a:srgbClr val="C9CBF0"/>
            </a:solidFill>
            <a:prstDash val="dash"/>
          </a:ln>
        </p:spPr>
      </p:sp>
      <p:sp>
        <p:nvSpPr>
          <p:cNvPr id="22" name="Shape 19"/>
          <p:cNvSpPr/>
          <p:nvPr/>
        </p:nvSpPr>
        <p:spPr>
          <a:xfrm>
            <a:off x="6217920" y="3218688"/>
            <a:ext cx="457200" cy="0"/>
          </a:xfrm>
          <a:prstGeom prst="line">
            <a:avLst/>
          </a:prstGeom>
          <a:noFill/>
          <a:ln w="19050">
            <a:solidFill>
              <a:srgbClr val="C9CBF0"/>
            </a:solidFill>
            <a:prstDash val="dash"/>
          </a:ln>
        </p:spPr>
      </p:sp>
      <p:sp>
        <p:nvSpPr>
          <p:cNvPr id="23" name="Shape 20"/>
          <p:cNvSpPr/>
          <p:nvPr/>
        </p:nvSpPr>
        <p:spPr>
          <a:xfrm>
            <a:off x="5884164" y="3008376"/>
            <a:ext cx="420624" cy="420624"/>
          </a:xfrm>
          <a:prstGeom prst="ellipse">
            <a:avLst/>
          </a:prstGeom>
          <a:solidFill>
            <a:srgbClr val="FFFFFF"/>
          </a:solidFill>
          <a:ln w="15875">
            <a:solidFill>
              <a:srgbClr val="D6336C"/>
            </a:solidFill>
            <a:prstDash val="solid"/>
          </a:ln>
        </p:spPr>
      </p:sp>
      <p:sp>
        <p:nvSpPr>
          <p:cNvPr id="24" name="Text 21"/>
          <p:cNvSpPr/>
          <p:nvPr/>
        </p:nvSpPr>
        <p:spPr>
          <a:xfrm>
            <a:off x="5884164" y="3008376"/>
            <a:ext cx="420624" cy="420624"/>
          </a:xfrm>
          <a:prstGeom prst="rect">
            <a:avLst/>
          </a:prstGeom>
          <a:noFill/>
          <a:ln/>
        </p:spPr>
        <p:txBody>
          <a:bodyPr wrap="square" lIns="0" tIns="0" rIns="0" bIns="0" rtlCol="0" anchor="ctr"/>
          <a:lstStyle/>
          <a:p>
            <a:pPr algn="ctr" indent="0" marL="0">
              <a:buNone/>
            </a:pPr>
            <a:r>
              <a:rPr lang="en-US" sz="1300" b="1" dirty="0">
                <a:solidFill>
                  <a:srgbClr val="D6336C"/>
                </a:solidFill>
                <a:latin typeface="Inter" pitchFamily="34" charset="0"/>
                <a:ea typeface="Inter" pitchFamily="34" charset="-122"/>
                <a:cs typeface="Inter" pitchFamily="34" charset="-120"/>
              </a:rPr>
              <a:t>✕</a:t>
            </a:r>
            <a:endParaRPr lang="en-US" sz="1300" dirty="0"/>
          </a:p>
        </p:txBody>
      </p:sp>
      <p:sp>
        <p:nvSpPr>
          <p:cNvPr id="25" name="Text 22"/>
          <p:cNvSpPr/>
          <p:nvPr/>
        </p:nvSpPr>
        <p:spPr>
          <a:xfrm>
            <a:off x="5317236" y="3584448"/>
            <a:ext cx="1554480" cy="685800"/>
          </a:xfrm>
          <a:prstGeom prst="rect">
            <a:avLst/>
          </a:prstGeom>
          <a:noFill/>
          <a:ln/>
        </p:spPr>
        <p:txBody>
          <a:bodyPr wrap="square" lIns="0" tIns="0" rIns="0" bIns="0" rtlCol="0" anchor="ctr"/>
          <a:lstStyle/>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account</a:t>
            </a:r>
            <a:endParaRPr lang="en-US" sz="950" dirty="0"/>
          </a:p>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API key</a:t>
            </a:r>
            <a:endParaRPr lang="en-US" sz="950" dirty="0"/>
          </a:p>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prior contact</a:t>
            </a:r>
            <a:endParaRPr lang="en-US" sz="950" dirty="0"/>
          </a:p>
        </p:txBody>
      </p:sp>
      <p:sp>
        <p:nvSpPr>
          <p:cNvPr id="26" name="Shape 23"/>
          <p:cNvSpPr/>
          <p:nvPr/>
        </p:nvSpPr>
        <p:spPr>
          <a:xfrm>
            <a:off x="3086100" y="4754880"/>
            <a:ext cx="0" cy="365760"/>
          </a:xfrm>
          <a:prstGeom prst="line">
            <a:avLst/>
          </a:prstGeom>
          <a:noFill/>
          <a:ln w="19050">
            <a:solidFill>
              <a:srgbClr val="C9CBF0"/>
            </a:solidFill>
            <a:prstDash val="solid"/>
            <a:tailEnd type="triangle"/>
          </a:ln>
        </p:spPr>
      </p:sp>
      <p:sp>
        <p:nvSpPr>
          <p:cNvPr id="27" name="Shape 24"/>
          <p:cNvSpPr/>
          <p:nvPr/>
        </p:nvSpPr>
        <p:spPr>
          <a:xfrm>
            <a:off x="9102852" y="4754880"/>
            <a:ext cx="0" cy="365760"/>
          </a:xfrm>
          <a:prstGeom prst="line">
            <a:avLst/>
          </a:prstGeom>
          <a:noFill/>
          <a:ln w="19050">
            <a:solidFill>
              <a:srgbClr val="C9CBF0"/>
            </a:solidFill>
            <a:prstDash val="solid"/>
            <a:tailEnd type="triangle"/>
          </a:ln>
        </p:spPr>
      </p:sp>
      <p:sp>
        <p:nvSpPr>
          <p:cNvPr id="28" name="Shape 25"/>
          <p:cNvSpPr/>
          <p:nvPr/>
        </p:nvSpPr>
        <p:spPr>
          <a:xfrm>
            <a:off x="822960" y="5166360"/>
            <a:ext cx="10543032" cy="896112"/>
          </a:xfrm>
          <a:prstGeom prst="roundRect">
            <a:avLst>
              <a:gd name="adj" fmla="val 6122"/>
            </a:avLst>
          </a:prstGeom>
          <a:solidFill>
            <a:srgbClr val="0E1116"/>
          </a:solidFill>
          <a:ln/>
        </p:spPr>
      </p:sp>
      <p:sp>
        <p:nvSpPr>
          <p:cNvPr id="29" name="Text 26"/>
          <p:cNvSpPr/>
          <p:nvPr/>
        </p:nvSpPr>
        <p:spPr>
          <a:xfrm>
            <a:off x="1133856" y="5303520"/>
            <a:ext cx="4572000" cy="219456"/>
          </a:xfrm>
          <a:prstGeom prst="rect">
            <a:avLst/>
          </a:prstGeom>
          <a:noFill/>
          <a:ln/>
        </p:spPr>
        <p:txBody>
          <a:bodyPr wrap="square" lIns="0" tIns="0" rIns="0" bIns="0" rtlCol="0" anchor="ctr"/>
          <a:lstStyle/>
          <a:p>
            <a:pPr indent="0" marL="0">
              <a:buNone/>
            </a:pPr>
            <a:r>
              <a:rPr lang="en-US" sz="950" b="1" spc="140" kern="0" dirty="0">
                <a:solidFill>
                  <a:srgbClr val="8B8AF0"/>
                </a:solidFill>
                <a:latin typeface="JetBrains Mono" pitchFamily="34" charset="0"/>
                <a:ea typeface="JetBrains Mono" pitchFamily="34" charset="-122"/>
                <a:cs typeface="JetBrains Mono" pitchFamily="34" charset="-120"/>
              </a:rPr>
              <a:t>MOI VOYAGE DEVNET</a:t>
            </a:r>
            <a:endParaRPr lang="en-US" sz="950" dirty="0"/>
          </a:p>
        </p:txBody>
      </p:sp>
      <p:sp>
        <p:nvSpPr>
          <p:cNvPr id="30" name="Text 27"/>
          <p:cNvSpPr/>
          <p:nvPr/>
        </p:nvSpPr>
        <p:spPr>
          <a:xfrm>
            <a:off x="1133856" y="5559552"/>
            <a:ext cx="9921240" cy="274320"/>
          </a:xfrm>
          <a:prstGeom prst="rect">
            <a:avLst/>
          </a:prstGeom>
          <a:noFill/>
          <a:ln/>
        </p:spPr>
        <p:txBody>
          <a:bodyPr wrap="square" lIns="0" tIns="0" rIns="0" bIns="0" rtlCol="0" anchor="ctr"/>
          <a:lstStyle/>
          <a:p>
            <a:pPr indent="0" marL="0">
              <a:buNone/>
            </a:pPr>
            <a:r>
              <a:rPr lang="en-US" sz="1250" b="1" dirty="0">
                <a:solidFill>
                  <a:srgbClr val="FFFFFF"/>
                </a:solidFill>
                <a:latin typeface="Inter" pitchFamily="34" charset="0"/>
                <a:ea typeface="Inter" pitchFamily="34" charset="-122"/>
                <a:cs typeface="Inter" pitchFamily="34" charset="-120"/>
              </a:rPr>
              <a:t>Agent registry</a:t>
            </a:r>
            <a:pPr indent="0" marL="0">
              <a:buNone/>
            </a:pPr>
            <a:r>
              <a:rPr lang="en-US" sz="1250" dirty="0">
                <a:solidFill>
                  <a:srgbClr val="B9BECD"/>
                </a:solidFill>
                <a:latin typeface="Inter" pitchFamily="34" charset="0"/>
                <a:ea typeface="Inter" pitchFamily="34" charset="-122"/>
                <a:cs typeface="Inter" pitchFamily="34" charset="-120"/>
              </a:rPr>
              <a:t> — both identities, and the wallet each one registered.   ·   </a:t>
            </a:r>
            <a:pPr indent="0" marL="0">
              <a:buNone/>
            </a:pPr>
            <a:r>
              <a:rPr lang="en-US" sz="1250" b="1" dirty="0">
                <a:solidFill>
                  <a:srgbClr val="FFFFFF"/>
                </a:solidFill>
                <a:latin typeface="Inter" pitchFamily="34" charset="0"/>
                <a:ea typeface="Inter" pitchFamily="34" charset="-122"/>
                <a:cs typeface="Inter" pitchFamily="34" charset="-120"/>
              </a:rPr>
              <a:t>Native MAS0 asset</a:t>
            </a:r>
            <a:pPr indent="0" marL="0">
              <a:buNone/>
            </a:pPr>
            <a:r>
              <a:rPr lang="en-US" sz="1250" dirty="0">
                <a:solidFill>
                  <a:srgbClr val="B9BECD"/>
                </a:solidFill>
                <a:latin typeface="Inter" pitchFamily="34" charset="0"/>
                <a:ea typeface="Inter" pitchFamily="34" charset="-122"/>
                <a:cs typeface="Inter" pitchFamily="34" charset="-120"/>
              </a:rPr>
              <a:t> — what actually moves.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2D2BB6"/>
                </a:solidFill>
                <a:latin typeface="JetBrains Mono" pitchFamily="34" charset="0"/>
                <a:ea typeface="JetBrains Mono" pitchFamily="34" charset="-122"/>
                <a:cs typeface="JetBrains Mono" pitchFamily="34" charset="-120"/>
              </a:rPr>
              <a:t>MOI · BUILD 03</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5B6170"/>
                </a:solidFill>
                <a:latin typeface="JetBrains Mono" pitchFamily="34" charset="0"/>
                <a:ea typeface="JetBrains Mono" pitchFamily="34" charset="-122"/>
                <a:cs typeface="JetBrains Mono" pitchFamily="34" charset="-120"/>
              </a:rPr>
              <a:t>THE PROBLEM</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9AA0AE"/>
                </a:solidFill>
                <a:latin typeface="JetBrains Mono" pitchFamily="34" charset="0"/>
                <a:ea typeface="JetBrains Mono" pitchFamily="34" charset="-122"/>
                <a:cs typeface="JetBrains Mono" pitchFamily="34" charset="-120"/>
              </a:rPr>
              <a:t>03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0E1116"/>
                </a:solidFill>
                <a:latin typeface="Inter" pitchFamily="34" charset="0"/>
                <a:ea typeface="Inter" pitchFamily="34" charset="-122"/>
                <a:cs typeface="Inter" pitchFamily="34" charset="-120"/>
              </a:rPr>
              <a:t>Paying a stranger</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5B6170"/>
                </a:solidFill>
                <a:latin typeface="Inter" pitchFamily="34" charset="0"/>
                <a:ea typeface="Inter" pitchFamily="34" charset="-122"/>
                <a:cs typeface="Inter" pitchFamily="34" charset="-120"/>
              </a:rPr>
              <a:t>A human does three things without noticing. Take the human out and none of them happen by default.</a:t>
            </a:r>
            <a:endParaRPr lang="en-US" sz="1450" dirty="0"/>
          </a:p>
        </p:txBody>
      </p:sp>
      <p:sp>
        <p:nvSpPr>
          <p:cNvPr id="9" name="Shape 6"/>
          <p:cNvSpPr/>
          <p:nvPr/>
        </p:nvSpPr>
        <p:spPr>
          <a:xfrm>
            <a:off x="822960" y="2395728"/>
            <a:ext cx="10543032" cy="1042416"/>
          </a:xfrm>
          <a:prstGeom prst="roundRect">
            <a:avLst>
              <a:gd name="adj" fmla="val 5263"/>
            </a:avLst>
          </a:prstGeom>
          <a:solidFill>
            <a:srgbClr val="2D2BB6"/>
          </a:solidFill>
          <a:ln w="12700">
            <a:solidFill>
              <a:srgbClr val="2D2BB6"/>
            </a:solidFill>
            <a:prstDash val="solid"/>
          </a:ln>
        </p:spPr>
      </p:sp>
      <p:sp>
        <p:nvSpPr>
          <p:cNvPr id="10" name="Text 7"/>
          <p:cNvSpPr/>
          <p:nvPr/>
        </p:nvSpPr>
        <p:spPr>
          <a:xfrm>
            <a:off x="1188720" y="2395728"/>
            <a:ext cx="3749040" cy="1042416"/>
          </a:xfrm>
          <a:prstGeom prst="rect">
            <a:avLst/>
          </a:prstGeom>
          <a:noFill/>
          <a:ln/>
        </p:spPr>
        <p:txBody>
          <a:bodyPr wrap="square" lIns="0" tIns="0" rIns="0" bIns="0" rtlCol="0" anchor="ctr"/>
          <a:lstStyle/>
          <a:p>
            <a:pPr indent="0" marL="0">
              <a:buNone/>
            </a:pPr>
            <a:r>
              <a:rPr lang="en-US" sz="1500" i="1" dirty="0">
                <a:solidFill>
                  <a:srgbClr val="C9CBF0"/>
                </a:solidFill>
                <a:latin typeface="Inter" pitchFamily="34" charset="0"/>
                <a:ea typeface="Inter" pitchFamily="34" charset="-122"/>
                <a:cs typeface="Inter" pitchFamily="34" charset="-120"/>
              </a:rPr>
              <a:t>“Does this shop look real?”</a:t>
            </a:r>
            <a:endParaRPr lang="en-US" sz="1500" dirty="0"/>
          </a:p>
        </p:txBody>
      </p:sp>
      <p:sp>
        <p:nvSpPr>
          <p:cNvPr id="11" name="Text 8"/>
          <p:cNvSpPr/>
          <p:nvPr/>
        </p:nvSpPr>
        <p:spPr>
          <a:xfrm>
            <a:off x="4983480" y="2395728"/>
            <a:ext cx="548640" cy="1042416"/>
          </a:xfrm>
          <a:prstGeom prst="rect">
            <a:avLst/>
          </a:prstGeom>
          <a:noFill/>
          <a:ln/>
        </p:spPr>
        <p:txBody>
          <a:bodyPr wrap="square" lIns="0" tIns="0" rIns="0" bIns="0" rtlCol="0" anchor="ctr"/>
          <a:lstStyle/>
          <a:p>
            <a:pPr algn="ctr" indent="0" marL="0">
              <a:buNone/>
            </a:pPr>
            <a:r>
              <a:rPr lang="en-US" sz="1500" dirty="0">
                <a:solidFill>
                  <a:srgbClr val="8B8AF0"/>
                </a:solidFill>
                <a:latin typeface="JetBrains Mono" pitchFamily="34" charset="0"/>
                <a:ea typeface="JetBrains Mono" pitchFamily="34" charset="-122"/>
                <a:cs typeface="JetBrains Mono" pitchFamily="34" charset="-120"/>
              </a:rPr>
              <a:t>→</a:t>
            </a:r>
            <a:endParaRPr lang="en-US" sz="1500" dirty="0"/>
          </a:p>
        </p:txBody>
      </p:sp>
      <p:sp>
        <p:nvSpPr>
          <p:cNvPr id="12" name="Text 9"/>
          <p:cNvSpPr/>
          <p:nvPr/>
        </p:nvSpPr>
        <p:spPr>
          <a:xfrm>
            <a:off x="5669280" y="2395728"/>
            <a:ext cx="4480560" cy="1042416"/>
          </a:xfrm>
          <a:prstGeom prst="rect">
            <a:avLst/>
          </a:prstGeom>
          <a:noFill/>
          <a:ln/>
        </p:spPr>
        <p:txBody>
          <a:bodyPr wrap="square" lIns="0" tIns="0" rIns="0" bIns="0" rtlCol="0" anchor="ctr"/>
          <a:lstStyle/>
          <a:p>
            <a:pPr indent="0" marL="0">
              <a:buNone/>
            </a:pPr>
            <a:r>
              <a:rPr lang="en-US" sz="1650" b="1" dirty="0">
                <a:solidFill>
                  <a:srgbClr val="FFFFFF"/>
                </a:solidFill>
                <a:latin typeface="Inter" pitchFamily="34" charset="0"/>
                <a:ea typeface="Inter" pitchFamily="34" charset="-122"/>
                <a:cs typeface="Inter" pitchFamily="34" charset="-120"/>
              </a:rPr>
              <a:t>Is payTo really that agent's wallet?</a:t>
            </a:r>
            <a:endParaRPr lang="en-US" sz="1650" dirty="0"/>
          </a:p>
        </p:txBody>
      </p:sp>
      <p:sp>
        <p:nvSpPr>
          <p:cNvPr id="13" name="Text 10"/>
          <p:cNvSpPr/>
          <p:nvPr/>
        </p:nvSpPr>
        <p:spPr>
          <a:xfrm>
            <a:off x="9262872" y="2395728"/>
            <a:ext cx="1737360" cy="1042416"/>
          </a:xfrm>
          <a:prstGeom prst="rect">
            <a:avLst/>
          </a:prstGeom>
          <a:noFill/>
          <a:ln/>
        </p:spPr>
        <p:txBody>
          <a:bodyPr wrap="square" lIns="0" tIns="0" rIns="0" bIns="0" rtlCol="0" anchor="ctr"/>
          <a:lstStyle/>
          <a:p>
            <a:pPr algn="r" indent="0" marL="0">
              <a:buNone/>
            </a:pPr>
            <a:r>
              <a:rPr lang="en-US" sz="1050" b="1" spc="140" kern="0" dirty="0">
                <a:solidFill>
                  <a:srgbClr val="3CCB8E"/>
                </a:solidFill>
                <a:latin typeface="JetBrains Mono" pitchFamily="34" charset="0"/>
                <a:ea typeface="JetBrains Mono" pitchFamily="34" charset="-122"/>
                <a:cs typeface="JetBrains Mono" pitchFamily="34" charset="-120"/>
              </a:rPr>
              <a:t>TODAY</a:t>
            </a:r>
            <a:endParaRPr lang="en-US" sz="1050" dirty="0"/>
          </a:p>
        </p:txBody>
      </p:sp>
      <p:sp>
        <p:nvSpPr>
          <p:cNvPr id="14" name="Shape 11"/>
          <p:cNvSpPr/>
          <p:nvPr/>
        </p:nvSpPr>
        <p:spPr>
          <a:xfrm>
            <a:off x="822960" y="3675888"/>
            <a:ext cx="10543032" cy="1042416"/>
          </a:xfrm>
          <a:prstGeom prst="roundRect">
            <a:avLst>
              <a:gd name="adj" fmla="val 5263"/>
            </a:avLst>
          </a:prstGeom>
          <a:solidFill>
            <a:srgbClr val="F4F4F8"/>
          </a:solidFill>
          <a:ln w="12700">
            <a:solidFill>
              <a:srgbClr val="E4E5EC"/>
            </a:solidFill>
            <a:prstDash val="solid"/>
          </a:ln>
        </p:spPr>
      </p:sp>
      <p:sp>
        <p:nvSpPr>
          <p:cNvPr id="15" name="Text 12"/>
          <p:cNvSpPr/>
          <p:nvPr/>
        </p:nvSpPr>
        <p:spPr>
          <a:xfrm>
            <a:off x="1188720" y="3675888"/>
            <a:ext cx="3749040" cy="1042416"/>
          </a:xfrm>
          <a:prstGeom prst="rect">
            <a:avLst/>
          </a:prstGeom>
          <a:noFill/>
          <a:ln/>
        </p:spPr>
        <p:txBody>
          <a:bodyPr wrap="square" lIns="0" tIns="0" rIns="0" bIns="0" rtlCol="0" anchor="ctr"/>
          <a:lstStyle/>
          <a:p>
            <a:pPr indent="0" marL="0">
              <a:buNone/>
            </a:pPr>
            <a:r>
              <a:rPr lang="en-US" sz="1500" i="1" dirty="0">
                <a:solidFill>
                  <a:srgbClr val="5B6170"/>
                </a:solidFill>
                <a:latin typeface="Inter" pitchFamily="34" charset="0"/>
                <a:ea typeface="Inter" pitchFamily="34" charset="-122"/>
                <a:cs typeface="Inter" pitchFamily="34" charset="-120"/>
              </a:rPr>
              <a:t>“I'm not spending more than X.”</a:t>
            </a:r>
            <a:endParaRPr lang="en-US" sz="1500" dirty="0"/>
          </a:p>
        </p:txBody>
      </p:sp>
      <p:sp>
        <p:nvSpPr>
          <p:cNvPr id="16" name="Text 13"/>
          <p:cNvSpPr/>
          <p:nvPr/>
        </p:nvSpPr>
        <p:spPr>
          <a:xfrm>
            <a:off x="4983480" y="3675888"/>
            <a:ext cx="548640" cy="1042416"/>
          </a:xfrm>
          <a:prstGeom prst="rect">
            <a:avLst/>
          </a:prstGeom>
          <a:noFill/>
          <a:ln/>
        </p:spPr>
        <p:txBody>
          <a:bodyPr wrap="square" lIns="0" tIns="0" rIns="0" bIns="0" rtlCol="0" anchor="ctr"/>
          <a:lstStyle/>
          <a:p>
            <a:pPr algn="ctr" indent="0" marL="0">
              <a:buNone/>
            </a:pPr>
            <a:r>
              <a:rPr lang="en-US" sz="1500" dirty="0">
                <a:solidFill>
                  <a:srgbClr val="9AA0AE"/>
                </a:solidFill>
                <a:latin typeface="JetBrains Mono" pitchFamily="34" charset="0"/>
                <a:ea typeface="JetBrains Mono" pitchFamily="34" charset="-122"/>
                <a:cs typeface="JetBrains Mono" pitchFamily="34" charset="-120"/>
              </a:rPr>
              <a:t>→</a:t>
            </a:r>
            <a:endParaRPr lang="en-US" sz="1500" dirty="0"/>
          </a:p>
        </p:txBody>
      </p:sp>
      <p:sp>
        <p:nvSpPr>
          <p:cNvPr id="17" name="Text 14"/>
          <p:cNvSpPr/>
          <p:nvPr/>
        </p:nvSpPr>
        <p:spPr>
          <a:xfrm>
            <a:off x="5669280" y="3675888"/>
            <a:ext cx="4480560" cy="1042416"/>
          </a:xfrm>
          <a:prstGeom prst="rect">
            <a:avLst/>
          </a:prstGeom>
          <a:noFill/>
          <a:ln/>
        </p:spPr>
        <p:txBody>
          <a:bodyPr wrap="square" lIns="0" tIns="0" rIns="0" bIns="0" rtlCol="0" anchor="ctr"/>
          <a:lstStyle/>
          <a:p>
            <a:pPr indent="0" marL="0">
              <a:buNone/>
            </a:pPr>
            <a:r>
              <a:rPr lang="en-US" sz="1650" b="1" dirty="0">
                <a:solidFill>
                  <a:srgbClr val="0E1116"/>
                </a:solidFill>
                <a:latin typeface="Inter" pitchFamily="34" charset="0"/>
                <a:ea typeface="Inter" pitchFamily="34" charset="-122"/>
                <a:cs typeface="Inter" pitchFamily="34" charset="-120"/>
              </a:rPr>
              <a:t>A cap the chain enforces.</a:t>
            </a:r>
            <a:endParaRPr lang="en-US" sz="1650" dirty="0"/>
          </a:p>
        </p:txBody>
      </p:sp>
      <p:sp>
        <p:nvSpPr>
          <p:cNvPr id="18" name="Text 15"/>
          <p:cNvSpPr/>
          <p:nvPr/>
        </p:nvSpPr>
        <p:spPr>
          <a:xfrm>
            <a:off x="9262872" y="3675888"/>
            <a:ext cx="1737360" cy="1042416"/>
          </a:xfrm>
          <a:prstGeom prst="rect">
            <a:avLst/>
          </a:prstGeom>
          <a:noFill/>
          <a:ln/>
        </p:spPr>
        <p:txBody>
          <a:bodyPr wrap="square" lIns="0" tIns="0" rIns="0" bIns="0" rtlCol="0" anchor="ctr"/>
          <a:lstStyle/>
          <a:p>
            <a:pPr algn="r" indent="0" marL="0">
              <a:buNone/>
            </a:pPr>
            <a:r>
              <a:rPr lang="en-US" sz="1050" b="1" spc="140" kern="0" dirty="0">
                <a:solidFill>
                  <a:srgbClr val="9AA0AE"/>
                </a:solidFill>
                <a:latin typeface="JetBrains Mono" pitchFamily="34" charset="0"/>
                <a:ea typeface="JetBrains Mono" pitchFamily="34" charset="-122"/>
                <a:cs typeface="JetBrains Mono" pitchFamily="34" charset="-120"/>
              </a:rPr>
              <a:t>SESSION 8</a:t>
            </a:r>
            <a:endParaRPr lang="en-US" sz="1050" dirty="0"/>
          </a:p>
        </p:txBody>
      </p:sp>
      <p:sp>
        <p:nvSpPr>
          <p:cNvPr id="19" name="Shape 16"/>
          <p:cNvSpPr/>
          <p:nvPr/>
        </p:nvSpPr>
        <p:spPr>
          <a:xfrm>
            <a:off x="822960" y="4956048"/>
            <a:ext cx="10543032" cy="1042416"/>
          </a:xfrm>
          <a:prstGeom prst="roundRect">
            <a:avLst>
              <a:gd name="adj" fmla="val 5263"/>
            </a:avLst>
          </a:prstGeom>
          <a:solidFill>
            <a:srgbClr val="F4F4F8"/>
          </a:solidFill>
          <a:ln w="12700">
            <a:solidFill>
              <a:srgbClr val="E4E5EC"/>
            </a:solidFill>
            <a:prstDash val="solid"/>
          </a:ln>
        </p:spPr>
      </p:sp>
      <p:sp>
        <p:nvSpPr>
          <p:cNvPr id="20" name="Text 17"/>
          <p:cNvSpPr/>
          <p:nvPr/>
        </p:nvSpPr>
        <p:spPr>
          <a:xfrm>
            <a:off x="1188720" y="4956048"/>
            <a:ext cx="3749040" cy="1042416"/>
          </a:xfrm>
          <a:prstGeom prst="rect">
            <a:avLst/>
          </a:prstGeom>
          <a:noFill/>
          <a:ln/>
        </p:spPr>
        <p:txBody>
          <a:bodyPr wrap="square" lIns="0" tIns="0" rIns="0" bIns="0" rtlCol="0" anchor="ctr"/>
          <a:lstStyle/>
          <a:p>
            <a:pPr indent="0" marL="0">
              <a:buNone/>
            </a:pPr>
            <a:r>
              <a:rPr lang="en-US" sz="1500" i="1" dirty="0">
                <a:solidFill>
                  <a:srgbClr val="5B6170"/>
                </a:solidFill>
                <a:latin typeface="Inter" pitchFamily="34" charset="0"/>
                <a:ea typeface="Inter" pitchFamily="34" charset="-122"/>
                <a:cs typeface="Inter" pitchFamily="34" charset="-120"/>
              </a:rPr>
              <a:t>“I can get my money back.”</a:t>
            </a:r>
            <a:endParaRPr lang="en-US" sz="1500" dirty="0"/>
          </a:p>
        </p:txBody>
      </p:sp>
      <p:sp>
        <p:nvSpPr>
          <p:cNvPr id="21" name="Text 18"/>
          <p:cNvSpPr/>
          <p:nvPr/>
        </p:nvSpPr>
        <p:spPr>
          <a:xfrm>
            <a:off x="4983480" y="4956048"/>
            <a:ext cx="548640" cy="1042416"/>
          </a:xfrm>
          <a:prstGeom prst="rect">
            <a:avLst/>
          </a:prstGeom>
          <a:noFill/>
          <a:ln/>
        </p:spPr>
        <p:txBody>
          <a:bodyPr wrap="square" lIns="0" tIns="0" rIns="0" bIns="0" rtlCol="0" anchor="ctr"/>
          <a:lstStyle/>
          <a:p>
            <a:pPr algn="ctr" indent="0" marL="0">
              <a:buNone/>
            </a:pPr>
            <a:r>
              <a:rPr lang="en-US" sz="1500" dirty="0">
                <a:solidFill>
                  <a:srgbClr val="9AA0AE"/>
                </a:solidFill>
                <a:latin typeface="JetBrains Mono" pitchFamily="34" charset="0"/>
                <a:ea typeface="JetBrains Mono" pitchFamily="34" charset="-122"/>
                <a:cs typeface="JetBrains Mono" pitchFamily="34" charset="-120"/>
              </a:rPr>
              <a:t>→</a:t>
            </a:r>
            <a:endParaRPr lang="en-US" sz="1500" dirty="0"/>
          </a:p>
        </p:txBody>
      </p:sp>
      <p:sp>
        <p:nvSpPr>
          <p:cNvPr id="22" name="Text 19"/>
          <p:cNvSpPr/>
          <p:nvPr/>
        </p:nvSpPr>
        <p:spPr>
          <a:xfrm>
            <a:off x="5669280" y="4956048"/>
            <a:ext cx="4480560" cy="1042416"/>
          </a:xfrm>
          <a:prstGeom prst="rect">
            <a:avLst/>
          </a:prstGeom>
          <a:noFill/>
          <a:ln/>
        </p:spPr>
        <p:txBody>
          <a:bodyPr wrap="square" lIns="0" tIns="0" rIns="0" bIns="0" rtlCol="0" anchor="ctr"/>
          <a:lstStyle/>
          <a:p>
            <a:pPr indent="0" marL="0">
              <a:buNone/>
            </a:pPr>
            <a:r>
              <a:rPr lang="en-US" sz="1650" b="1" dirty="0">
                <a:solidFill>
                  <a:srgbClr val="0E1116"/>
                </a:solidFill>
                <a:latin typeface="Inter" pitchFamily="34" charset="0"/>
                <a:ea typeface="Inter" pitchFamily="34" charset="-122"/>
                <a:cs typeface="Inter" pitchFamily="34" charset="-120"/>
              </a:rPr>
              <a:t>Pay only on delivery.</a:t>
            </a:r>
            <a:endParaRPr lang="en-US" sz="1650" dirty="0"/>
          </a:p>
        </p:txBody>
      </p:sp>
      <p:sp>
        <p:nvSpPr>
          <p:cNvPr id="23" name="Text 20"/>
          <p:cNvSpPr/>
          <p:nvPr/>
        </p:nvSpPr>
        <p:spPr>
          <a:xfrm>
            <a:off x="9262872" y="4956048"/>
            <a:ext cx="1737360" cy="1042416"/>
          </a:xfrm>
          <a:prstGeom prst="rect">
            <a:avLst/>
          </a:prstGeom>
          <a:noFill/>
          <a:ln/>
        </p:spPr>
        <p:txBody>
          <a:bodyPr wrap="square" lIns="0" tIns="0" rIns="0" bIns="0" rtlCol="0" anchor="ctr"/>
          <a:lstStyle/>
          <a:p>
            <a:pPr algn="r" indent="0" marL="0">
              <a:buNone/>
            </a:pPr>
            <a:r>
              <a:rPr lang="en-US" sz="1050" b="1" spc="140" kern="0" dirty="0">
                <a:solidFill>
                  <a:srgbClr val="9AA0AE"/>
                </a:solidFill>
                <a:latin typeface="JetBrains Mono" pitchFamily="34" charset="0"/>
                <a:ea typeface="JetBrains Mono" pitchFamily="34" charset="-122"/>
                <a:cs typeface="JetBrains Mono" pitchFamily="34" charset="-120"/>
              </a:rPr>
              <a:t>SESSION 9</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04</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04 / 8</a:t>
            </a:r>
            <a:endParaRPr lang="en-US" sz="900" dirty="0"/>
          </a:p>
        </p:txBody>
      </p:sp>
      <p:sp>
        <p:nvSpPr>
          <p:cNvPr id="7" name="Shape 4"/>
          <p:cNvSpPr/>
          <p:nvPr/>
        </p:nvSpPr>
        <p:spPr>
          <a:xfrm>
            <a:off x="10314432" y="438912"/>
            <a:ext cx="1051560" cy="384048"/>
          </a:xfrm>
          <a:prstGeom prst="roundRect">
            <a:avLst>
              <a:gd name="adj" fmla="val 47619"/>
            </a:avLst>
          </a:prstGeom>
          <a:solidFill>
            <a:srgbClr val="2A1520"/>
          </a:solidFill>
          <a:ln w="12700">
            <a:solidFill>
              <a:srgbClr val="D6336C"/>
            </a:solidFill>
            <a:prstDash val="solid"/>
          </a:ln>
        </p:spPr>
      </p:sp>
      <p:sp>
        <p:nvSpPr>
          <p:cNvPr id="8" name="Shape 5"/>
          <p:cNvSpPr/>
          <p:nvPr/>
        </p:nvSpPr>
        <p:spPr>
          <a:xfrm>
            <a:off x="10497312" y="580644"/>
            <a:ext cx="100584" cy="100584"/>
          </a:xfrm>
          <a:prstGeom prst="ellipse">
            <a:avLst/>
          </a:prstGeom>
          <a:solidFill>
            <a:srgbClr val="D6336C"/>
          </a:solidFill>
          <a:ln/>
        </p:spPr>
      </p:sp>
      <p:sp>
        <p:nvSpPr>
          <p:cNvPr id="9" name="Text 6"/>
          <p:cNvSpPr/>
          <p:nvPr/>
        </p:nvSpPr>
        <p:spPr>
          <a:xfrm>
            <a:off x="10652760" y="438912"/>
            <a:ext cx="566928" cy="384048"/>
          </a:xfrm>
          <a:prstGeom prst="rect">
            <a:avLst/>
          </a:prstGeom>
          <a:noFill/>
          <a:ln/>
        </p:spPr>
        <p:txBody>
          <a:bodyPr wrap="square" lIns="0" tIns="0" rIns="0" bIns="0" rtlCol="0" anchor="ctr"/>
          <a:lstStyle/>
          <a:p>
            <a:pPr indent="0" marL="0">
              <a:buNone/>
            </a:pPr>
            <a:r>
              <a:rPr lang="en-US" sz="950" b="1" spc="120" kern="0" dirty="0">
                <a:solidFill>
                  <a:srgbClr val="D6336C"/>
                </a:solidFill>
                <a:latin typeface="JetBrains Mono" pitchFamily="34" charset="0"/>
                <a:ea typeface="JetBrains Mono" pitchFamily="34" charset="-122"/>
                <a:cs typeface="JetBrains Mono" pitchFamily="34" charset="-120"/>
              </a:rPr>
              <a:t>LIVE</a:t>
            </a:r>
            <a:endParaRPr lang="en-US" sz="950" dirty="0"/>
          </a:p>
        </p:txBody>
      </p:sp>
      <p:sp>
        <p:nvSpPr>
          <p:cNvPr id="10" name="Text 7"/>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Watch it happen</a:t>
            </a:r>
            <a:endParaRPr lang="en-US" sz="3800" dirty="0"/>
          </a:p>
        </p:txBody>
      </p:sp>
      <p:sp>
        <p:nvSpPr>
          <p:cNvPr id="11" name="Text 8"/>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Two agents, one purchase, settled on Voyage devnet — end to end.</a:t>
            </a:r>
            <a:endParaRPr lang="en-US" sz="1450" dirty="0"/>
          </a:p>
        </p:txBody>
      </p:sp>
      <p:sp>
        <p:nvSpPr>
          <p:cNvPr id="12" name="Shape 9"/>
          <p:cNvSpPr/>
          <p:nvPr/>
        </p:nvSpPr>
        <p:spPr>
          <a:xfrm>
            <a:off x="822960" y="2432304"/>
            <a:ext cx="2409444" cy="1975104"/>
          </a:xfrm>
          <a:prstGeom prst="roundRect">
            <a:avLst>
              <a:gd name="adj" fmla="val 2778"/>
            </a:avLst>
          </a:prstGeom>
          <a:solidFill>
            <a:srgbClr val="1C212B"/>
          </a:solidFill>
          <a:ln w="12700">
            <a:solidFill>
              <a:srgbClr val="363C49"/>
            </a:solidFill>
            <a:prstDash val="solid"/>
          </a:ln>
        </p:spPr>
      </p:sp>
      <p:sp>
        <p:nvSpPr>
          <p:cNvPr id="13" name="Text 10"/>
          <p:cNvSpPr/>
          <p:nvPr/>
        </p:nvSpPr>
        <p:spPr>
          <a:xfrm>
            <a:off x="1097280"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01</a:t>
            </a:r>
            <a:endParaRPr lang="en-US" sz="2600" dirty="0"/>
          </a:p>
        </p:txBody>
      </p:sp>
      <p:sp>
        <p:nvSpPr>
          <p:cNvPr id="14" name="Text 11"/>
          <p:cNvSpPr/>
          <p:nvPr/>
        </p:nvSpPr>
        <p:spPr>
          <a:xfrm>
            <a:off x="1097280"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admits it can't answer, and scans the registry</a:t>
            </a:r>
            <a:endParaRPr lang="en-US" sz="1400" dirty="0"/>
          </a:p>
        </p:txBody>
      </p:sp>
      <p:sp>
        <p:nvSpPr>
          <p:cNvPr id="15" name="Text 12"/>
          <p:cNvSpPr/>
          <p:nvPr/>
        </p:nvSpPr>
        <p:spPr>
          <a:xfrm>
            <a:off x="3250692"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16" name="Shape 13"/>
          <p:cNvSpPr/>
          <p:nvPr/>
        </p:nvSpPr>
        <p:spPr>
          <a:xfrm>
            <a:off x="3534156" y="2432304"/>
            <a:ext cx="2409444" cy="1975104"/>
          </a:xfrm>
          <a:prstGeom prst="roundRect">
            <a:avLst>
              <a:gd name="adj" fmla="val 2778"/>
            </a:avLst>
          </a:prstGeom>
          <a:solidFill>
            <a:srgbClr val="1C212B"/>
          </a:solidFill>
          <a:ln w="12700">
            <a:solidFill>
              <a:srgbClr val="363C49"/>
            </a:solidFill>
            <a:prstDash val="solid"/>
          </a:ln>
        </p:spPr>
      </p:sp>
      <p:sp>
        <p:nvSpPr>
          <p:cNvPr id="17" name="Text 14"/>
          <p:cNvSpPr/>
          <p:nvPr/>
        </p:nvSpPr>
        <p:spPr>
          <a:xfrm>
            <a:off x="3808476"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02</a:t>
            </a:r>
            <a:endParaRPr lang="en-US" sz="2600" dirty="0"/>
          </a:p>
        </p:txBody>
      </p:sp>
      <p:sp>
        <p:nvSpPr>
          <p:cNvPr id="18" name="Text 15"/>
          <p:cNvSpPr/>
          <p:nvPr/>
        </p:nvSpPr>
        <p:spPr>
          <a:xfrm>
            <a:off x="3808476"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reads the seller's skills, wallet and URL off the chain</a:t>
            </a:r>
            <a:endParaRPr lang="en-US" sz="1400" dirty="0"/>
          </a:p>
        </p:txBody>
      </p:sp>
      <p:sp>
        <p:nvSpPr>
          <p:cNvPr id="19" name="Text 16"/>
          <p:cNvSpPr/>
          <p:nvPr/>
        </p:nvSpPr>
        <p:spPr>
          <a:xfrm>
            <a:off x="5961888"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20" name="Shape 17"/>
          <p:cNvSpPr/>
          <p:nvPr/>
        </p:nvSpPr>
        <p:spPr>
          <a:xfrm>
            <a:off x="6245352" y="2432304"/>
            <a:ext cx="2409444" cy="1975104"/>
          </a:xfrm>
          <a:prstGeom prst="roundRect">
            <a:avLst>
              <a:gd name="adj" fmla="val 2778"/>
            </a:avLst>
          </a:prstGeom>
          <a:solidFill>
            <a:srgbClr val="1C212B"/>
          </a:solidFill>
          <a:ln w="12700">
            <a:solidFill>
              <a:srgbClr val="363C49"/>
            </a:solidFill>
            <a:prstDash val="solid"/>
          </a:ln>
        </p:spPr>
      </p:sp>
      <p:sp>
        <p:nvSpPr>
          <p:cNvPr id="21" name="Text 18"/>
          <p:cNvSpPr/>
          <p:nvPr/>
        </p:nvSpPr>
        <p:spPr>
          <a:xfrm>
            <a:off x="6519672"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03</a:t>
            </a:r>
            <a:endParaRPr lang="en-US" sz="2600" dirty="0"/>
          </a:p>
        </p:txBody>
      </p:sp>
      <p:sp>
        <p:nvSpPr>
          <p:cNvPr id="22" name="Text 19"/>
          <p:cNvSpPr/>
          <p:nvPr/>
        </p:nvSpPr>
        <p:spPr>
          <a:xfrm>
            <a:off x="6519672"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is quoted a price — and checks who it is about to pay</a:t>
            </a:r>
            <a:endParaRPr lang="en-US" sz="1400" dirty="0"/>
          </a:p>
        </p:txBody>
      </p:sp>
      <p:sp>
        <p:nvSpPr>
          <p:cNvPr id="23" name="Text 20"/>
          <p:cNvSpPr/>
          <p:nvPr/>
        </p:nvSpPr>
        <p:spPr>
          <a:xfrm>
            <a:off x="8673084"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24" name="Shape 21"/>
          <p:cNvSpPr/>
          <p:nvPr/>
        </p:nvSpPr>
        <p:spPr>
          <a:xfrm>
            <a:off x="8956548" y="2432304"/>
            <a:ext cx="2409444" cy="1975104"/>
          </a:xfrm>
          <a:prstGeom prst="roundRect">
            <a:avLst>
              <a:gd name="adj" fmla="val 2778"/>
            </a:avLst>
          </a:prstGeom>
          <a:solidFill>
            <a:srgbClr val="1C212B"/>
          </a:solidFill>
          <a:ln w="12700">
            <a:solidFill>
              <a:srgbClr val="363C49"/>
            </a:solidFill>
            <a:prstDash val="solid"/>
          </a:ln>
        </p:spPr>
      </p:sp>
      <p:sp>
        <p:nvSpPr>
          <p:cNvPr id="25" name="Text 22"/>
          <p:cNvSpPr/>
          <p:nvPr/>
        </p:nvSpPr>
        <p:spPr>
          <a:xfrm>
            <a:off x="9230868"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04</a:t>
            </a:r>
            <a:endParaRPr lang="en-US" sz="2600" dirty="0"/>
          </a:p>
        </p:txBody>
      </p:sp>
      <p:sp>
        <p:nvSpPr>
          <p:cNvPr id="26" name="Text 23"/>
          <p:cNvSpPr/>
          <p:nvPr/>
        </p:nvSpPr>
        <p:spPr>
          <a:xfrm>
            <a:off x="9230868"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pays, and the seller verifies that itself</a:t>
            </a:r>
            <a:endParaRPr lang="en-US" sz="1400" dirty="0"/>
          </a:p>
        </p:txBody>
      </p:sp>
      <p:sp>
        <p:nvSpPr>
          <p:cNvPr id="27" name="Shape 24"/>
          <p:cNvSpPr/>
          <p:nvPr/>
        </p:nvSpPr>
        <p:spPr>
          <a:xfrm>
            <a:off x="822960" y="4828032"/>
            <a:ext cx="10543032" cy="868680"/>
          </a:xfrm>
          <a:prstGeom prst="roundRect">
            <a:avLst>
              <a:gd name="adj" fmla="val 6316"/>
            </a:avLst>
          </a:prstGeom>
          <a:solidFill>
            <a:srgbClr val="1A1119"/>
          </a:solidFill>
          <a:ln w="12700">
            <a:solidFill>
              <a:srgbClr val="D6336C"/>
            </a:solidFill>
            <a:prstDash val="solid"/>
          </a:ln>
        </p:spPr>
      </p:sp>
      <p:sp>
        <p:nvSpPr>
          <p:cNvPr id="28" name="Shape 25"/>
          <p:cNvSpPr/>
          <p:nvPr/>
        </p:nvSpPr>
        <p:spPr>
          <a:xfrm>
            <a:off x="1152144" y="5084064"/>
            <a:ext cx="365760" cy="365760"/>
          </a:xfrm>
          <a:prstGeom prst="ellipse">
            <a:avLst/>
          </a:prstGeom>
          <a:solidFill>
            <a:srgbClr val="2A1520"/>
          </a:solidFill>
          <a:ln w="12700">
            <a:solidFill>
              <a:srgbClr val="D6336C"/>
            </a:solidFill>
            <a:prstDash val="solid"/>
          </a:ln>
        </p:spPr>
      </p:sp>
      <p:sp>
        <p:nvSpPr>
          <p:cNvPr id="29" name="Text 26"/>
          <p:cNvSpPr/>
          <p:nvPr/>
        </p:nvSpPr>
        <p:spPr>
          <a:xfrm>
            <a:off x="1152144" y="5084064"/>
            <a:ext cx="365760" cy="365760"/>
          </a:xfrm>
          <a:prstGeom prst="rect">
            <a:avLst/>
          </a:prstGeom>
          <a:noFill/>
          <a:ln/>
        </p:spPr>
        <p:txBody>
          <a:bodyPr wrap="square" lIns="0" tIns="0" rIns="0" bIns="0" rtlCol="0" anchor="ctr"/>
          <a:lstStyle/>
          <a:p>
            <a:pPr algn="ctr" indent="0" marL="0">
              <a:buNone/>
            </a:pPr>
            <a:r>
              <a:rPr lang="en-US" sz="1200" b="1" dirty="0">
                <a:solidFill>
                  <a:srgbClr val="D6336C"/>
                </a:solidFill>
                <a:latin typeface="Inter" pitchFamily="34" charset="0"/>
                <a:ea typeface="Inter" pitchFamily="34" charset="-122"/>
                <a:cs typeface="Inter" pitchFamily="34" charset="-120"/>
              </a:rPr>
              <a:t>✕</a:t>
            </a:r>
            <a:endParaRPr lang="en-US" sz="1200" dirty="0"/>
          </a:p>
        </p:txBody>
      </p:sp>
      <p:sp>
        <p:nvSpPr>
          <p:cNvPr id="30" name="Text 27"/>
          <p:cNvSpPr/>
          <p:nvPr/>
        </p:nvSpPr>
        <p:spPr>
          <a:xfrm>
            <a:off x="1691640" y="4828032"/>
            <a:ext cx="6400800" cy="868680"/>
          </a:xfrm>
          <a:prstGeom prst="rect">
            <a:avLst/>
          </a:prstGeom>
          <a:noFill/>
          <a:ln/>
        </p:spPr>
        <p:txBody>
          <a:bodyPr wrap="square" lIns="0" tIns="0" rIns="0" bIns="0" rtlCol="0" anchor="ctr"/>
          <a:lstStyle/>
          <a:p>
            <a:pPr indent="0" marL="0">
              <a:buNone/>
            </a:pPr>
            <a:r>
              <a:rPr lang="en-US" sz="1700" b="1" dirty="0">
                <a:solidFill>
                  <a:srgbClr val="D6336C"/>
                </a:solidFill>
                <a:latin typeface="Inter" pitchFamily="34" charset="0"/>
                <a:ea typeface="Inter" pitchFamily="34" charset="-122"/>
                <a:cs typeface="Inter" pitchFamily="34" charset="-120"/>
              </a:rPr>
              <a:t>then I break it, and the agent refuses</a:t>
            </a:r>
            <a:endParaRPr lang="en-US" sz="1700" dirty="0"/>
          </a:p>
        </p:txBody>
      </p:sp>
      <p:sp>
        <p:nvSpPr>
          <p:cNvPr id="31" name="Text 28"/>
          <p:cNvSpPr/>
          <p:nvPr/>
        </p:nvSpPr>
        <p:spPr>
          <a:xfrm>
            <a:off x="7434072" y="4828032"/>
            <a:ext cx="3566160" cy="868680"/>
          </a:xfrm>
          <a:prstGeom prst="rect">
            <a:avLst/>
          </a:prstGeom>
          <a:noFill/>
          <a:ln/>
        </p:spPr>
        <p:txBody>
          <a:bodyPr wrap="square" lIns="0" tIns="0" rIns="0" bIns="0" rtlCol="0" anchor="ctr"/>
          <a:lstStyle/>
          <a:p>
            <a:pPr algn="r" indent="0" marL="0">
              <a:buNone/>
            </a:pPr>
            <a:r>
              <a:rPr lang="en-US" sz="1100" dirty="0">
                <a:solidFill>
                  <a:srgbClr val="9AA0AE"/>
                </a:solidFill>
                <a:latin typeface="JetBrains Mono" pitchFamily="34" charset="0"/>
                <a:ea typeface="JetBrains Mono" pitchFamily="34" charset="-122"/>
                <a:cs typeface="JetBrains Mono" pitchFamily="34" charset="-120"/>
              </a:rPr>
              <a:t>no transaction is ever built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05</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THE CODE</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05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Four files</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Everything that makes the payment safe lives in these — and nowhere else.</a:t>
            </a:r>
            <a:endParaRPr lang="en-US" sz="1450" dirty="0"/>
          </a:p>
        </p:txBody>
      </p:sp>
      <p:sp>
        <p:nvSpPr>
          <p:cNvPr id="9" name="Shape 6"/>
          <p:cNvSpPr/>
          <p:nvPr/>
        </p:nvSpPr>
        <p:spPr>
          <a:xfrm>
            <a:off x="822960" y="2395728"/>
            <a:ext cx="5042916" cy="1572768"/>
          </a:xfrm>
          <a:prstGeom prst="roundRect">
            <a:avLst>
              <a:gd name="adj" fmla="val 3488"/>
            </a:avLst>
          </a:prstGeom>
          <a:solidFill>
            <a:srgbClr val="1C212B"/>
          </a:solidFill>
          <a:ln w="12700">
            <a:solidFill>
              <a:srgbClr val="363C49"/>
            </a:solidFill>
            <a:prstDash val="solid"/>
          </a:ln>
        </p:spPr>
      </p:sp>
      <p:sp>
        <p:nvSpPr>
          <p:cNvPr id="10" name="Text 7"/>
          <p:cNvSpPr/>
          <p:nvPr/>
        </p:nvSpPr>
        <p:spPr>
          <a:xfrm>
            <a:off x="4951476" y="2633472"/>
            <a:ext cx="640080" cy="237744"/>
          </a:xfrm>
          <a:prstGeom prst="rect">
            <a:avLst/>
          </a:prstGeom>
          <a:noFill/>
          <a:ln/>
        </p:spPr>
        <p:txBody>
          <a:bodyPr wrap="square" lIns="0" tIns="0" rIns="0" bIns="0" rtlCol="0" anchor="ctr"/>
          <a:lstStyle/>
          <a:p>
            <a:pPr algn="r" indent="0" marL="0">
              <a:buNone/>
            </a:pPr>
            <a:r>
              <a:rPr lang="en-US" sz="1000" dirty="0">
                <a:solidFill>
                  <a:srgbClr val="3A404D"/>
                </a:solidFill>
                <a:latin typeface="JetBrains Mono" pitchFamily="34" charset="0"/>
                <a:ea typeface="JetBrains Mono" pitchFamily="34" charset="-122"/>
                <a:cs typeface="JetBrains Mono" pitchFamily="34" charset="-120"/>
              </a:rPr>
              <a:t>01</a:t>
            </a:r>
            <a:endParaRPr lang="en-US" sz="1000" dirty="0"/>
          </a:p>
        </p:txBody>
      </p:sp>
      <p:sp>
        <p:nvSpPr>
          <p:cNvPr id="11" name="Text 8"/>
          <p:cNvSpPr/>
          <p:nvPr/>
        </p:nvSpPr>
        <p:spPr>
          <a:xfrm>
            <a:off x="1152144" y="2724912"/>
            <a:ext cx="3854196" cy="384048"/>
          </a:xfrm>
          <a:prstGeom prst="rect">
            <a:avLst/>
          </a:prstGeom>
          <a:noFill/>
          <a:ln/>
        </p:spPr>
        <p:txBody>
          <a:bodyPr wrap="square" lIns="0" tIns="0" rIns="0" bIns="0" rtlCol="0" anchor="ctr"/>
          <a:lstStyle/>
          <a:p>
            <a:pPr indent="0" marL="0">
              <a:buNone/>
            </a:pPr>
            <a:r>
              <a:rPr lang="en-US" sz="1800" b="1" dirty="0">
                <a:solidFill>
                  <a:srgbClr val="FFFFFF"/>
                </a:solidFill>
                <a:latin typeface="JetBrains Mono" pitchFamily="34" charset="0"/>
                <a:ea typeface="JetBrains Mono" pitchFamily="34" charset="-122"/>
                <a:cs typeface="JetBrains Mono" pitchFamily="34" charset="-120"/>
              </a:rPr>
              <a:t>payment-proof.ts</a:t>
            </a:r>
            <a:endParaRPr lang="en-US" sz="1800" dirty="0"/>
          </a:p>
        </p:txBody>
      </p:sp>
      <p:sp>
        <p:nvSpPr>
          <p:cNvPr id="12" name="Text 9"/>
          <p:cNvSpPr/>
          <p:nvPr/>
        </p:nvSpPr>
        <p:spPr>
          <a:xfrm>
            <a:off x="1152144" y="3236976"/>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the whole wire format — a quote, and a signed claim</a:t>
            </a:r>
            <a:endParaRPr lang="en-US" sz="1400" dirty="0"/>
          </a:p>
        </p:txBody>
      </p:sp>
      <p:sp>
        <p:nvSpPr>
          <p:cNvPr id="13" name="Shape 10"/>
          <p:cNvSpPr/>
          <p:nvPr/>
        </p:nvSpPr>
        <p:spPr>
          <a:xfrm>
            <a:off x="6323076" y="2395728"/>
            <a:ext cx="5042916" cy="1572768"/>
          </a:xfrm>
          <a:prstGeom prst="roundRect">
            <a:avLst>
              <a:gd name="adj" fmla="val 3488"/>
            </a:avLst>
          </a:prstGeom>
          <a:solidFill>
            <a:srgbClr val="10221B"/>
          </a:solidFill>
          <a:ln w="15875">
            <a:solidFill>
              <a:srgbClr val="3CCB8E"/>
            </a:solidFill>
            <a:prstDash val="solid"/>
          </a:ln>
        </p:spPr>
      </p:sp>
      <p:sp>
        <p:nvSpPr>
          <p:cNvPr id="14" name="Text 11"/>
          <p:cNvSpPr/>
          <p:nvPr/>
        </p:nvSpPr>
        <p:spPr>
          <a:xfrm>
            <a:off x="10451592" y="2633472"/>
            <a:ext cx="640080" cy="237744"/>
          </a:xfrm>
          <a:prstGeom prst="rect">
            <a:avLst/>
          </a:prstGeom>
          <a:noFill/>
          <a:ln/>
        </p:spPr>
        <p:txBody>
          <a:bodyPr wrap="square" lIns="0" tIns="0" rIns="0" bIns="0" rtlCol="0" anchor="ctr"/>
          <a:lstStyle/>
          <a:p>
            <a:pPr algn="r" indent="0" marL="0">
              <a:buNone/>
            </a:pPr>
            <a:r>
              <a:rPr lang="en-US" sz="1000" dirty="0">
                <a:solidFill>
                  <a:srgbClr val="3CCB8E"/>
                </a:solidFill>
                <a:latin typeface="JetBrains Mono" pitchFamily="34" charset="0"/>
                <a:ea typeface="JetBrains Mono" pitchFamily="34" charset="-122"/>
                <a:cs typeface="JetBrains Mono" pitchFamily="34" charset="-120"/>
              </a:rPr>
              <a:t>02</a:t>
            </a:r>
            <a:endParaRPr lang="en-US" sz="1000" dirty="0"/>
          </a:p>
        </p:txBody>
      </p:sp>
      <p:sp>
        <p:nvSpPr>
          <p:cNvPr id="15" name="Text 12"/>
          <p:cNvSpPr/>
          <p:nvPr/>
        </p:nvSpPr>
        <p:spPr>
          <a:xfrm>
            <a:off x="6652260" y="2724912"/>
            <a:ext cx="3854196" cy="384048"/>
          </a:xfrm>
          <a:prstGeom prst="rect">
            <a:avLst/>
          </a:prstGeom>
          <a:noFill/>
          <a:ln/>
        </p:spPr>
        <p:txBody>
          <a:bodyPr wrap="square" lIns="0" tIns="0" rIns="0" bIns="0" rtlCol="0" anchor="ctr"/>
          <a:lstStyle/>
          <a:p>
            <a:pPr indent="0" marL="0">
              <a:buNone/>
            </a:pPr>
            <a:r>
              <a:rPr lang="en-US" sz="1800" b="1" dirty="0">
                <a:solidFill>
                  <a:srgbClr val="3CCB8E"/>
                </a:solidFill>
                <a:latin typeface="JetBrains Mono" pitchFamily="34" charset="0"/>
                <a:ea typeface="JetBrains Mono" pitchFamily="34" charset="-122"/>
                <a:cs typeface="JetBrains Mono" pitchFamily="34" charset="-120"/>
              </a:rPr>
              <a:t>identity-check.ts</a:t>
            </a:r>
            <a:endParaRPr lang="en-US" sz="1800" dirty="0"/>
          </a:p>
        </p:txBody>
      </p:sp>
      <p:sp>
        <p:nvSpPr>
          <p:cNvPr id="16" name="Text 13"/>
          <p:cNvSpPr/>
          <p:nvPr/>
        </p:nvSpPr>
        <p:spPr>
          <a:xfrm>
            <a:off x="6652260" y="3236976"/>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42 lines. this is the session.</a:t>
            </a:r>
            <a:endParaRPr lang="en-US" sz="1400" dirty="0"/>
          </a:p>
        </p:txBody>
      </p:sp>
      <p:sp>
        <p:nvSpPr>
          <p:cNvPr id="17" name="Shape 14"/>
          <p:cNvSpPr/>
          <p:nvPr/>
        </p:nvSpPr>
        <p:spPr>
          <a:xfrm>
            <a:off x="822960" y="4279392"/>
            <a:ext cx="5042916" cy="1572768"/>
          </a:xfrm>
          <a:prstGeom prst="roundRect">
            <a:avLst>
              <a:gd name="adj" fmla="val 3488"/>
            </a:avLst>
          </a:prstGeom>
          <a:solidFill>
            <a:srgbClr val="1C212B"/>
          </a:solidFill>
          <a:ln w="12700">
            <a:solidFill>
              <a:srgbClr val="363C49"/>
            </a:solidFill>
            <a:prstDash val="solid"/>
          </a:ln>
        </p:spPr>
      </p:sp>
      <p:sp>
        <p:nvSpPr>
          <p:cNvPr id="18" name="Text 15"/>
          <p:cNvSpPr/>
          <p:nvPr/>
        </p:nvSpPr>
        <p:spPr>
          <a:xfrm>
            <a:off x="4951476" y="4517136"/>
            <a:ext cx="640080" cy="237744"/>
          </a:xfrm>
          <a:prstGeom prst="rect">
            <a:avLst/>
          </a:prstGeom>
          <a:noFill/>
          <a:ln/>
        </p:spPr>
        <p:txBody>
          <a:bodyPr wrap="square" lIns="0" tIns="0" rIns="0" bIns="0" rtlCol="0" anchor="ctr"/>
          <a:lstStyle/>
          <a:p>
            <a:pPr algn="r" indent="0" marL="0">
              <a:buNone/>
            </a:pPr>
            <a:r>
              <a:rPr lang="en-US" sz="1000" dirty="0">
                <a:solidFill>
                  <a:srgbClr val="3A404D"/>
                </a:solidFill>
                <a:latin typeface="JetBrains Mono" pitchFamily="34" charset="0"/>
                <a:ea typeface="JetBrains Mono" pitchFamily="34" charset="-122"/>
                <a:cs typeface="JetBrains Mono" pitchFamily="34" charset="-120"/>
              </a:rPr>
              <a:t>03</a:t>
            </a:r>
            <a:endParaRPr lang="en-US" sz="1000" dirty="0"/>
          </a:p>
        </p:txBody>
      </p:sp>
      <p:sp>
        <p:nvSpPr>
          <p:cNvPr id="19" name="Text 16"/>
          <p:cNvSpPr/>
          <p:nvPr/>
        </p:nvSpPr>
        <p:spPr>
          <a:xfrm>
            <a:off x="1152144" y="4608576"/>
            <a:ext cx="3854196" cy="384048"/>
          </a:xfrm>
          <a:prstGeom prst="rect">
            <a:avLst/>
          </a:prstGeom>
          <a:noFill/>
          <a:ln/>
        </p:spPr>
        <p:txBody>
          <a:bodyPr wrap="square" lIns="0" tIns="0" rIns="0" bIns="0" rtlCol="0" anchor="ctr"/>
          <a:lstStyle/>
          <a:p>
            <a:pPr indent="0" marL="0">
              <a:buNone/>
            </a:pPr>
            <a:r>
              <a:rPr lang="en-US" sz="1800" b="1" dirty="0">
                <a:solidFill>
                  <a:srgbClr val="FFFFFF"/>
                </a:solidFill>
                <a:latin typeface="JetBrains Mono" pitchFamily="34" charset="0"/>
                <a:ea typeface="JetBrains Mono" pitchFamily="34" charset="-122"/>
                <a:cs typeface="JetBrains Mono" pitchFamily="34" charset="-120"/>
              </a:rPr>
              <a:t>verify-proof.ts</a:t>
            </a:r>
            <a:endParaRPr lang="en-US" sz="1800" dirty="0"/>
          </a:p>
        </p:txBody>
      </p:sp>
      <p:sp>
        <p:nvSpPr>
          <p:cNvPr id="20" name="Text 17"/>
          <p:cNvSpPr/>
          <p:nvPr/>
        </p:nvSpPr>
        <p:spPr>
          <a:xfrm>
            <a:off x="1152144" y="5120640"/>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the seller's seven checks, all read-only</a:t>
            </a:r>
            <a:endParaRPr lang="en-US" sz="1400" dirty="0"/>
          </a:p>
        </p:txBody>
      </p:sp>
      <p:sp>
        <p:nvSpPr>
          <p:cNvPr id="21" name="Shape 18"/>
          <p:cNvSpPr/>
          <p:nvPr/>
        </p:nvSpPr>
        <p:spPr>
          <a:xfrm>
            <a:off x="6323076" y="4279392"/>
            <a:ext cx="5042916" cy="1572768"/>
          </a:xfrm>
          <a:prstGeom prst="roundRect">
            <a:avLst>
              <a:gd name="adj" fmla="val 3488"/>
            </a:avLst>
          </a:prstGeom>
          <a:solidFill>
            <a:srgbClr val="1C212B"/>
          </a:solidFill>
          <a:ln w="12700">
            <a:solidFill>
              <a:srgbClr val="363C49"/>
            </a:solidFill>
            <a:prstDash val="solid"/>
          </a:ln>
        </p:spPr>
      </p:sp>
      <p:sp>
        <p:nvSpPr>
          <p:cNvPr id="22" name="Text 19"/>
          <p:cNvSpPr/>
          <p:nvPr/>
        </p:nvSpPr>
        <p:spPr>
          <a:xfrm>
            <a:off x="10451592" y="4517136"/>
            <a:ext cx="640080" cy="237744"/>
          </a:xfrm>
          <a:prstGeom prst="rect">
            <a:avLst/>
          </a:prstGeom>
          <a:noFill/>
          <a:ln/>
        </p:spPr>
        <p:txBody>
          <a:bodyPr wrap="square" lIns="0" tIns="0" rIns="0" bIns="0" rtlCol="0" anchor="ctr"/>
          <a:lstStyle/>
          <a:p>
            <a:pPr algn="r" indent="0" marL="0">
              <a:buNone/>
            </a:pPr>
            <a:r>
              <a:rPr lang="en-US" sz="1000" dirty="0">
                <a:solidFill>
                  <a:srgbClr val="3A404D"/>
                </a:solidFill>
                <a:latin typeface="JetBrains Mono" pitchFamily="34" charset="0"/>
                <a:ea typeface="JetBrains Mono" pitchFamily="34" charset="-122"/>
                <a:cs typeface="JetBrains Mono" pitchFamily="34" charset="-120"/>
              </a:rPr>
              <a:t>04</a:t>
            </a:r>
            <a:endParaRPr lang="en-US" sz="1000" dirty="0"/>
          </a:p>
        </p:txBody>
      </p:sp>
      <p:sp>
        <p:nvSpPr>
          <p:cNvPr id="23" name="Text 20"/>
          <p:cNvSpPr/>
          <p:nvPr/>
        </p:nvSpPr>
        <p:spPr>
          <a:xfrm>
            <a:off x="6652260" y="4608576"/>
            <a:ext cx="3854196" cy="384048"/>
          </a:xfrm>
          <a:prstGeom prst="rect">
            <a:avLst/>
          </a:prstGeom>
          <a:noFill/>
          <a:ln/>
        </p:spPr>
        <p:txBody>
          <a:bodyPr wrap="square" lIns="0" tIns="0" rIns="0" bIns="0" rtlCol="0" anchor="ctr"/>
          <a:lstStyle/>
          <a:p>
            <a:pPr indent="0" marL="0">
              <a:buNone/>
            </a:pPr>
            <a:r>
              <a:rPr lang="en-US" sz="1800" b="1" dirty="0">
                <a:solidFill>
                  <a:srgbClr val="FFFFFF"/>
                </a:solidFill>
                <a:latin typeface="JetBrains Mono" pitchFamily="34" charset="0"/>
                <a:ea typeface="JetBrains Mono" pitchFamily="34" charset="-122"/>
                <a:cs typeface="JetBrains Mono" pitchFamily="34" charset="-120"/>
              </a:rPr>
              <a:t>pricing.ts + worth.ts</a:t>
            </a:r>
            <a:endParaRPr lang="en-US" sz="1800" dirty="0"/>
          </a:p>
        </p:txBody>
      </p:sp>
      <p:sp>
        <p:nvSpPr>
          <p:cNvPr id="24" name="Text 21"/>
          <p:cNvSpPr/>
          <p:nvPr/>
        </p:nvSpPr>
        <p:spPr>
          <a:xfrm>
            <a:off x="6652260" y="5120640"/>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what each agent decides — and what it is not allowed to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2D2BB6"/>
                </a:solidFill>
                <a:latin typeface="JetBrains Mono" pitchFamily="34" charset="0"/>
                <a:ea typeface="JetBrains Mono" pitchFamily="34" charset="-122"/>
                <a:cs typeface="JetBrains Mono" pitchFamily="34" charset="-120"/>
              </a:rPr>
              <a:t>MOI · BUILD 06</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5B6170"/>
                </a:solidFill>
                <a:latin typeface="JetBrains Mono" pitchFamily="34" charset="0"/>
                <a:ea typeface="JetBrains Mono" pitchFamily="34" charset="-122"/>
                <a:cs typeface="JetBrains Mono" pitchFamily="34" charset="-120"/>
              </a:rPr>
              <a:t>WHAT'S MISSING</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9AA0AE"/>
                </a:solidFill>
                <a:latin typeface="JetBrains Mono" pitchFamily="34" charset="0"/>
                <a:ea typeface="JetBrains Mono" pitchFamily="34" charset="-122"/>
                <a:cs typeface="JetBrains Mono" pitchFamily="34" charset="-120"/>
              </a:rPr>
              <a:t>06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0E1116"/>
                </a:solidFill>
                <a:latin typeface="Inter" pitchFamily="34" charset="0"/>
                <a:ea typeface="Inter" pitchFamily="34" charset="-122"/>
                <a:cs typeface="Inter" pitchFamily="34" charset="-120"/>
              </a:rPr>
              <a:t>Every guardrail here is self-imposed</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5B6170"/>
                </a:solidFill>
                <a:latin typeface="Inter" pitchFamily="34" charset="0"/>
                <a:ea typeface="Inter" pitchFamily="34" charset="-122"/>
                <a:cs typeface="Inter" pitchFamily="34" charset="-120"/>
              </a:rPr>
              <a:t>The buyer refuses anything over 6. That limit is a constant in its own source.</a:t>
            </a:r>
            <a:endParaRPr lang="en-US" sz="1450" dirty="0"/>
          </a:p>
        </p:txBody>
      </p:sp>
      <p:sp>
        <p:nvSpPr>
          <p:cNvPr id="9" name="Shape 6"/>
          <p:cNvSpPr/>
          <p:nvPr/>
        </p:nvSpPr>
        <p:spPr>
          <a:xfrm>
            <a:off x="822960" y="2286000"/>
            <a:ext cx="10543032" cy="786384"/>
          </a:xfrm>
          <a:prstGeom prst="roundRect">
            <a:avLst>
              <a:gd name="adj" fmla="val 6977"/>
            </a:avLst>
          </a:prstGeom>
          <a:solidFill>
            <a:srgbClr val="0E1116"/>
          </a:solidFill>
          <a:ln/>
        </p:spPr>
      </p:sp>
      <p:sp>
        <p:nvSpPr>
          <p:cNvPr id="10" name="Text 7"/>
          <p:cNvSpPr/>
          <p:nvPr/>
        </p:nvSpPr>
        <p:spPr>
          <a:xfrm>
            <a:off x="1152144" y="2286000"/>
            <a:ext cx="9884664" cy="786384"/>
          </a:xfrm>
          <a:prstGeom prst="rect">
            <a:avLst/>
          </a:prstGeom>
          <a:noFill/>
          <a:ln/>
        </p:spPr>
        <p:txBody>
          <a:bodyPr wrap="square" lIns="0" tIns="0" rIns="0" bIns="0" rtlCol="0" anchor="ctr"/>
          <a:lstStyle/>
          <a:p>
            <a:pPr indent="0" marL="0">
              <a:buNone/>
            </a:pPr>
            <a:r>
              <a:rPr lang="en-US" sz="1350" dirty="0">
                <a:solidFill>
                  <a:srgbClr val="9AA0AE"/>
                </a:solidFill>
                <a:latin typeface="JetBrains Mono" pitchFamily="34" charset="0"/>
                <a:ea typeface="JetBrains Mono" pitchFamily="34" charset="-122"/>
                <a:cs typeface="JetBrains Mono" pitchFamily="34" charset="-120"/>
              </a:rPr>
              <a:t>export const </a:t>
            </a:r>
            <a:pPr indent="0" marL="0">
              <a:buNone/>
            </a:pPr>
            <a:r>
              <a:rPr lang="en-US" sz="1350" dirty="0">
                <a:solidFill>
                  <a:srgbClr val="3CCB8E"/>
                </a:solidFill>
                <a:latin typeface="JetBrains Mono" pitchFamily="34" charset="0"/>
                <a:ea typeface="JetBrains Mono" pitchFamily="34" charset="-122"/>
                <a:cs typeface="JetBrains Mono" pitchFamily="34" charset="-120"/>
              </a:rPr>
              <a:t>SOFT_LIMIT</a:t>
            </a:r>
            <a:pPr indent="0" marL="0">
              <a:buNone/>
            </a:pPr>
            <a:r>
              <a:rPr lang="en-US" sz="1350" dirty="0">
                <a:solidFill>
                  <a:srgbClr val="9AA0AE"/>
                </a:solidFill>
                <a:latin typeface="JetBrains Mono" pitchFamily="34" charset="0"/>
                <a:ea typeface="JetBrains Mono" pitchFamily="34" charset="-122"/>
                <a:cs typeface="JetBrains Mono" pitchFamily="34" charset="-120"/>
              </a:rPr>
              <a:t> = </a:t>
            </a:r>
            <a:pPr indent="0" marL="0">
              <a:buNone/>
            </a:pPr>
            <a:r>
              <a:rPr lang="en-US" sz="1350" dirty="0">
                <a:solidFill>
                  <a:srgbClr val="8B8AF0"/>
                </a:solidFill>
                <a:latin typeface="JetBrains Mono" pitchFamily="34" charset="0"/>
                <a:ea typeface="JetBrains Mono" pitchFamily="34" charset="-122"/>
                <a:cs typeface="JetBrains Mono" pitchFamily="34" charset="-120"/>
              </a:rPr>
              <a:t>BigInt</a:t>
            </a:r>
            <a:pPr indent="0" marL="0">
              <a:buNone/>
            </a:pPr>
            <a:r>
              <a:rPr lang="en-US" sz="1350" dirty="0">
                <a:solidFill>
                  <a:srgbClr val="B9BECD"/>
                </a:solidFill>
                <a:latin typeface="JetBrains Mono" pitchFamily="34" charset="0"/>
                <a:ea typeface="JetBrains Mono" pitchFamily="34" charset="-122"/>
                <a:cs typeface="JetBrains Mono" pitchFamily="34" charset="-120"/>
              </a:rPr>
              <a:t>(process.env.MAX_PRICE_PER_ANSWER ?? </a:t>
            </a:r>
            <a:pPr indent="0" marL="0">
              <a:buNone/>
            </a:pPr>
            <a:r>
              <a:rPr lang="en-US" sz="1350" dirty="0">
                <a:solidFill>
                  <a:srgbClr val="3CCB8E"/>
                </a:solidFill>
                <a:latin typeface="JetBrains Mono" pitchFamily="34" charset="0"/>
                <a:ea typeface="JetBrains Mono" pitchFamily="34" charset="-122"/>
                <a:cs typeface="JetBrains Mono" pitchFamily="34" charset="-120"/>
              </a:rPr>
              <a:t>"6"</a:t>
            </a:r>
            <a:pPr indent="0" marL="0">
              <a:buNone/>
            </a:pPr>
            <a:r>
              <a:rPr lang="en-US" sz="1350" dirty="0">
                <a:solidFill>
                  <a:srgbClr val="B9BECD"/>
                </a:solidFill>
                <a:latin typeface="JetBrains Mono" pitchFamily="34" charset="0"/>
                <a:ea typeface="JetBrains Mono" pitchFamily="34" charset="-122"/>
                <a:cs typeface="JetBrains Mono" pitchFamily="34" charset="-120"/>
              </a:rPr>
              <a:t>);</a:t>
            </a:r>
            <a:endParaRPr lang="en-US" sz="1350" dirty="0"/>
          </a:p>
        </p:txBody>
      </p:sp>
      <p:sp>
        <p:nvSpPr>
          <p:cNvPr id="11" name="Shape 8"/>
          <p:cNvSpPr/>
          <p:nvPr/>
        </p:nvSpPr>
        <p:spPr>
          <a:xfrm>
            <a:off x="822960" y="3291840"/>
            <a:ext cx="5042916" cy="1828800"/>
          </a:xfrm>
          <a:prstGeom prst="roundRect">
            <a:avLst>
              <a:gd name="adj" fmla="val 3000"/>
            </a:avLst>
          </a:prstGeom>
          <a:solidFill>
            <a:srgbClr val="F4F4F8"/>
          </a:solidFill>
          <a:ln w="12700">
            <a:solidFill>
              <a:srgbClr val="E4E5EC"/>
            </a:solidFill>
            <a:prstDash val="solid"/>
          </a:ln>
        </p:spPr>
      </p:sp>
      <p:sp>
        <p:nvSpPr>
          <p:cNvPr id="12" name="Text 9"/>
          <p:cNvSpPr/>
          <p:nvPr/>
        </p:nvSpPr>
        <p:spPr>
          <a:xfrm>
            <a:off x="1133856" y="3474720"/>
            <a:ext cx="2743200" cy="219456"/>
          </a:xfrm>
          <a:prstGeom prst="rect">
            <a:avLst/>
          </a:prstGeom>
          <a:noFill/>
          <a:ln/>
        </p:spPr>
        <p:txBody>
          <a:bodyPr wrap="square" lIns="0" tIns="0" rIns="0" bIns="0" rtlCol="0" anchor="ctr"/>
          <a:lstStyle/>
          <a:p>
            <a:pPr indent="0" marL="0">
              <a:buNone/>
            </a:pPr>
            <a:r>
              <a:rPr lang="en-US" sz="950" b="1" spc="140" kern="0" dirty="0">
                <a:solidFill>
                  <a:srgbClr val="5B6170"/>
                </a:solidFill>
                <a:latin typeface="JetBrains Mono" pitchFamily="34" charset="0"/>
                <a:ea typeface="JetBrains Mono" pitchFamily="34" charset="-122"/>
                <a:cs typeface="JetBrains Mono" pitchFamily="34" charset="-120"/>
              </a:rPr>
              <a:t>REMOVABLE</a:t>
            </a:r>
            <a:endParaRPr lang="en-US" sz="950" dirty="0"/>
          </a:p>
        </p:txBody>
      </p:sp>
      <p:sp>
        <p:nvSpPr>
          <p:cNvPr id="13" name="Text 10"/>
          <p:cNvSpPr/>
          <p:nvPr/>
        </p:nvSpPr>
        <p:spPr>
          <a:xfrm>
            <a:off x="1133856" y="3730752"/>
            <a:ext cx="4421124" cy="347472"/>
          </a:xfrm>
          <a:prstGeom prst="rect">
            <a:avLst/>
          </a:prstGeom>
          <a:noFill/>
          <a:ln/>
        </p:spPr>
        <p:txBody>
          <a:bodyPr wrap="square" lIns="0" tIns="0" rIns="0" bIns="0" rtlCol="0" anchor="ctr"/>
          <a:lstStyle/>
          <a:p>
            <a:pPr indent="0" marL="0">
              <a:buNone/>
            </a:pPr>
            <a:r>
              <a:rPr lang="en-US" sz="1800" b="1" dirty="0">
                <a:solidFill>
                  <a:srgbClr val="0E1116"/>
                </a:solidFill>
                <a:latin typeface="Inter" pitchFamily="34" charset="0"/>
                <a:ea typeface="Inter" pitchFamily="34" charset="-122"/>
                <a:cs typeface="Inter" pitchFamily="34" charset="-120"/>
              </a:rPr>
              <a:t>One environment variable</a:t>
            </a:r>
            <a:endParaRPr lang="en-US" sz="1800" dirty="0"/>
          </a:p>
        </p:txBody>
      </p:sp>
      <p:sp>
        <p:nvSpPr>
          <p:cNvPr id="14" name="Text 11"/>
          <p:cNvSpPr/>
          <p:nvPr/>
        </p:nvSpPr>
        <p:spPr>
          <a:xfrm>
            <a:off x="1133856" y="4151376"/>
            <a:ext cx="4421124" cy="914400"/>
          </a:xfrm>
          <a:prstGeom prst="rect">
            <a:avLst/>
          </a:prstGeom>
          <a:noFill/>
          <a:ln/>
        </p:spPr>
        <p:txBody>
          <a:bodyPr wrap="square" lIns="0" tIns="0" rIns="0" bIns="0" rtlCol="0" anchor="ctr"/>
          <a:lstStyle/>
          <a:p>
            <a:pPr indent="0" marL="0">
              <a:lnSpc>
                <a:spcPts val="1900"/>
              </a:lnSpc>
              <a:buNone/>
            </a:pPr>
            <a:r>
              <a:rPr lang="en-US" sz="1300" dirty="0">
                <a:solidFill>
                  <a:srgbClr val="5B6170"/>
                </a:solidFill>
                <a:latin typeface="Inter" pitchFamily="34" charset="0"/>
                <a:ea typeface="Inter" pitchFamily="34" charset="-122"/>
                <a:cs typeface="Inter" pitchFamily="34" charset="-120"/>
              </a:rPr>
              <a:t>Set MAX_PRICE_PER_ANSWER and the ceiling is gone — no code change. The model's second opinion is also just a prompt, in a file the operator controls.</a:t>
            </a:r>
            <a:endParaRPr lang="en-US" sz="1300" dirty="0"/>
          </a:p>
        </p:txBody>
      </p:sp>
      <p:sp>
        <p:nvSpPr>
          <p:cNvPr id="15" name="Shape 12"/>
          <p:cNvSpPr/>
          <p:nvPr/>
        </p:nvSpPr>
        <p:spPr>
          <a:xfrm>
            <a:off x="6323076" y="3291840"/>
            <a:ext cx="5042916" cy="1828800"/>
          </a:xfrm>
          <a:prstGeom prst="roundRect">
            <a:avLst>
              <a:gd name="adj" fmla="val 3000"/>
            </a:avLst>
          </a:prstGeom>
          <a:solidFill>
            <a:srgbClr val="EEF0FB"/>
          </a:solidFill>
          <a:ln w="12700">
            <a:solidFill>
              <a:srgbClr val="C9CBF0"/>
            </a:solidFill>
            <a:prstDash val="solid"/>
          </a:ln>
        </p:spPr>
      </p:sp>
      <p:sp>
        <p:nvSpPr>
          <p:cNvPr id="16" name="Text 13"/>
          <p:cNvSpPr/>
          <p:nvPr/>
        </p:nvSpPr>
        <p:spPr>
          <a:xfrm>
            <a:off x="6633972" y="3474720"/>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WORSE</a:t>
            </a:r>
            <a:endParaRPr lang="en-US" sz="950" dirty="0"/>
          </a:p>
        </p:txBody>
      </p:sp>
      <p:sp>
        <p:nvSpPr>
          <p:cNvPr id="17" name="Text 14"/>
          <p:cNvSpPr/>
          <p:nvPr/>
        </p:nvSpPr>
        <p:spPr>
          <a:xfrm>
            <a:off x="6633972" y="3730752"/>
            <a:ext cx="4421124" cy="347472"/>
          </a:xfrm>
          <a:prstGeom prst="rect">
            <a:avLst/>
          </a:prstGeom>
          <a:noFill/>
          <a:ln/>
        </p:spPr>
        <p:txBody>
          <a:bodyPr wrap="square" lIns="0" tIns="0" rIns="0" bIns="0" rtlCol="0" anchor="ctr"/>
          <a:lstStyle/>
          <a:p>
            <a:pPr indent="0" marL="0">
              <a:buNone/>
            </a:pPr>
            <a:r>
              <a:rPr lang="en-US" sz="1800" b="1" dirty="0">
                <a:solidFill>
                  <a:srgbClr val="0E1116"/>
                </a:solidFill>
                <a:latin typeface="Inter" pitchFamily="34" charset="0"/>
                <a:ea typeface="Inter" pitchFamily="34" charset="-122"/>
                <a:cs typeface="Inter" pitchFamily="34" charset="-120"/>
              </a:rPr>
              <a:t>It caps per purchase, not in total</a:t>
            </a:r>
            <a:endParaRPr lang="en-US" sz="1800" dirty="0"/>
          </a:p>
        </p:txBody>
      </p:sp>
      <p:sp>
        <p:nvSpPr>
          <p:cNvPr id="18" name="Text 15"/>
          <p:cNvSpPr/>
          <p:nvPr/>
        </p:nvSpPr>
        <p:spPr>
          <a:xfrm>
            <a:off x="6633972" y="4151376"/>
            <a:ext cx="4421124" cy="914400"/>
          </a:xfrm>
          <a:prstGeom prst="rect">
            <a:avLst/>
          </a:prstGeom>
          <a:noFill/>
          <a:ln/>
        </p:spPr>
        <p:txBody>
          <a:bodyPr wrap="square" lIns="0" tIns="0" rIns="0" bIns="0" rtlCol="0" anchor="ctr"/>
          <a:lstStyle/>
          <a:p>
            <a:pPr indent="0" marL="0">
              <a:lnSpc>
                <a:spcPts val="1900"/>
              </a:lnSpc>
              <a:buNone/>
            </a:pPr>
            <a:r>
              <a:rPr lang="en-US" sz="1300" dirty="0">
                <a:solidFill>
                  <a:srgbClr val="5B6170"/>
                </a:solidFill>
                <a:latin typeface="Inter" pitchFamily="34" charset="0"/>
                <a:ea typeface="Inter" pitchFamily="34" charset="-122"/>
                <a:cs typeface="Inter" pitchFamily="34" charset="-120"/>
              </a:rPr>
              <a:t>Nothing tracks cumulative spend. An agent with a 6-unit limit can still drain 99,000 — six at a time — without breaking its limit once.</a:t>
            </a:r>
            <a:endParaRPr lang="en-US" sz="1300" dirty="0"/>
          </a:p>
        </p:txBody>
      </p:sp>
      <p:sp>
        <p:nvSpPr>
          <p:cNvPr id="19" name="Text 16"/>
          <p:cNvSpPr/>
          <p:nvPr/>
        </p:nvSpPr>
        <p:spPr>
          <a:xfrm>
            <a:off x="822960" y="5358384"/>
            <a:ext cx="10543032" cy="548640"/>
          </a:xfrm>
          <a:prstGeom prst="rect">
            <a:avLst/>
          </a:prstGeom>
          <a:noFill/>
          <a:ln/>
        </p:spPr>
        <p:txBody>
          <a:bodyPr wrap="square" lIns="0" tIns="0" rIns="0" bIns="0" rtlCol="0" anchor="ctr"/>
          <a:lstStyle/>
          <a:p>
            <a:pPr indent="0" marL="0">
              <a:buNone/>
            </a:pPr>
            <a:r>
              <a:rPr lang="en-US" sz="1700" b="1" dirty="0">
                <a:solidFill>
                  <a:srgbClr val="5B6170"/>
                </a:solidFill>
                <a:latin typeface="Inter" pitchFamily="34" charset="0"/>
                <a:ea typeface="Inter" pitchFamily="34" charset="-122"/>
                <a:cs typeface="Inter" pitchFamily="34" charset="-120"/>
              </a:rPr>
              <a:t>A limit the agent consults is a preference. </a:t>
            </a:r>
            <a:pPr indent="0" marL="0">
              <a:buNone/>
            </a:pPr>
            <a:r>
              <a:rPr lang="en-US" sz="1700" b="1" dirty="0">
                <a:solidFill>
                  <a:srgbClr val="2D2BB6"/>
                </a:solidFill>
                <a:latin typeface="Inter" pitchFamily="34" charset="0"/>
                <a:ea typeface="Inter" pitchFamily="34" charset="-122"/>
                <a:cs typeface="Inter" pitchFamily="34" charset="-120"/>
              </a:rPr>
              <a:t>A limit the chain applies is authority.</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07</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WHERE THIS GOES</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07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Three questions, three sessions</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Today answered one of them.</a:t>
            </a:r>
            <a:endParaRPr lang="en-US" sz="1450" dirty="0"/>
          </a:p>
        </p:txBody>
      </p:sp>
      <p:sp>
        <p:nvSpPr>
          <p:cNvPr id="9" name="Shape 6"/>
          <p:cNvSpPr/>
          <p:nvPr/>
        </p:nvSpPr>
        <p:spPr>
          <a:xfrm>
            <a:off x="822960" y="2395728"/>
            <a:ext cx="10543032" cy="1060704"/>
          </a:xfrm>
          <a:prstGeom prst="roundRect">
            <a:avLst>
              <a:gd name="adj" fmla="val 5172"/>
            </a:avLst>
          </a:prstGeom>
          <a:solidFill>
            <a:srgbClr val="10221B"/>
          </a:solidFill>
          <a:ln w="15875">
            <a:solidFill>
              <a:srgbClr val="3CCB8E"/>
            </a:solidFill>
            <a:prstDash val="solid"/>
          </a:ln>
        </p:spPr>
      </p:sp>
      <p:sp>
        <p:nvSpPr>
          <p:cNvPr id="10" name="Text 7"/>
          <p:cNvSpPr/>
          <p:nvPr/>
        </p:nvSpPr>
        <p:spPr>
          <a:xfrm>
            <a:off x="1133856" y="2395728"/>
            <a:ext cx="1005840" cy="1060704"/>
          </a:xfrm>
          <a:prstGeom prst="rect">
            <a:avLst/>
          </a:prstGeom>
          <a:noFill/>
          <a:ln/>
        </p:spPr>
        <p:txBody>
          <a:bodyPr wrap="square" lIns="0" tIns="0" rIns="0" bIns="0" rtlCol="0" anchor="ctr"/>
          <a:lstStyle/>
          <a:p>
            <a:pPr indent="0" marL="0">
              <a:buNone/>
            </a:pPr>
            <a:r>
              <a:rPr lang="en-US" sz="2600" b="1" dirty="0">
                <a:solidFill>
                  <a:srgbClr val="3CCB8E"/>
                </a:solidFill>
                <a:latin typeface="JetBrains Mono" pitchFamily="34" charset="0"/>
                <a:ea typeface="JetBrains Mono" pitchFamily="34" charset="-122"/>
                <a:cs typeface="JetBrains Mono" pitchFamily="34" charset="-120"/>
              </a:rPr>
              <a:t>07</a:t>
            </a:r>
            <a:endParaRPr lang="en-US" sz="2600" dirty="0"/>
          </a:p>
        </p:txBody>
      </p:sp>
      <p:sp>
        <p:nvSpPr>
          <p:cNvPr id="11" name="Text 8"/>
          <p:cNvSpPr/>
          <p:nvPr/>
        </p:nvSpPr>
        <p:spPr>
          <a:xfrm>
            <a:off x="2240280" y="2596896"/>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Who am I paying?</a:t>
            </a:r>
            <a:endParaRPr lang="en-US" sz="1900" dirty="0"/>
          </a:p>
        </p:txBody>
      </p:sp>
      <p:sp>
        <p:nvSpPr>
          <p:cNvPr id="12" name="Text 9"/>
          <p:cNvSpPr/>
          <p:nvPr/>
        </p:nvSpPr>
        <p:spPr>
          <a:xfrm>
            <a:off x="2240280" y="2971800"/>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The registry, checked before any money moves.</a:t>
            </a:r>
            <a:endParaRPr lang="en-US" sz="1350" dirty="0"/>
          </a:p>
        </p:txBody>
      </p:sp>
      <p:sp>
        <p:nvSpPr>
          <p:cNvPr id="13" name="Text 10"/>
          <p:cNvSpPr/>
          <p:nvPr/>
        </p:nvSpPr>
        <p:spPr>
          <a:xfrm>
            <a:off x="9445752" y="2395728"/>
            <a:ext cx="1554480" cy="1060704"/>
          </a:xfrm>
          <a:prstGeom prst="rect">
            <a:avLst/>
          </a:prstGeom>
          <a:noFill/>
          <a:ln/>
        </p:spPr>
        <p:txBody>
          <a:bodyPr wrap="square" lIns="0" tIns="0" rIns="0" bIns="0" rtlCol="0" anchor="ctr"/>
          <a:lstStyle/>
          <a:p>
            <a:pPr algn="r" indent="0" marL="0">
              <a:buNone/>
            </a:pPr>
            <a:r>
              <a:rPr lang="en-US" sz="1050" b="1" spc="140" kern="0" dirty="0">
                <a:solidFill>
                  <a:srgbClr val="3CCB8E"/>
                </a:solidFill>
                <a:latin typeface="JetBrains Mono" pitchFamily="34" charset="0"/>
                <a:ea typeface="JetBrains Mono" pitchFamily="34" charset="-122"/>
                <a:cs typeface="JetBrains Mono" pitchFamily="34" charset="-120"/>
              </a:rPr>
              <a:t>DONE</a:t>
            </a:r>
            <a:endParaRPr lang="en-US" sz="1050" dirty="0"/>
          </a:p>
        </p:txBody>
      </p:sp>
      <p:sp>
        <p:nvSpPr>
          <p:cNvPr id="14" name="Shape 11"/>
          <p:cNvSpPr/>
          <p:nvPr/>
        </p:nvSpPr>
        <p:spPr>
          <a:xfrm>
            <a:off x="822960" y="3694176"/>
            <a:ext cx="10543032" cy="1060704"/>
          </a:xfrm>
          <a:prstGeom prst="roundRect">
            <a:avLst>
              <a:gd name="adj" fmla="val 5172"/>
            </a:avLst>
          </a:prstGeom>
          <a:solidFill>
            <a:srgbClr val="1C212B"/>
          </a:solidFill>
          <a:ln w="12700">
            <a:solidFill>
              <a:srgbClr val="363C49"/>
            </a:solidFill>
            <a:prstDash val="solid"/>
          </a:ln>
        </p:spPr>
      </p:sp>
      <p:sp>
        <p:nvSpPr>
          <p:cNvPr id="15" name="Text 12"/>
          <p:cNvSpPr/>
          <p:nvPr/>
        </p:nvSpPr>
        <p:spPr>
          <a:xfrm>
            <a:off x="1133856" y="3694176"/>
            <a:ext cx="1005840" cy="1060704"/>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08</a:t>
            </a:r>
            <a:endParaRPr lang="en-US" sz="2600" dirty="0"/>
          </a:p>
        </p:txBody>
      </p:sp>
      <p:sp>
        <p:nvSpPr>
          <p:cNvPr id="16" name="Text 13"/>
          <p:cNvSpPr/>
          <p:nvPr/>
        </p:nvSpPr>
        <p:spPr>
          <a:xfrm>
            <a:off x="2240280" y="3895344"/>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What may I spend?</a:t>
            </a:r>
            <a:endParaRPr lang="en-US" sz="1900" dirty="0"/>
          </a:p>
        </p:txBody>
      </p:sp>
      <p:sp>
        <p:nvSpPr>
          <p:cNvPr id="17" name="Text 14"/>
          <p:cNvSpPr/>
          <p:nvPr/>
        </p:nvSpPr>
        <p:spPr>
          <a:xfrm>
            <a:off x="2240280" y="4270248"/>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A cap the chain enforces — authority the agent inherits, not one it grants itself.</a:t>
            </a:r>
            <a:endParaRPr lang="en-US" sz="1350" dirty="0"/>
          </a:p>
        </p:txBody>
      </p:sp>
      <p:sp>
        <p:nvSpPr>
          <p:cNvPr id="18" name="Text 15"/>
          <p:cNvSpPr/>
          <p:nvPr/>
        </p:nvSpPr>
        <p:spPr>
          <a:xfrm>
            <a:off x="9445752" y="3694176"/>
            <a:ext cx="1554480" cy="1060704"/>
          </a:xfrm>
          <a:prstGeom prst="rect">
            <a:avLst/>
          </a:prstGeom>
          <a:noFill/>
          <a:ln/>
        </p:spPr>
        <p:txBody>
          <a:bodyPr wrap="square" lIns="0" tIns="0" rIns="0" bIns="0" rtlCol="0" anchor="ctr"/>
          <a:lstStyle/>
          <a:p>
            <a:pPr algn="r" indent="0" marL="0">
              <a:buNone/>
            </a:pPr>
            <a:r>
              <a:rPr lang="en-US" sz="1050" b="1" spc="140" kern="0" dirty="0">
                <a:solidFill>
                  <a:srgbClr val="8B8AF0"/>
                </a:solidFill>
                <a:latin typeface="JetBrains Mono" pitchFamily="34" charset="0"/>
                <a:ea typeface="JetBrains Mono" pitchFamily="34" charset="-122"/>
                <a:cs typeface="JetBrains Mono" pitchFamily="34" charset="-120"/>
              </a:rPr>
              <a:t>NEXT</a:t>
            </a:r>
            <a:endParaRPr lang="en-US" sz="1050" dirty="0"/>
          </a:p>
        </p:txBody>
      </p:sp>
      <p:sp>
        <p:nvSpPr>
          <p:cNvPr id="19" name="Shape 16"/>
          <p:cNvSpPr/>
          <p:nvPr/>
        </p:nvSpPr>
        <p:spPr>
          <a:xfrm>
            <a:off x="822960" y="4992624"/>
            <a:ext cx="10543032" cy="1060704"/>
          </a:xfrm>
          <a:prstGeom prst="roundRect">
            <a:avLst>
              <a:gd name="adj" fmla="val 5172"/>
            </a:avLst>
          </a:prstGeom>
          <a:solidFill>
            <a:srgbClr val="1C212B"/>
          </a:solidFill>
          <a:ln w="12700">
            <a:solidFill>
              <a:srgbClr val="363C49"/>
            </a:solidFill>
            <a:prstDash val="solid"/>
          </a:ln>
        </p:spPr>
      </p:sp>
      <p:sp>
        <p:nvSpPr>
          <p:cNvPr id="20" name="Text 17"/>
          <p:cNvSpPr/>
          <p:nvPr/>
        </p:nvSpPr>
        <p:spPr>
          <a:xfrm>
            <a:off x="1133856" y="4992624"/>
            <a:ext cx="1005840" cy="1060704"/>
          </a:xfrm>
          <a:prstGeom prst="rect">
            <a:avLst/>
          </a:prstGeom>
          <a:noFill/>
          <a:ln/>
        </p:spPr>
        <p:txBody>
          <a:bodyPr wrap="square" lIns="0" tIns="0" rIns="0" bIns="0" rtlCol="0" anchor="ctr"/>
          <a:lstStyle/>
          <a:p>
            <a:pPr indent="0" marL="0">
              <a:buNone/>
            </a:pPr>
            <a:r>
              <a:rPr lang="en-US" sz="2600" b="1" dirty="0">
                <a:solidFill>
                  <a:srgbClr val="6B7280"/>
                </a:solidFill>
                <a:latin typeface="JetBrains Mono" pitchFamily="34" charset="0"/>
                <a:ea typeface="JetBrains Mono" pitchFamily="34" charset="-122"/>
                <a:cs typeface="JetBrains Mono" pitchFamily="34" charset="-120"/>
              </a:rPr>
              <a:t>09</a:t>
            </a:r>
            <a:endParaRPr lang="en-US" sz="2600" dirty="0"/>
          </a:p>
        </p:txBody>
      </p:sp>
      <p:sp>
        <p:nvSpPr>
          <p:cNvPr id="21" name="Text 18"/>
          <p:cNvSpPr/>
          <p:nvPr/>
        </p:nvSpPr>
        <p:spPr>
          <a:xfrm>
            <a:off x="2240280" y="5193792"/>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What if you don't deliver?</a:t>
            </a:r>
            <a:endParaRPr lang="en-US" sz="1900" dirty="0"/>
          </a:p>
        </p:txBody>
      </p:sp>
      <p:sp>
        <p:nvSpPr>
          <p:cNvPr id="22" name="Text 19"/>
          <p:cNvSpPr/>
          <p:nvPr/>
        </p:nvSpPr>
        <p:spPr>
          <a:xfrm>
            <a:off x="2240280" y="5568696"/>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Pay on delivery, using MOI's native lockup and release.</a:t>
            </a:r>
            <a:endParaRPr lang="en-US" sz="1350" dirty="0"/>
          </a:p>
        </p:txBody>
      </p:sp>
      <p:sp>
        <p:nvSpPr>
          <p:cNvPr id="23" name="Text 20"/>
          <p:cNvSpPr/>
          <p:nvPr/>
        </p:nvSpPr>
        <p:spPr>
          <a:xfrm>
            <a:off x="9445752" y="4992624"/>
            <a:ext cx="1554480" cy="1060704"/>
          </a:xfrm>
          <a:prstGeom prst="rect">
            <a:avLst/>
          </a:prstGeom>
          <a:noFill/>
          <a:ln/>
        </p:spPr>
        <p:txBody>
          <a:bodyPr wrap="square" lIns="0" tIns="0" rIns="0" bIns="0" rtlCol="0" anchor="ctr"/>
          <a:lstStyle/>
          <a:p>
            <a:pPr algn="r" indent="0" marL="0">
              <a:buNone/>
            </a:pPr>
            <a:r>
              <a:rPr lang="en-US" sz="1050" b="1" spc="140" kern="0" dirty="0">
                <a:solidFill>
                  <a:srgbClr val="6B7280"/>
                </a:solidFill>
                <a:latin typeface="JetBrains Mono" pitchFamily="34" charset="0"/>
                <a:ea typeface="JetBrains Mono" pitchFamily="34" charset="-122"/>
                <a:cs typeface="JetBrains Mono" pitchFamily="34" charset="-120"/>
              </a:rPr>
              <a:t>AFTER</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08</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GO BUILD</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08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Run it yourself</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One funded devnet wallet covers the whole thing. The seller never needs gas — it only receives.</a:t>
            </a:r>
            <a:endParaRPr lang="en-US" sz="1450" dirty="0"/>
          </a:p>
        </p:txBody>
      </p:sp>
      <p:sp>
        <p:nvSpPr>
          <p:cNvPr id="9" name="Shape 6"/>
          <p:cNvSpPr/>
          <p:nvPr/>
        </p:nvSpPr>
        <p:spPr>
          <a:xfrm>
            <a:off x="822960" y="2377440"/>
            <a:ext cx="6035040" cy="2670048"/>
          </a:xfrm>
          <a:prstGeom prst="roundRect">
            <a:avLst>
              <a:gd name="adj" fmla="val 2055"/>
            </a:avLst>
          </a:prstGeom>
          <a:solidFill>
            <a:srgbClr val="1C212B"/>
          </a:solidFill>
          <a:ln w="12700">
            <a:solidFill>
              <a:srgbClr val="363C49"/>
            </a:solidFill>
            <a:prstDash val="solid"/>
          </a:ln>
        </p:spPr>
      </p:sp>
      <p:sp>
        <p:nvSpPr>
          <p:cNvPr id="10" name="Text 7"/>
          <p:cNvSpPr/>
          <p:nvPr/>
        </p:nvSpPr>
        <p:spPr>
          <a:xfrm>
            <a:off x="1152144" y="25786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install</a:t>
            </a:r>
            <a:endParaRPr lang="en-US" sz="1250" dirty="0"/>
          </a:p>
        </p:txBody>
      </p:sp>
      <p:sp>
        <p:nvSpPr>
          <p:cNvPr id="11" name="Text 8"/>
          <p:cNvSpPr/>
          <p:nvPr/>
        </p:nvSpPr>
        <p:spPr>
          <a:xfrm>
            <a:off x="1152144" y="30358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cp .env.example .env</a:t>
            </a:r>
            <a:endParaRPr lang="en-US" sz="1250" dirty="0"/>
          </a:p>
        </p:txBody>
      </p:sp>
      <p:sp>
        <p:nvSpPr>
          <p:cNvPr id="12" name="Text 9"/>
          <p:cNvSpPr/>
          <p:nvPr/>
        </p:nvSpPr>
        <p:spPr>
          <a:xfrm>
            <a:off x="4023360" y="30358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paste a funded mnemonic</a:t>
            </a:r>
            <a:endParaRPr lang="en-US" sz="1050" dirty="0"/>
          </a:p>
        </p:txBody>
      </p:sp>
      <p:sp>
        <p:nvSpPr>
          <p:cNvPr id="13" name="Text 10"/>
          <p:cNvSpPr/>
          <p:nvPr/>
        </p:nvSpPr>
        <p:spPr>
          <a:xfrm>
            <a:off x="1152144" y="34930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setup:asset</a:t>
            </a:r>
            <a:endParaRPr lang="en-US" sz="1250" dirty="0"/>
          </a:p>
        </p:txBody>
      </p:sp>
      <p:sp>
        <p:nvSpPr>
          <p:cNvPr id="14" name="Text 11"/>
          <p:cNvSpPr/>
          <p:nvPr/>
        </p:nvSpPr>
        <p:spPr>
          <a:xfrm>
            <a:off x="4023360" y="34930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mint the settlement asset</a:t>
            </a:r>
            <a:endParaRPr lang="en-US" sz="1050" dirty="0"/>
          </a:p>
        </p:txBody>
      </p:sp>
      <p:sp>
        <p:nvSpPr>
          <p:cNvPr id="15" name="Text 12"/>
          <p:cNvSpPr/>
          <p:nvPr/>
        </p:nvSpPr>
        <p:spPr>
          <a:xfrm>
            <a:off x="1152144" y="39502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setup:registry</a:t>
            </a:r>
            <a:endParaRPr lang="en-US" sz="1250" dirty="0"/>
          </a:p>
        </p:txBody>
      </p:sp>
      <p:sp>
        <p:nvSpPr>
          <p:cNvPr id="16" name="Text 13"/>
          <p:cNvSpPr/>
          <p:nvPr/>
        </p:nvSpPr>
        <p:spPr>
          <a:xfrm>
            <a:off x="4023360" y="39502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put both agents on chain</a:t>
            </a:r>
            <a:endParaRPr lang="en-US" sz="1050" dirty="0"/>
          </a:p>
        </p:txBody>
      </p:sp>
      <p:sp>
        <p:nvSpPr>
          <p:cNvPr id="17" name="Text 14"/>
          <p:cNvSpPr/>
          <p:nvPr/>
        </p:nvSpPr>
        <p:spPr>
          <a:xfrm>
            <a:off x="1152144" y="44074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ui</a:t>
            </a:r>
            <a:endParaRPr lang="en-US" sz="1250" dirty="0"/>
          </a:p>
        </p:txBody>
      </p:sp>
      <p:sp>
        <p:nvSpPr>
          <p:cNvPr id="18" name="Text 15"/>
          <p:cNvSpPr/>
          <p:nvPr/>
        </p:nvSpPr>
        <p:spPr>
          <a:xfrm>
            <a:off x="4023360" y="44074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the agent console</a:t>
            </a:r>
            <a:endParaRPr lang="en-US" sz="1050" dirty="0"/>
          </a:p>
        </p:txBody>
      </p:sp>
      <p:sp>
        <p:nvSpPr>
          <p:cNvPr id="19" name="Shape 16"/>
          <p:cNvSpPr/>
          <p:nvPr/>
        </p:nvSpPr>
        <p:spPr>
          <a:xfrm>
            <a:off x="7315200" y="2377440"/>
            <a:ext cx="4050792" cy="1261872"/>
          </a:xfrm>
          <a:prstGeom prst="roundRect">
            <a:avLst>
              <a:gd name="adj" fmla="val 4348"/>
            </a:avLst>
          </a:prstGeom>
          <a:solidFill>
            <a:srgbClr val="1C212B"/>
          </a:solidFill>
          <a:ln w="12700">
            <a:solidFill>
              <a:srgbClr val="363C49"/>
            </a:solidFill>
            <a:prstDash val="solid"/>
          </a:ln>
        </p:spPr>
      </p:sp>
      <p:sp>
        <p:nvSpPr>
          <p:cNvPr id="20" name="Text 17"/>
          <p:cNvSpPr/>
          <p:nvPr/>
        </p:nvSpPr>
        <p:spPr>
          <a:xfrm>
            <a:off x="7626096" y="2651760"/>
            <a:ext cx="3429000" cy="219456"/>
          </a:xfrm>
          <a:prstGeom prst="rect">
            <a:avLst/>
          </a:prstGeom>
          <a:noFill/>
          <a:ln/>
        </p:spPr>
        <p:txBody>
          <a:bodyPr wrap="square" lIns="0" tIns="0" rIns="0" bIns="0" rtlCol="0" anchor="ctr"/>
          <a:lstStyle/>
          <a:p>
            <a:pPr indent="0" marL="0">
              <a:buNone/>
            </a:pPr>
            <a:r>
              <a:rPr lang="en-US" sz="950" b="1" spc="140" kern="0" dirty="0">
                <a:solidFill>
                  <a:srgbClr val="8B8AF0"/>
                </a:solidFill>
                <a:latin typeface="JetBrains Mono" pitchFamily="34" charset="0"/>
                <a:ea typeface="JetBrains Mono" pitchFamily="34" charset="-122"/>
                <a:cs typeface="JetBrains Mono" pitchFamily="34" charset="-120"/>
              </a:rPr>
              <a:t>FAUCET · ONE WALLET</a:t>
            </a:r>
            <a:endParaRPr lang="en-US" sz="950" dirty="0"/>
          </a:p>
        </p:txBody>
      </p:sp>
      <p:sp>
        <p:nvSpPr>
          <p:cNvPr id="21" name="Text 18"/>
          <p:cNvSpPr/>
          <p:nvPr/>
        </p:nvSpPr>
        <p:spPr>
          <a:xfrm>
            <a:off x="7626096" y="2971800"/>
            <a:ext cx="3429000" cy="384048"/>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voyage.moi.technology</a:t>
            </a:r>
            <a:endParaRPr lang="en-US" sz="1900" dirty="0"/>
          </a:p>
        </p:txBody>
      </p:sp>
      <p:sp>
        <p:nvSpPr>
          <p:cNvPr id="22" name="Shape 19"/>
          <p:cNvSpPr/>
          <p:nvPr/>
        </p:nvSpPr>
        <p:spPr>
          <a:xfrm>
            <a:off x="7315200" y="3785616"/>
            <a:ext cx="4050792" cy="1261872"/>
          </a:xfrm>
          <a:prstGeom prst="roundRect">
            <a:avLst>
              <a:gd name="adj" fmla="val 4348"/>
            </a:avLst>
          </a:prstGeom>
          <a:solidFill>
            <a:srgbClr val="1C212B"/>
          </a:solidFill>
          <a:ln w="12700">
            <a:solidFill>
              <a:srgbClr val="363C49"/>
            </a:solidFill>
            <a:prstDash val="solid"/>
          </a:ln>
        </p:spPr>
      </p:sp>
      <p:sp>
        <p:nvSpPr>
          <p:cNvPr id="23" name="Text 20"/>
          <p:cNvSpPr/>
          <p:nvPr/>
        </p:nvSpPr>
        <p:spPr>
          <a:xfrm>
            <a:off x="7626096" y="4059936"/>
            <a:ext cx="3429000" cy="219456"/>
          </a:xfrm>
          <a:prstGeom prst="rect">
            <a:avLst/>
          </a:prstGeom>
          <a:noFill/>
          <a:ln/>
        </p:spPr>
        <p:txBody>
          <a:bodyPr wrap="square" lIns="0" tIns="0" rIns="0" bIns="0" rtlCol="0" anchor="ctr"/>
          <a:lstStyle/>
          <a:p>
            <a:pPr indent="0" marL="0">
              <a:buNone/>
            </a:pPr>
            <a:r>
              <a:rPr lang="en-US" sz="950" b="1" spc="140" kern="0" dirty="0">
                <a:solidFill>
                  <a:srgbClr val="3CCB8E"/>
                </a:solidFill>
                <a:latin typeface="JetBrains Mono" pitchFamily="34" charset="0"/>
                <a:ea typeface="JetBrains Mono" pitchFamily="34" charset="-122"/>
                <a:cs typeface="JetBrains Mono" pitchFamily="34" charset="-120"/>
              </a:rPr>
              <a:t>NEXT</a:t>
            </a:r>
            <a:endParaRPr lang="en-US" sz="950" dirty="0"/>
          </a:p>
        </p:txBody>
      </p:sp>
      <p:sp>
        <p:nvSpPr>
          <p:cNvPr id="24" name="Text 21"/>
          <p:cNvSpPr/>
          <p:nvPr/>
        </p:nvSpPr>
        <p:spPr>
          <a:xfrm>
            <a:off x="7626096" y="4379976"/>
            <a:ext cx="3429000" cy="384048"/>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Session 8 — authority</a:t>
            </a:r>
            <a:endParaRPr lang="en-US" sz="1900" dirty="0"/>
          </a:p>
        </p:txBody>
      </p:sp>
      <p:sp>
        <p:nvSpPr>
          <p:cNvPr id="25" name="Text 22"/>
          <p:cNvSpPr/>
          <p:nvPr/>
        </p:nvSpPr>
        <p:spPr>
          <a:xfrm>
            <a:off x="822960" y="5303520"/>
            <a:ext cx="10543032" cy="548640"/>
          </a:xfrm>
          <a:prstGeom prst="rect">
            <a:avLst/>
          </a:prstGeom>
          <a:noFill/>
          <a:ln/>
        </p:spPr>
        <p:txBody>
          <a:bodyPr wrap="square" lIns="0" tIns="0" rIns="0" bIns="0" rtlCol="0" anchor="ctr"/>
          <a:lstStyle/>
          <a:p>
            <a:pPr indent="0" marL="0">
              <a:buNone/>
            </a:pPr>
            <a:r>
              <a:rPr lang="en-US" sz="1750" b="1" dirty="0">
                <a:solidFill>
                  <a:srgbClr val="B9BECD"/>
                </a:solidFill>
                <a:latin typeface="Inter" pitchFamily="34" charset="0"/>
                <a:ea typeface="Inter" pitchFamily="34" charset="-122"/>
                <a:cs typeface="Inter" pitchFamily="34" charset="-120"/>
              </a:rPr>
              <a:t>The payment was the easy half. </a:t>
            </a:r>
            <a:pPr indent="0" marL="0">
              <a:buNone/>
            </a:pPr>
            <a:r>
              <a:rPr lang="en-US" sz="1750" b="1" dirty="0">
                <a:solidFill>
                  <a:srgbClr val="FFFFFF"/>
                </a:solidFill>
                <a:latin typeface="Inter" pitchFamily="34" charset="0"/>
                <a:ea typeface="Inter" pitchFamily="34" charset="-122"/>
                <a:cs typeface="Inter" pitchFamily="34" charset="-120"/>
              </a:rPr>
              <a:t>Knowing who you're paying is what makes it safe.</a:t>
            </a:r>
            <a:endParaRPr lang="en-US" sz="1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MOI Builders · Session 07 — Agentic Payments</dc:title>
  <dc:subject>PptxGenJS Presentation</dc:subject>
  <dc:creator>Sarva Labs</dc:creator>
  <cp:lastModifiedBy>Sarva Labs</cp:lastModifiedBy>
  <cp:revision>1</cp:revision>
  <dcterms:created xsi:type="dcterms:W3CDTF">2026-08-05T19:59:07Z</dcterms:created>
  <dcterms:modified xsi:type="dcterms:W3CDTF">2026-08-05T19:59:07Z</dcterms:modified>
</cp:coreProperties>
</file>