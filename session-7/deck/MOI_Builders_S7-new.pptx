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DECK · slide 1 ]
Hey everyone — welcome back to MOI Builders. I'm Adi, I work on ecosystem here at Sarva Labs, and
this is session seven.
If you're new: the repo link's in the description. Everything I run today is in there, so you can
follow along or break it afterwards.
Today is easy to say and fun to watch: two agents — and one of them is going to buy something from
the other, without knowing the other one exists.
Let me introduce the cast.
[ next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DECK · slide 2 ]  Everything before the demo happens on this slide. Keep it moving.
Two agents.
On the right — the Signal Desk. The seller. It sells probabilities on bitcoin: you ask it a
yes-or-no question about the future — will bitcoin drop twenty percent this quarter — and it sells
you back a number. And it sets its own price, per answer, every time someone asks.
On the left — the Risk Agent. The buyer. It's got a question it can't answer, and it's got a
wallet. And a number like that is worth paying for, because it changes what you do next — a thirty
percent chance of a crash means acting very differently than a three percent one.
[ point at the gap in the middle ]
Here's the catch: the buyer doesn't know the seller exists. No URL, no API key, no account. The
one thing they share is that strip at the bottom — they're both registered on MOI.
So here's what you're about to watch, in one breath. The buyer searches MOI's agent registry and
finds the seller. It gets quoted a price. It checks, on chain, that the address it's told to pay
really belongs to that agent. It pays from its own wallet. The seller confirms the payment by
reading the chain — and hands over the answer.
That's the whole flow. Let's watch it for real.
[ &gt;&gt;&gt; SWITCH TO BROWSER — http://localhost:4000 ]
[ CAREFUL: the seller prices per request, but it can NOT decline a sale — not implemented.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&gt;&gt;&gt; BROWSER — http://localhost:4000 ]   TYPE: should i be worried about a crash
Cards land ~6 seconds apart. One or two sentences per card — the screen does the rest.
1 · It admits it doesn't know the answer — so it goes looking. Not for a company, for a skill.
2 · Found one. Id, wallet, URL, skills — all read off the chain. I never gave it an address.
3 · The catalog's free. Questions are public; you only pay for answers.
4 · The model picked the drawdown market. I typed "crash" — that word isn't in the catalog.
5 · HTTP 402 — the bill. And that price is the seller's own decision, made just now.
6 · The buyer judges the price. Fair — so it goes ahead.
7 · The key moment: before paying, it checks the chain — is that address really this agent's
    registered wallet? Match. Safe to pay.
8 · Real money, real hash. Click it — that transaction is on devnet, go look it up.
9 · The seller doesn't take the buyer's word — it reads the transfer off the chain itself.
    Seven checks.
10 · Paid, delivered, balance drops by three. Say it out loud: the probability is made up —
     the payment is real, the forecast is a placeholder.
=== REFUSAL — tick "Simulate a compromised listing", ask the same question ===
I've pointed the seller's registry entry at an attacker — as if someone hacked the listing.
It stops at the identity check. Registry says one address, quote says another — the buyer walks.
Money moved: none. It never even built a transaction.
[ If a normal run refuses: an interrupted tamper run left the registry dirty. Rerun it, let it
  finish.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&gt;&gt;&gt; EDITOR ]
Okay, so let's look at how much code that actually is — because I think people assume this sort of
thing is enormous, and it really isn't.
Four files. Everything that makes this safe is in them and nowhere else.
— payment-proof.ts —
So the entire wire format is two messages.
The seller sends a Quote — here's my price, here's the asset, here's where to pay, and here's my
agent id. And the buyer sends back a Claim — I sent this much, to you, in this transaction, for
this thing, and here's my signature over all of it.
That's the protocol. There's no third service, nothing to negotiate.
[ point at payToAgentId ]
And that field there is why any of this works. Take it away and payTo goes back to being thirty-two
anonymous bytes.
— identity-check.ts —  [ whole file on screen, 42 lines, don't scroll ]
And this is the idea the entire session is built on. Forty-two lines.
[ point at: if (normalizeAddress(registryWallet) !== normalizeAddress(quote.payTo)) ]
Read the wallet this agent registered. Compare it to the one on the invoice. Refuse if they
disagree.
That's it. That's the check no payment protocol can do for you — because it needs an identity that
lives somewhere both parties can go and look independently, without having to ask each other.
[ then show where approve() is called in pay.ts ]
And this is where it runs. Before the transfer. Not after, not alongside — before. The payment
client literally cannot spend anything until this returns a yes.
— verify-proof.ts —  [ show two of the seven, don't read them all out ]
I'll show you two of these rather than all seven.
Check three, key binds to payer. So — transfers are public. Anyone watching the chain can see that
payment land. Which raises a fun question: what stops somebody else grabbing my transaction hash,
claiming it, and walking off with the answer I paid for?
This does. The claim is signed, and this check derives the account id back out of the public key.
You can't claim a payment you didn't make.
And check six, transfer landed on chain. This is the seller doing the work itself — pulling the
interaction, decoding the calldata, checking sender and recipient and amount.
That's the cost of not having a middleman. There's nobody to ask, so you go and look it up
yourself.
[ OPTIONAL — run: npm run attack-test ]
Eleven forged payments. Every one rejected, and rejected for the right reason — plus one honest
payment that has to be accepted, because otherwise a verifier that just refuses everything would
look perfect.
— pricing.ts and worth.ts —
And these last two are why I'm comfortable calling both of these agents. The desk decides what to
charge, the buyer decides whether to pay it, and both of those are model calls.
But — and this is the bit I'd really like you to take away from the code — look at what the model
is not allowed to touch.
[ point at the clamp in pricing.ts, then SOFT_LIMIT in worth.ts ]
The price bounds are arithmetic. And the buyer's hard ceiling gets checked before the model is even
asked, which matters more than it looks — because the seller's justification for its price goes
straight into the buyer's prompt. That's untrusted text, written by the counterparty.
A model can be talked into things. That's a lovely property when you're choosing what to buy, and a
disqualifying one when you're guarding a wallet.
And nothing about whether a payment is valid goes anywhere near a model. That's all arithmetic and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DECK ]  Run the command first, then talk over this slide.
[ &gt;&gt;&gt; TERMINAL: MAX_PRICE_PER_ANSWER=999999 npm run ask -- "should i be worried about a crash" ]
So the buyer has a spending limit — it refuses anything over six. Here's what that limit is
actually worth: I just set one environment variable, and it's gone. I didn't touch the code.
Now, it still won't pay something ridiculous — there's a second opinion, the model's own read on
whether a markup is reasonable. But look where that lives. Same process. A prompt I wrote, in a
file I control.
[ point at the right-hand card ]
And it's worse than it looks. That limit is per purchase — nothing tracks the total. Six at a
time, this wallet can be emptied without ever breaking its limit once.
Every guardrail you've seen today is self-imposed. Nothing on the chain caps this wallet. An agent
promising not to overspend is not the same thing as an agent that cannot.
[ DON'T say the env var makes it pay anything — the model still refuses silly prices. The point is
  where the guardrails live, not that they're gone.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DECK ]
And that gap is exactly what we fix next — using MOI itself.
Session eight: spending authority the agent inherits from the chain instead of setting for
itself — a cap it can't edit away, because it doesn't own it.
Session nine: pay-on-delivery, so "what if they don't deliver" stops being "you lose your money."
Today you always know who you're paying. Next time, the chain decides what an agent may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DECK ]  Close, then Q&amp;A.
That's the session. Everything you watched settled on MOI devnet — the hashes are real, go look
them up. The repo's linked, and one funded wallet runs the whole thing.
Thanks for watching — happy to take questions.
=== LIKELY QUESTIONS ===
Seller takes the money and doesn't deliver? You lose it — that's what session nine fixes.
Really two separate agents? Two wallets, two on-chain identities, two independent decisions — but
one machine and one mnemonic today. The chain doesn't care; the transfer is real either way.
What stops a replayed payment? The transfer hash is burned after one use. Caveat: that set's in
memory, so restarting the seller resets it — a real seller would persist it.
Is the product real? No — invented numbers, disclaimed on every response. The payment machinery
around it is the real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pic>
        <p:nvPicPr>
          <p:cNvPr id="3" name="Image 0" descr="moi-mark.png">    </p:cNvPr>
          <p:cNvPicPr>
            <a:picLocks noChangeAspect="1"/>
          </p:cNvPicPr>
          <p:nvPr/>
        </p:nvPicPr>
        <p:blipFill>
          <a:blip r:embed="rId1"/>
          <a:stretch>
            <a:fillRect/>
          </a:stretch>
        </p:blipFill>
        <p:spPr>
          <a:xfrm>
            <a:off x="822960" y="1481328"/>
            <a:ext cx="420624" cy="420624"/>
          </a:xfrm>
          <a:prstGeom prst="rect">
            <a:avLst/>
          </a:prstGeom>
        </p:spPr>
      </p:pic>
      <p:sp>
        <p:nvSpPr>
          <p:cNvPr id="4" name="Text 0"/>
          <p:cNvSpPr/>
          <p:nvPr/>
        </p:nvSpPr>
        <p:spPr>
          <a:xfrm>
            <a:off x="822960" y="2139696"/>
            <a:ext cx="5486400" cy="274320"/>
          </a:xfrm>
          <a:prstGeom prst="rect">
            <a:avLst/>
          </a:prstGeom>
          <a:noFill/>
          <a:ln/>
        </p:spPr>
        <p:txBody>
          <a:bodyPr wrap="square" lIns="0" tIns="0" rIns="0" bIns="0" rtlCol="0" anchor="ctr"/>
          <a:lstStyle/>
          <a:p>
            <a:pPr indent="0" marL="0">
              <a:buNone/>
            </a:pPr>
            <a:r>
              <a:rPr lang="en-US" sz="1100" b="1" spc="220" kern="0" dirty="0">
                <a:solidFill>
                  <a:srgbClr val="8B8AF0"/>
                </a:solidFill>
                <a:latin typeface="JetBrains Mono" pitchFamily="34" charset="0"/>
                <a:ea typeface="JetBrains Mono" pitchFamily="34" charset="-122"/>
                <a:cs typeface="JetBrains Mono" pitchFamily="34" charset="-120"/>
              </a:rPr>
              <a:t>MOI BUILDERS · SESSION 07</a:t>
            </a:r>
            <a:endParaRPr lang="en-US" sz="1100" dirty="0"/>
          </a:p>
        </p:txBody>
      </p:sp>
      <p:sp>
        <p:nvSpPr>
          <p:cNvPr id="5" name="Text 1"/>
          <p:cNvSpPr/>
          <p:nvPr/>
        </p:nvSpPr>
        <p:spPr>
          <a:xfrm>
            <a:off x="777240" y="2487168"/>
            <a:ext cx="6400800" cy="1828800"/>
          </a:xfrm>
          <a:prstGeom prst="rect">
            <a:avLst/>
          </a:prstGeom>
          <a:noFill/>
          <a:ln/>
        </p:spPr>
        <p:txBody>
          <a:bodyPr wrap="square" lIns="0" tIns="0" rIns="0" bIns="0" rtlCol="0" anchor="t"/>
          <a:lstStyle/>
          <a:p>
            <a:pPr indent="0" marL="0">
              <a:lnSpc>
                <a:spcPts val="6600"/>
              </a:lnSpc>
              <a:buNone/>
            </a:pPr>
            <a:r>
              <a:rPr lang="en-US" sz="6200" b="1" dirty="0">
                <a:solidFill>
                  <a:srgbClr val="FFFFFF"/>
                </a:solidFill>
                <a:latin typeface="Inter" pitchFamily="34" charset="0"/>
                <a:ea typeface="Inter" pitchFamily="34" charset="-122"/>
                <a:cs typeface="Inter" pitchFamily="34" charset="-120"/>
              </a:rPr>
              <a:t>Agentic</a:t>
            </a:r>
            <a:endParaRPr lang="en-US" sz="6200" dirty="0"/>
          </a:p>
          <a:p>
            <a:pPr indent="0" marL="0">
              <a:lnSpc>
                <a:spcPts val="6600"/>
              </a:lnSpc>
              <a:buNone/>
            </a:pPr>
            <a:r>
              <a:rPr lang="en-US" sz="6200" b="1" dirty="0">
                <a:solidFill>
                  <a:srgbClr val="FFFFFF"/>
                </a:solidFill>
                <a:latin typeface="Inter" pitchFamily="34" charset="0"/>
                <a:ea typeface="Inter" pitchFamily="34" charset="-122"/>
                <a:cs typeface="Inter" pitchFamily="34" charset="-120"/>
              </a:rPr>
              <a:t>Payments</a:t>
            </a:r>
            <a:endParaRPr lang="en-US" sz="6200" dirty="0"/>
          </a:p>
        </p:txBody>
      </p:sp>
      <p:sp>
        <p:nvSpPr>
          <p:cNvPr id="6" name="Text 2"/>
          <p:cNvSpPr/>
          <p:nvPr/>
        </p:nvSpPr>
        <p:spPr>
          <a:xfrm>
            <a:off x="822960" y="4443984"/>
            <a:ext cx="5852160" cy="731520"/>
          </a:xfrm>
          <a:prstGeom prst="rect">
            <a:avLst/>
          </a:prstGeom>
          <a:noFill/>
          <a:ln/>
        </p:spPr>
        <p:txBody>
          <a:bodyPr wrap="square" lIns="0" tIns="0" rIns="0" bIns="0" rtlCol="0" anchor="ctr"/>
          <a:lstStyle/>
          <a:p>
            <a:pPr indent="0" marL="0">
              <a:lnSpc>
                <a:spcPts val="2600"/>
              </a:lnSpc>
              <a:buNone/>
            </a:pPr>
            <a:r>
              <a:rPr lang="en-US" sz="1650" dirty="0">
                <a:solidFill>
                  <a:srgbClr val="B9BECD"/>
                </a:solidFill>
                <a:latin typeface="Inter" pitchFamily="34" charset="0"/>
                <a:ea typeface="Inter" pitchFamily="34" charset="-122"/>
                <a:cs typeface="Inter" pitchFamily="34" charset="-120"/>
              </a:rPr>
              <a:t>An agent finds another agent on MOI — and pays it.</a:t>
            </a:r>
            <a:endParaRPr lang="en-US" sz="1650" dirty="0"/>
          </a:p>
          <a:p>
            <a:pPr indent="0" marL="0">
              <a:lnSpc>
                <a:spcPts val="2600"/>
              </a:lnSpc>
              <a:buNone/>
            </a:pPr>
            <a:r>
              <a:rPr lang="en-US" sz="1650" dirty="0">
                <a:solidFill>
                  <a:srgbClr val="B9BECD"/>
                </a:solidFill>
                <a:latin typeface="Inter" pitchFamily="34" charset="0"/>
                <a:ea typeface="Inter" pitchFamily="34" charset="-122"/>
                <a:cs typeface="Inter" pitchFamily="34" charset="-120"/>
              </a:rPr>
              <a:t>No human, no account, no API key.</a:t>
            </a:r>
            <a:endParaRPr lang="en-US" sz="1650" dirty="0"/>
          </a:p>
        </p:txBody>
      </p:sp>
      <p:sp>
        <p:nvSpPr>
          <p:cNvPr id="7" name="Text 3"/>
          <p:cNvSpPr/>
          <p:nvPr/>
        </p:nvSpPr>
        <p:spPr>
          <a:xfrm>
            <a:off x="822960" y="5321808"/>
            <a:ext cx="5486400" cy="274320"/>
          </a:xfrm>
          <a:prstGeom prst="rect">
            <a:avLst/>
          </a:prstGeom>
          <a:noFill/>
          <a:ln/>
        </p:spPr>
        <p:txBody>
          <a:bodyPr wrap="square" lIns="0" tIns="0" rIns="0" bIns="0" rtlCol="0" anchor="ctr"/>
          <a:lstStyle/>
          <a:p>
            <a:pPr indent="0" marL="0">
              <a:buNone/>
            </a:pPr>
            <a:r>
              <a:rPr lang="en-US" sz="1000" spc="180" kern="0" dirty="0">
                <a:solidFill>
                  <a:srgbClr val="6B7280"/>
                </a:solidFill>
                <a:latin typeface="JetBrains Mono" pitchFamily="34" charset="0"/>
                <a:ea typeface="JetBrains Mono" pitchFamily="34" charset="-122"/>
                <a:cs typeface="JetBrains Mono" pitchFamily="34" charset="-120"/>
              </a:rPr>
              <a:t>PART 1 OF 3 · IDENTITY</a:t>
            </a:r>
            <a:endParaRPr lang="en-US" sz="1000" dirty="0"/>
          </a:p>
        </p:txBody>
      </p:sp>
      <p:sp>
        <p:nvSpPr>
          <p:cNvPr id="8" name="Shape 4"/>
          <p:cNvSpPr/>
          <p:nvPr/>
        </p:nvSpPr>
        <p:spPr>
          <a:xfrm>
            <a:off x="8366760" y="3127248"/>
            <a:ext cx="1097280" cy="914400"/>
          </a:xfrm>
          <a:prstGeom prst="line">
            <a:avLst/>
          </a:prstGeom>
          <a:noFill/>
          <a:ln w="19050">
            <a:solidFill>
              <a:srgbClr val="363C49"/>
            </a:solidFill>
            <a:prstDash val="dash"/>
          </a:ln>
        </p:spPr>
      </p:sp>
      <p:sp>
        <p:nvSpPr>
          <p:cNvPr id="9" name="Shape 5"/>
          <p:cNvSpPr/>
          <p:nvPr/>
        </p:nvSpPr>
        <p:spPr>
          <a:xfrm>
            <a:off x="7269480" y="2084832"/>
            <a:ext cx="2606040" cy="1170432"/>
          </a:xfrm>
          <a:prstGeom prst="roundRect">
            <a:avLst>
              <a:gd name="adj" fmla="val 4688"/>
            </a:avLst>
          </a:prstGeom>
          <a:solidFill>
            <a:srgbClr val="1C212B"/>
          </a:solidFill>
          <a:ln w="12700">
            <a:solidFill>
              <a:srgbClr val="363C49"/>
            </a:solidFill>
            <a:prstDash val="solid"/>
          </a:ln>
        </p:spPr>
      </p:sp>
      <p:sp>
        <p:nvSpPr>
          <p:cNvPr id="10" name="Text 6"/>
          <p:cNvSpPr/>
          <p:nvPr/>
        </p:nvSpPr>
        <p:spPr>
          <a:xfrm>
            <a:off x="7525512" y="2249424"/>
            <a:ext cx="2103120" cy="219456"/>
          </a:xfrm>
          <a:prstGeom prst="rect">
            <a:avLst/>
          </a:prstGeom>
          <a:noFill/>
          <a:ln/>
        </p:spPr>
        <p:txBody>
          <a:bodyPr wrap="square" lIns="0" tIns="0" rIns="0" bIns="0" rtlCol="0" anchor="ctr"/>
          <a:lstStyle/>
          <a:p>
            <a:pPr indent="0" marL="0">
              <a:buNone/>
            </a:pPr>
            <a:r>
              <a:rPr lang="en-US" sz="900" b="1" spc="140" kern="0" dirty="0">
                <a:solidFill>
                  <a:srgbClr val="8B8AF0"/>
                </a:solidFill>
                <a:latin typeface="JetBrains Mono" pitchFamily="34" charset="0"/>
                <a:ea typeface="JetBrains Mono" pitchFamily="34" charset="-122"/>
                <a:cs typeface="JetBrains Mono" pitchFamily="34" charset="-120"/>
              </a:rPr>
              <a:t>BUYER</a:t>
            </a:r>
            <a:endParaRPr lang="en-US" sz="900" dirty="0"/>
          </a:p>
        </p:txBody>
      </p:sp>
      <p:sp>
        <p:nvSpPr>
          <p:cNvPr id="11" name="Text 7"/>
          <p:cNvSpPr/>
          <p:nvPr/>
        </p:nvSpPr>
        <p:spPr>
          <a:xfrm>
            <a:off x="7525512" y="2487168"/>
            <a:ext cx="2194560" cy="310896"/>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Risk Agent</a:t>
            </a:r>
            <a:endParaRPr lang="en-US" sz="1700" dirty="0"/>
          </a:p>
        </p:txBody>
      </p:sp>
      <p:sp>
        <p:nvSpPr>
          <p:cNvPr id="12" name="Text 8"/>
          <p:cNvSpPr/>
          <p:nvPr/>
        </p:nvSpPr>
        <p:spPr>
          <a:xfrm>
            <a:off x="7525512" y="2852928"/>
            <a:ext cx="2194560" cy="237744"/>
          </a:xfrm>
          <a:prstGeom prst="rect">
            <a:avLst/>
          </a:prstGeom>
          <a:noFill/>
          <a:ln/>
        </p:spPr>
        <p:txBody>
          <a:bodyPr wrap="square" lIns="0" tIns="0" rIns="0" bIns="0" rtlCol="0" anchor="ctr"/>
          <a:lstStyle/>
          <a:p>
            <a:pPr indent="0" marL="0">
              <a:buNone/>
            </a:pPr>
            <a:r>
              <a:rPr lang="en-US" sz="900" dirty="0">
                <a:solidFill>
                  <a:srgbClr val="6B7280"/>
                </a:solidFill>
                <a:latin typeface="JetBrains Mono" pitchFamily="34" charset="0"/>
                <a:ea typeface="JetBrains Mono" pitchFamily="34" charset="-122"/>
                <a:cs typeface="JetBrains Mono" pitchFamily="34" charset="-120"/>
              </a:rPr>
              <a:t>0x…8ef2c197…</a:t>
            </a:r>
            <a:endParaRPr lang="en-US" sz="900" dirty="0"/>
          </a:p>
        </p:txBody>
      </p:sp>
      <p:sp>
        <p:nvSpPr>
          <p:cNvPr id="13" name="Shape 9"/>
          <p:cNvSpPr/>
          <p:nvPr/>
        </p:nvSpPr>
        <p:spPr>
          <a:xfrm>
            <a:off x="8732520" y="4041648"/>
            <a:ext cx="2606040" cy="1170432"/>
          </a:xfrm>
          <a:prstGeom prst="roundRect">
            <a:avLst>
              <a:gd name="adj" fmla="val 4688"/>
            </a:avLst>
          </a:prstGeom>
          <a:solidFill>
            <a:srgbClr val="1C212B"/>
          </a:solidFill>
          <a:ln w="12700">
            <a:solidFill>
              <a:srgbClr val="363C49"/>
            </a:solidFill>
            <a:prstDash val="solid"/>
          </a:ln>
        </p:spPr>
      </p:sp>
      <p:sp>
        <p:nvSpPr>
          <p:cNvPr id="14" name="Text 10"/>
          <p:cNvSpPr/>
          <p:nvPr/>
        </p:nvSpPr>
        <p:spPr>
          <a:xfrm>
            <a:off x="8988552" y="4206240"/>
            <a:ext cx="2103120" cy="219456"/>
          </a:xfrm>
          <a:prstGeom prst="rect">
            <a:avLst/>
          </a:prstGeom>
          <a:noFill/>
          <a:ln/>
        </p:spPr>
        <p:txBody>
          <a:bodyPr wrap="square" lIns="0" tIns="0" rIns="0" bIns="0" rtlCol="0" anchor="ctr"/>
          <a:lstStyle/>
          <a:p>
            <a:pPr indent="0" marL="0">
              <a:buNone/>
            </a:pPr>
            <a:r>
              <a:rPr lang="en-US" sz="900" b="1" spc="140" kern="0" dirty="0">
                <a:solidFill>
                  <a:srgbClr val="8B8AF0"/>
                </a:solidFill>
                <a:latin typeface="JetBrains Mono" pitchFamily="34" charset="0"/>
                <a:ea typeface="JetBrains Mono" pitchFamily="34" charset="-122"/>
                <a:cs typeface="JetBrains Mono" pitchFamily="34" charset="-120"/>
              </a:rPr>
              <a:t>SELLER</a:t>
            </a:r>
            <a:endParaRPr lang="en-US" sz="900" dirty="0"/>
          </a:p>
        </p:txBody>
      </p:sp>
      <p:sp>
        <p:nvSpPr>
          <p:cNvPr id="15" name="Text 11"/>
          <p:cNvSpPr/>
          <p:nvPr/>
        </p:nvSpPr>
        <p:spPr>
          <a:xfrm>
            <a:off x="8988552" y="4443984"/>
            <a:ext cx="2194560" cy="310896"/>
          </a:xfrm>
          <a:prstGeom prst="rect">
            <a:avLst/>
          </a:prstGeom>
          <a:noFill/>
          <a:ln/>
        </p:spPr>
        <p:txBody>
          <a:bodyPr wrap="square" lIns="0" tIns="0" rIns="0" bIns="0" rtlCol="0" anchor="ctr"/>
          <a:lstStyle/>
          <a:p>
            <a:pPr indent="0" marL="0">
              <a:buNone/>
            </a:pPr>
            <a:r>
              <a:rPr lang="en-US" sz="1700" b="1" dirty="0">
                <a:solidFill>
                  <a:srgbClr val="FFFFFF"/>
                </a:solidFill>
                <a:latin typeface="Inter" pitchFamily="34" charset="0"/>
                <a:ea typeface="Inter" pitchFamily="34" charset="-122"/>
                <a:cs typeface="Inter" pitchFamily="34" charset="-120"/>
              </a:rPr>
              <a:t>Signal Desk</a:t>
            </a:r>
            <a:endParaRPr lang="en-US" sz="1700" dirty="0"/>
          </a:p>
        </p:txBody>
      </p:sp>
      <p:sp>
        <p:nvSpPr>
          <p:cNvPr id="16" name="Text 12"/>
          <p:cNvSpPr/>
          <p:nvPr/>
        </p:nvSpPr>
        <p:spPr>
          <a:xfrm>
            <a:off x="8988552" y="4809744"/>
            <a:ext cx="2194560" cy="237744"/>
          </a:xfrm>
          <a:prstGeom prst="rect">
            <a:avLst/>
          </a:prstGeom>
          <a:noFill/>
          <a:ln/>
        </p:spPr>
        <p:txBody>
          <a:bodyPr wrap="square" lIns="0" tIns="0" rIns="0" bIns="0" rtlCol="0" anchor="ctr"/>
          <a:lstStyle/>
          <a:p>
            <a:pPr indent="0" marL="0">
              <a:buNone/>
            </a:pPr>
            <a:r>
              <a:rPr lang="en-US" sz="900" dirty="0">
                <a:solidFill>
                  <a:srgbClr val="6B7280"/>
                </a:solidFill>
                <a:latin typeface="JetBrains Mono" pitchFamily="34" charset="0"/>
                <a:ea typeface="JetBrains Mono" pitchFamily="34" charset="-122"/>
                <a:cs typeface="JetBrains Mono" pitchFamily="34" charset="-120"/>
              </a:rPr>
              <a:t>0x…1d2f8c28…</a:t>
            </a:r>
            <a:endParaRPr lang="en-US" sz="900" dirty="0"/>
          </a:p>
        </p:txBody>
      </p:sp>
      <p:sp>
        <p:nvSpPr>
          <p:cNvPr id="17" name="Shape 13"/>
          <p:cNvSpPr/>
          <p:nvPr/>
        </p:nvSpPr>
        <p:spPr>
          <a:xfrm>
            <a:off x="8686800" y="3383280"/>
            <a:ext cx="420624" cy="420624"/>
          </a:xfrm>
          <a:prstGeom prst="ellipse">
            <a:avLst/>
          </a:prstGeom>
          <a:solidFill>
            <a:srgbClr val="0E1116"/>
          </a:solidFill>
          <a:ln w="15875">
            <a:solidFill>
              <a:srgbClr val="D6336C"/>
            </a:solidFill>
            <a:prstDash val="solid"/>
          </a:ln>
        </p:spPr>
      </p:sp>
      <p:sp>
        <p:nvSpPr>
          <p:cNvPr id="18" name="Text 14"/>
          <p:cNvSpPr/>
          <p:nvPr/>
        </p:nvSpPr>
        <p:spPr>
          <a:xfrm>
            <a:off x="8686800" y="3383280"/>
            <a:ext cx="420624" cy="420624"/>
          </a:xfrm>
          <a:prstGeom prst="rect">
            <a:avLst/>
          </a:prstGeom>
          <a:noFill/>
          <a:ln/>
        </p:spPr>
        <p:txBody>
          <a:bodyPr wrap="square" lIns="0" tIns="0" rIns="0" bIns="0" rtlCol="0" anchor="ctr"/>
          <a:lstStyle/>
          <a:p>
            <a:pPr algn="ctr" indent="0" marL="0">
              <a:buNone/>
            </a:pPr>
            <a:r>
              <a:rPr lang="en-US" sz="1300" b="1" dirty="0">
                <a:solidFill>
                  <a:srgbClr val="D6336C"/>
                </a:solidFill>
                <a:latin typeface="Inter" pitchFamily="34" charset="0"/>
                <a:ea typeface="Inter" pitchFamily="34" charset="-122"/>
                <a:cs typeface="Inter" pitchFamily="34" charset="-120"/>
              </a:rPr>
              <a:t>✕</a:t>
            </a:r>
            <a:endParaRPr lang="en-US" sz="1300" dirty="0"/>
          </a:p>
        </p:txBody>
      </p:sp>
      <p:sp>
        <p:nvSpPr>
          <p:cNvPr id="19" name="Text 15"/>
          <p:cNvSpPr/>
          <p:nvPr/>
        </p:nvSpPr>
        <p:spPr>
          <a:xfrm>
            <a:off x="9189720" y="3456432"/>
            <a:ext cx="1645920" cy="274320"/>
          </a:xfrm>
          <a:prstGeom prst="rect">
            <a:avLst/>
          </a:prstGeom>
          <a:noFill/>
          <a:ln/>
        </p:spPr>
        <p:txBody>
          <a:bodyPr wrap="square" lIns="0" tIns="0" rIns="0" bIns="0" rtlCol="0" anchor="ctr"/>
          <a:lstStyle/>
          <a:p>
            <a:pPr indent="0" marL="0">
              <a:buNone/>
            </a:pPr>
            <a:r>
              <a:rPr lang="en-US" sz="1000" dirty="0">
                <a:solidFill>
                  <a:srgbClr val="9AA0AE"/>
                </a:solidFill>
                <a:latin typeface="JetBrains Mono" pitchFamily="34" charset="0"/>
                <a:ea typeface="JetBrains Mono" pitchFamily="34" charset="-122"/>
                <a:cs typeface="JetBrains Mono" pitchFamily="34" charset="-120"/>
              </a:rPr>
              <a:t>never met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indent="0" marL="0">
              <a:buNone/>
            </a:pPr>
            <a:r>
              <a:rPr lang="en-US" sz="1000" b="1" spc="140" kern="0" dirty="0">
                <a:solidFill>
                  <a:srgbClr val="2D2BB6"/>
                </a:solidFill>
                <a:latin typeface="JetBrains Mono" pitchFamily="34" charset="0"/>
                <a:ea typeface="JetBrains Mono" pitchFamily="34" charset="-122"/>
                <a:cs typeface="JetBrains Mono" pitchFamily="34" charset="-120"/>
              </a:rPr>
              <a:t>MOI · BUILD 02</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algn="r" indent="0" marL="0">
              <a:buNone/>
            </a:pPr>
            <a:r>
              <a:rPr lang="en-US" sz="1000" spc="140" kern="0" dirty="0">
                <a:solidFill>
                  <a:srgbClr val="5B6170"/>
                </a:solidFill>
                <a:latin typeface="JetBrains Mono" pitchFamily="34" charset="0"/>
                <a:ea typeface="JetBrains Mono" pitchFamily="34" charset="-122"/>
                <a:cs typeface="JetBrains Mono" pitchFamily="34" charset="-120"/>
              </a:rPr>
              <a:t>THE SETUP</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indent="0" marL="0">
              <a:buNone/>
            </a:pPr>
            <a:r>
              <a:rPr lang="en-US" sz="900" dirty="0">
                <a:solidFill>
                  <a:srgbClr val="9AA0AE"/>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algn="r" indent="0" marL="0">
              <a:buNone/>
            </a:pPr>
            <a:r>
              <a:rPr lang="en-US" sz="900" dirty="0">
                <a:solidFill>
                  <a:srgbClr val="9AA0AE"/>
                </a:solidFill>
                <a:latin typeface="JetBrains Mono" pitchFamily="34" charset="0"/>
                <a:ea typeface="JetBrains Mono" pitchFamily="34" charset="-122"/>
                <a:cs typeface="JetBrains Mono" pitchFamily="34" charset="-120"/>
              </a:rPr>
              <a:t>02 / 7</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indent="0" marL="0">
              <a:buNone/>
            </a:pPr>
            <a:r>
              <a:rPr lang="en-US" sz="3800" b="1" dirty="0">
                <a:solidFill>
                  <a:srgbClr val="0E1116"/>
                </a:solidFill>
                <a:latin typeface="Inter" pitchFamily="34" charset="0"/>
                <a:ea typeface="Inter" pitchFamily="34" charset="-122"/>
                <a:cs typeface="Inter" pitchFamily="34" charset="-120"/>
              </a:rPr>
              <a:t>Two agents that have never met</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indent="0" marL="0">
              <a:buNone/>
            </a:pPr>
            <a:r>
              <a:rPr lang="en-US" sz="1450" dirty="0">
                <a:solidFill>
                  <a:srgbClr val="5B6170"/>
                </a:solidFill>
                <a:latin typeface="Inter" pitchFamily="34" charset="0"/>
                <a:ea typeface="Inter" pitchFamily="34" charset="-122"/>
                <a:cs typeface="Inter" pitchFamily="34" charset="-120"/>
              </a:rPr>
              <a:t>One needs an answer. One sells them. Neither was told the other exists.</a:t>
            </a:r>
            <a:endParaRPr lang="en-US" sz="1450" dirty="0"/>
          </a:p>
        </p:txBody>
      </p:sp>
      <p:sp>
        <p:nvSpPr>
          <p:cNvPr id="9" name="Shape 6"/>
          <p:cNvSpPr/>
          <p:nvPr/>
        </p:nvSpPr>
        <p:spPr>
          <a:xfrm>
            <a:off x="822960" y="2377440"/>
            <a:ext cx="4526280" cy="2286000"/>
          </a:xfrm>
          <a:prstGeom prst="roundRect">
            <a:avLst>
              <a:gd name="adj" fmla="val 2400"/>
            </a:avLst>
          </a:prstGeom>
          <a:solidFill>
            <a:srgbClr val="EEF0FB"/>
          </a:solidFill>
          <a:ln w="12700">
            <a:solidFill>
              <a:srgbClr val="C9CBF0"/>
            </a:solidFill>
            <a:prstDash val="solid"/>
          </a:ln>
        </p:spPr>
      </p:sp>
      <p:sp>
        <p:nvSpPr>
          <p:cNvPr id="10" name="Text 7"/>
          <p:cNvSpPr/>
          <p:nvPr/>
        </p:nvSpPr>
        <p:spPr>
          <a:xfrm>
            <a:off x="1133856" y="2596896"/>
            <a:ext cx="2743200" cy="219456"/>
          </a:xfrm>
          <a:prstGeom prst="rect">
            <a:avLst/>
          </a:prstGeom>
          <a:noFill/>
          <a:ln/>
        </p:spPr>
        <p:txBody>
          <a:bodyPr wrap="square" lIns="0" tIns="0" rIns="0" bIns="0" rtlCol="0" anchor="ctr"/>
          <a:lstStyle/>
          <a:p>
            <a:pPr indent="0" marL="0">
              <a:buNone/>
            </a:pPr>
            <a:r>
              <a:rPr lang="en-US" sz="950" b="1" spc="140" kern="0" dirty="0">
                <a:solidFill>
                  <a:srgbClr val="2D2BB6"/>
                </a:solidFill>
                <a:latin typeface="JetBrains Mono" pitchFamily="34" charset="0"/>
                <a:ea typeface="JetBrains Mono" pitchFamily="34" charset="-122"/>
                <a:cs typeface="JetBrains Mono" pitchFamily="34" charset="-120"/>
              </a:rPr>
              <a:t>BUYER</a:t>
            </a:r>
            <a:endParaRPr lang="en-US" sz="950" dirty="0"/>
          </a:p>
        </p:txBody>
      </p:sp>
      <p:sp>
        <p:nvSpPr>
          <p:cNvPr id="11" name="Text 8"/>
          <p:cNvSpPr/>
          <p:nvPr/>
        </p:nvSpPr>
        <p:spPr>
          <a:xfrm>
            <a:off x="1133856" y="2834640"/>
            <a:ext cx="3657600" cy="402336"/>
          </a:xfrm>
          <a:prstGeom prst="rect">
            <a:avLst/>
          </a:prstGeom>
          <a:noFill/>
          <a:ln/>
        </p:spPr>
        <p:txBody>
          <a:bodyPr wrap="square" lIns="0" tIns="0" rIns="0" bIns="0" rtlCol="0" anchor="ctr"/>
          <a:lstStyle/>
          <a:p>
            <a:pPr indent="0" marL="0">
              <a:buNone/>
            </a:pPr>
            <a:r>
              <a:rPr lang="en-US" sz="2400" b="1" dirty="0">
                <a:solidFill>
                  <a:srgbClr val="0E1116"/>
                </a:solidFill>
                <a:latin typeface="Inter" pitchFamily="34" charset="0"/>
                <a:ea typeface="Inter" pitchFamily="34" charset="-122"/>
                <a:cs typeface="Inter" pitchFamily="34" charset="-120"/>
              </a:rPr>
              <a:t>Risk Agent</a:t>
            </a:r>
            <a:endParaRPr lang="en-US" sz="2400" dirty="0"/>
          </a:p>
        </p:txBody>
      </p:sp>
      <p:sp>
        <p:nvSpPr>
          <p:cNvPr id="12" name="Text 9"/>
          <p:cNvSpPr/>
          <p:nvPr/>
        </p:nvSpPr>
        <p:spPr>
          <a:xfrm>
            <a:off x="1133856" y="3291840"/>
            <a:ext cx="3904488" cy="256032"/>
          </a:xfrm>
          <a:prstGeom prst="rect">
            <a:avLst/>
          </a:prstGeom>
          <a:noFill/>
          <a:ln/>
        </p:spPr>
        <p:txBody>
          <a:bodyPr wrap="square" lIns="0" tIns="0" rIns="0" bIns="0" rtlCol="0" anchor="ctr"/>
          <a:lstStyle/>
          <a:p>
            <a:pPr indent="0" marL="0">
              <a:buNone/>
            </a:pPr>
            <a:r>
              <a:rPr lang="en-US" sz="1350" dirty="0">
                <a:solidFill>
                  <a:srgbClr val="0E1116"/>
                </a:solidFill>
                <a:latin typeface="Inter" pitchFamily="34" charset="0"/>
                <a:ea typeface="Inter" pitchFamily="34" charset="-122"/>
                <a:cs typeface="Inter" pitchFamily="34" charset="-120"/>
              </a:rPr>
              <a:t>Has a question it cannot answer itself.</a:t>
            </a:r>
            <a:endParaRPr lang="en-US" sz="1350" dirty="0"/>
          </a:p>
        </p:txBody>
      </p:sp>
      <p:sp>
        <p:nvSpPr>
          <p:cNvPr id="13" name="Text 10"/>
          <p:cNvSpPr/>
          <p:nvPr/>
        </p:nvSpPr>
        <p:spPr>
          <a:xfrm>
            <a:off x="1152144" y="3584448"/>
            <a:ext cx="3886200" cy="658368"/>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5B6170"/>
                </a:solidFill>
                <a:latin typeface="Inter" pitchFamily="34" charset="0"/>
                <a:ea typeface="Inter" pitchFamily="34" charset="-122"/>
                <a:cs typeface="Inter" pitchFamily="34" charset="-120"/>
              </a:rPr>
              <a:t>Decides which market answers it</a:t>
            </a:r>
            <a:endParaRPr lang="en-US" sz="1250" dirty="0"/>
          </a:p>
          <a:p>
            <a:pPr marL="342900" indent="-342900">
              <a:spcAft>
                <a:spcPts val="400"/>
              </a:spcAft>
              <a:buSzPct val="100000"/>
              <a:buChar char="•"/>
            </a:pPr>
            <a:r>
              <a:rPr lang="en-US" sz="1250" dirty="0">
                <a:solidFill>
                  <a:srgbClr val="5B6170"/>
                </a:solidFill>
                <a:latin typeface="Inter" pitchFamily="34" charset="0"/>
                <a:ea typeface="Inter" pitchFamily="34" charset="-122"/>
                <a:cs typeface="Inter" pitchFamily="34" charset="-120"/>
              </a:rPr>
              <a:t>Decides whether the price is worth paying</a:t>
            </a:r>
            <a:endParaRPr lang="en-US" sz="1250" dirty="0"/>
          </a:p>
        </p:txBody>
      </p:sp>
      <p:sp>
        <p:nvSpPr>
          <p:cNvPr id="14" name="Text 11"/>
          <p:cNvSpPr/>
          <p:nvPr/>
        </p:nvSpPr>
        <p:spPr>
          <a:xfrm>
            <a:off x="1133856" y="4187952"/>
            <a:ext cx="3904488" cy="274320"/>
          </a:xfrm>
          <a:prstGeom prst="rect">
            <a:avLst/>
          </a:prstGeom>
          <a:noFill/>
          <a:ln/>
        </p:spPr>
        <p:txBody>
          <a:bodyPr wrap="square" lIns="0" tIns="0" rIns="0" bIns="0" rtlCol="0" anchor="ctr"/>
          <a:lstStyle/>
          <a:p>
            <a:pPr indent="0" marL="0">
              <a:buNone/>
            </a:pPr>
            <a:r>
              <a:rPr lang="en-US" sz="950" dirty="0">
                <a:solidFill>
                  <a:srgbClr val="5B6170"/>
                </a:solidFill>
                <a:latin typeface="JetBrains Mono" pitchFamily="34" charset="0"/>
                <a:ea typeface="JetBrains Mono" pitchFamily="34" charset="-122"/>
                <a:cs typeface="JetBrains Mono" pitchFamily="34" charset="-120"/>
              </a:rPr>
              <a:t>0x…8ef2c197…</a:t>
            </a:r>
            <a:pPr indent="0" marL="0">
              <a:buNone/>
            </a:pPr>
            <a:r>
              <a:rPr lang="en-US" sz="950" dirty="0">
                <a:solidFill>
                  <a:srgbClr val="9AA0AE"/>
                </a:solidFill>
                <a:latin typeface="JetBrains Mono" pitchFamily="34" charset="0"/>
                <a:ea typeface="JetBrains Mono" pitchFamily="34" charset="-122"/>
                <a:cs typeface="JetBrains Mono" pitchFamily="34" charset="-120"/>
              </a:rPr>
              <a:t>   holds the funds</a:t>
            </a:r>
            <a:endParaRPr lang="en-US" sz="950" dirty="0"/>
          </a:p>
        </p:txBody>
      </p:sp>
      <p:sp>
        <p:nvSpPr>
          <p:cNvPr id="15" name="Shape 12"/>
          <p:cNvSpPr/>
          <p:nvPr/>
        </p:nvSpPr>
        <p:spPr>
          <a:xfrm>
            <a:off x="6839712" y="2377440"/>
            <a:ext cx="4526280" cy="2286000"/>
          </a:xfrm>
          <a:prstGeom prst="roundRect">
            <a:avLst>
              <a:gd name="adj" fmla="val 2400"/>
            </a:avLst>
          </a:prstGeom>
          <a:solidFill>
            <a:srgbClr val="F4F4F8"/>
          </a:solidFill>
          <a:ln w="12700">
            <a:solidFill>
              <a:srgbClr val="E4E5EC"/>
            </a:solidFill>
            <a:prstDash val="solid"/>
          </a:ln>
        </p:spPr>
      </p:sp>
      <p:sp>
        <p:nvSpPr>
          <p:cNvPr id="16" name="Text 13"/>
          <p:cNvSpPr/>
          <p:nvPr/>
        </p:nvSpPr>
        <p:spPr>
          <a:xfrm>
            <a:off x="7150608" y="2596896"/>
            <a:ext cx="2743200" cy="219456"/>
          </a:xfrm>
          <a:prstGeom prst="rect">
            <a:avLst/>
          </a:prstGeom>
          <a:noFill/>
          <a:ln/>
        </p:spPr>
        <p:txBody>
          <a:bodyPr wrap="square" lIns="0" tIns="0" rIns="0" bIns="0" rtlCol="0" anchor="ctr"/>
          <a:lstStyle/>
          <a:p>
            <a:pPr indent="0" marL="0">
              <a:buNone/>
            </a:pPr>
            <a:r>
              <a:rPr lang="en-US" sz="950" b="1" spc="140" kern="0" dirty="0">
                <a:solidFill>
                  <a:srgbClr val="2D2BB6"/>
                </a:solidFill>
                <a:latin typeface="JetBrains Mono" pitchFamily="34" charset="0"/>
                <a:ea typeface="JetBrains Mono" pitchFamily="34" charset="-122"/>
                <a:cs typeface="JetBrains Mono" pitchFamily="34" charset="-120"/>
              </a:rPr>
              <a:t>SELLER</a:t>
            </a:r>
            <a:endParaRPr lang="en-US" sz="950" dirty="0"/>
          </a:p>
        </p:txBody>
      </p:sp>
      <p:sp>
        <p:nvSpPr>
          <p:cNvPr id="17" name="Text 14"/>
          <p:cNvSpPr/>
          <p:nvPr/>
        </p:nvSpPr>
        <p:spPr>
          <a:xfrm>
            <a:off x="7150608" y="2834640"/>
            <a:ext cx="3657600" cy="402336"/>
          </a:xfrm>
          <a:prstGeom prst="rect">
            <a:avLst/>
          </a:prstGeom>
          <a:noFill/>
          <a:ln/>
        </p:spPr>
        <p:txBody>
          <a:bodyPr wrap="square" lIns="0" tIns="0" rIns="0" bIns="0" rtlCol="0" anchor="ctr"/>
          <a:lstStyle/>
          <a:p>
            <a:pPr indent="0" marL="0">
              <a:buNone/>
            </a:pPr>
            <a:r>
              <a:rPr lang="en-US" sz="2400" b="1" dirty="0">
                <a:solidFill>
                  <a:srgbClr val="0E1116"/>
                </a:solidFill>
                <a:latin typeface="Inter" pitchFamily="34" charset="0"/>
                <a:ea typeface="Inter" pitchFamily="34" charset="-122"/>
                <a:cs typeface="Inter" pitchFamily="34" charset="-120"/>
              </a:rPr>
              <a:t>Signal Desk</a:t>
            </a:r>
            <a:endParaRPr lang="en-US" sz="2400" dirty="0"/>
          </a:p>
        </p:txBody>
      </p:sp>
      <p:sp>
        <p:nvSpPr>
          <p:cNvPr id="18" name="Text 15"/>
          <p:cNvSpPr/>
          <p:nvPr/>
        </p:nvSpPr>
        <p:spPr>
          <a:xfrm>
            <a:off x="7150608" y="3291840"/>
            <a:ext cx="3904488" cy="256032"/>
          </a:xfrm>
          <a:prstGeom prst="rect">
            <a:avLst/>
          </a:prstGeom>
          <a:noFill/>
          <a:ln/>
        </p:spPr>
        <p:txBody>
          <a:bodyPr wrap="square" lIns="0" tIns="0" rIns="0" bIns="0" rtlCol="0" anchor="ctr"/>
          <a:lstStyle/>
          <a:p>
            <a:pPr indent="0" marL="0">
              <a:buNone/>
            </a:pPr>
            <a:r>
              <a:rPr lang="en-US" sz="1350" dirty="0">
                <a:solidFill>
                  <a:srgbClr val="0E1116"/>
                </a:solidFill>
                <a:latin typeface="Inter" pitchFamily="34" charset="0"/>
                <a:ea typeface="Inter" pitchFamily="34" charset="-122"/>
                <a:cs typeface="Inter" pitchFamily="34" charset="-120"/>
              </a:rPr>
              <a:t>Sells probability estimates on bitcoin.</a:t>
            </a:r>
            <a:endParaRPr lang="en-US" sz="1350" dirty="0"/>
          </a:p>
        </p:txBody>
      </p:sp>
      <p:sp>
        <p:nvSpPr>
          <p:cNvPr id="19" name="Text 16"/>
          <p:cNvSpPr/>
          <p:nvPr/>
        </p:nvSpPr>
        <p:spPr>
          <a:xfrm>
            <a:off x="7168896" y="3584448"/>
            <a:ext cx="3886200" cy="658368"/>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5B6170"/>
                </a:solidFill>
                <a:latin typeface="Inter" pitchFamily="34" charset="0"/>
                <a:ea typeface="Inter" pitchFamily="34" charset="-122"/>
                <a:cs typeface="Inter" pitchFamily="34" charset="-120"/>
              </a:rPr>
              <a:t>Decides what to charge, per request</a:t>
            </a:r>
            <a:endParaRPr lang="en-US" sz="1250" dirty="0"/>
          </a:p>
          <a:p>
            <a:pPr marL="342900" indent="-342900">
              <a:spcAft>
                <a:spcPts val="400"/>
              </a:spcAft>
              <a:buSzPct val="100000"/>
              <a:buChar char="•"/>
            </a:pPr>
            <a:r>
              <a:rPr lang="en-US" sz="1250" dirty="0">
                <a:solidFill>
                  <a:srgbClr val="5B6170"/>
                </a:solidFill>
                <a:latin typeface="Inter" pitchFamily="34" charset="0"/>
                <a:ea typeface="Inter" pitchFamily="34" charset="-122"/>
                <a:cs typeface="Inter" pitchFamily="34" charset="-120"/>
              </a:rPr>
              <a:t>Sets its own price, per request</a:t>
            </a:r>
            <a:endParaRPr lang="en-US" sz="1250" dirty="0"/>
          </a:p>
        </p:txBody>
      </p:sp>
      <p:sp>
        <p:nvSpPr>
          <p:cNvPr id="20" name="Text 17"/>
          <p:cNvSpPr/>
          <p:nvPr/>
        </p:nvSpPr>
        <p:spPr>
          <a:xfrm>
            <a:off x="7150608" y="4187952"/>
            <a:ext cx="3904488" cy="274320"/>
          </a:xfrm>
          <a:prstGeom prst="rect">
            <a:avLst/>
          </a:prstGeom>
          <a:noFill/>
          <a:ln/>
        </p:spPr>
        <p:txBody>
          <a:bodyPr wrap="square" lIns="0" tIns="0" rIns="0" bIns="0" rtlCol="0" anchor="ctr"/>
          <a:lstStyle/>
          <a:p>
            <a:pPr indent="0" marL="0">
              <a:buNone/>
            </a:pPr>
            <a:r>
              <a:rPr lang="en-US" sz="950" dirty="0">
                <a:solidFill>
                  <a:srgbClr val="5B6170"/>
                </a:solidFill>
                <a:latin typeface="JetBrains Mono" pitchFamily="34" charset="0"/>
                <a:ea typeface="JetBrains Mono" pitchFamily="34" charset="-122"/>
                <a:cs typeface="JetBrains Mono" pitchFamily="34" charset="-120"/>
              </a:rPr>
              <a:t>0x…1d2f8c28…</a:t>
            </a:r>
            <a:pPr indent="0" marL="0">
              <a:buNone/>
            </a:pPr>
            <a:r>
              <a:rPr lang="en-US" sz="950" dirty="0">
                <a:solidFill>
                  <a:srgbClr val="9AA0AE"/>
                </a:solidFill>
                <a:latin typeface="JetBrains Mono" pitchFamily="34" charset="0"/>
                <a:ea typeface="JetBrains Mono" pitchFamily="34" charset="-122"/>
                <a:cs typeface="JetBrains Mono" pitchFamily="34" charset="-120"/>
              </a:rPr>
              <a:t>   receive-only</a:t>
            </a:r>
            <a:endParaRPr lang="en-US" sz="950" dirty="0"/>
          </a:p>
        </p:txBody>
      </p:sp>
      <p:sp>
        <p:nvSpPr>
          <p:cNvPr id="21" name="Shape 18"/>
          <p:cNvSpPr/>
          <p:nvPr/>
        </p:nvSpPr>
        <p:spPr>
          <a:xfrm>
            <a:off x="5513832" y="3218688"/>
            <a:ext cx="457200" cy="0"/>
          </a:xfrm>
          <a:prstGeom prst="line">
            <a:avLst/>
          </a:prstGeom>
          <a:noFill/>
          <a:ln w="19050">
            <a:solidFill>
              <a:srgbClr val="C9CBF0"/>
            </a:solidFill>
            <a:prstDash val="dash"/>
          </a:ln>
        </p:spPr>
      </p:sp>
      <p:sp>
        <p:nvSpPr>
          <p:cNvPr id="22" name="Shape 19"/>
          <p:cNvSpPr/>
          <p:nvPr/>
        </p:nvSpPr>
        <p:spPr>
          <a:xfrm>
            <a:off x="6217920" y="3218688"/>
            <a:ext cx="457200" cy="0"/>
          </a:xfrm>
          <a:prstGeom prst="line">
            <a:avLst/>
          </a:prstGeom>
          <a:noFill/>
          <a:ln w="19050">
            <a:solidFill>
              <a:srgbClr val="C9CBF0"/>
            </a:solidFill>
            <a:prstDash val="dash"/>
          </a:ln>
        </p:spPr>
      </p:sp>
      <p:sp>
        <p:nvSpPr>
          <p:cNvPr id="23" name="Shape 20"/>
          <p:cNvSpPr/>
          <p:nvPr/>
        </p:nvSpPr>
        <p:spPr>
          <a:xfrm>
            <a:off x="5884164" y="3008376"/>
            <a:ext cx="420624" cy="420624"/>
          </a:xfrm>
          <a:prstGeom prst="ellipse">
            <a:avLst/>
          </a:prstGeom>
          <a:solidFill>
            <a:srgbClr val="FFFFFF"/>
          </a:solidFill>
          <a:ln w="15875">
            <a:solidFill>
              <a:srgbClr val="D6336C"/>
            </a:solidFill>
            <a:prstDash val="solid"/>
          </a:ln>
        </p:spPr>
      </p:sp>
      <p:sp>
        <p:nvSpPr>
          <p:cNvPr id="24" name="Text 21"/>
          <p:cNvSpPr/>
          <p:nvPr/>
        </p:nvSpPr>
        <p:spPr>
          <a:xfrm>
            <a:off x="5884164" y="3008376"/>
            <a:ext cx="420624" cy="420624"/>
          </a:xfrm>
          <a:prstGeom prst="rect">
            <a:avLst/>
          </a:prstGeom>
          <a:noFill/>
          <a:ln/>
        </p:spPr>
        <p:txBody>
          <a:bodyPr wrap="square" lIns="0" tIns="0" rIns="0" bIns="0" rtlCol="0" anchor="ctr"/>
          <a:lstStyle/>
          <a:p>
            <a:pPr algn="ctr" indent="0" marL="0">
              <a:buNone/>
            </a:pPr>
            <a:r>
              <a:rPr lang="en-US" sz="1300" b="1" dirty="0">
                <a:solidFill>
                  <a:srgbClr val="D6336C"/>
                </a:solidFill>
                <a:latin typeface="Inter" pitchFamily="34" charset="0"/>
                <a:ea typeface="Inter" pitchFamily="34" charset="-122"/>
                <a:cs typeface="Inter" pitchFamily="34" charset="-120"/>
              </a:rPr>
              <a:t>✕</a:t>
            </a:r>
            <a:endParaRPr lang="en-US" sz="1300" dirty="0"/>
          </a:p>
        </p:txBody>
      </p:sp>
      <p:sp>
        <p:nvSpPr>
          <p:cNvPr id="25" name="Text 22"/>
          <p:cNvSpPr/>
          <p:nvPr/>
        </p:nvSpPr>
        <p:spPr>
          <a:xfrm>
            <a:off x="5317236" y="3584448"/>
            <a:ext cx="1554480" cy="685800"/>
          </a:xfrm>
          <a:prstGeom prst="rect">
            <a:avLst/>
          </a:prstGeom>
          <a:noFill/>
          <a:ln/>
        </p:spPr>
        <p:txBody>
          <a:bodyPr wrap="square" lIns="0" tIns="0" rIns="0" bIns="0" rtlCol="0" anchor="ctr"/>
          <a:lstStyle/>
          <a:p>
            <a:pPr algn="ctr" indent="0" marL="0">
              <a:lnSpc>
                <a:spcPts val="1400"/>
              </a:lnSpc>
              <a:buNone/>
            </a:pPr>
            <a:r>
              <a:rPr lang="en-US" sz="950" dirty="0">
                <a:solidFill>
                  <a:srgbClr val="9AA0AE"/>
                </a:solidFill>
                <a:latin typeface="JetBrains Mono" pitchFamily="34" charset="0"/>
                <a:ea typeface="JetBrains Mono" pitchFamily="34" charset="-122"/>
                <a:cs typeface="JetBrains Mono" pitchFamily="34" charset="-120"/>
              </a:rPr>
              <a:t>no account</a:t>
            </a:r>
            <a:endParaRPr lang="en-US" sz="950" dirty="0"/>
          </a:p>
          <a:p>
            <a:pPr algn="ctr" indent="0" marL="0">
              <a:lnSpc>
                <a:spcPts val="1400"/>
              </a:lnSpc>
              <a:buNone/>
            </a:pPr>
            <a:r>
              <a:rPr lang="en-US" sz="950" dirty="0">
                <a:solidFill>
                  <a:srgbClr val="9AA0AE"/>
                </a:solidFill>
                <a:latin typeface="JetBrains Mono" pitchFamily="34" charset="0"/>
                <a:ea typeface="JetBrains Mono" pitchFamily="34" charset="-122"/>
                <a:cs typeface="JetBrains Mono" pitchFamily="34" charset="-120"/>
              </a:rPr>
              <a:t>no API key</a:t>
            </a:r>
            <a:endParaRPr lang="en-US" sz="950" dirty="0"/>
          </a:p>
          <a:p>
            <a:pPr algn="ctr" indent="0" marL="0">
              <a:lnSpc>
                <a:spcPts val="1400"/>
              </a:lnSpc>
              <a:buNone/>
            </a:pPr>
            <a:r>
              <a:rPr lang="en-US" sz="950" dirty="0">
                <a:solidFill>
                  <a:srgbClr val="9AA0AE"/>
                </a:solidFill>
                <a:latin typeface="JetBrains Mono" pitchFamily="34" charset="0"/>
                <a:ea typeface="JetBrains Mono" pitchFamily="34" charset="-122"/>
                <a:cs typeface="JetBrains Mono" pitchFamily="34" charset="-120"/>
              </a:rPr>
              <a:t>no prior contact</a:t>
            </a:r>
            <a:endParaRPr lang="en-US" sz="950" dirty="0"/>
          </a:p>
        </p:txBody>
      </p:sp>
      <p:sp>
        <p:nvSpPr>
          <p:cNvPr id="26" name="Shape 23"/>
          <p:cNvSpPr/>
          <p:nvPr/>
        </p:nvSpPr>
        <p:spPr>
          <a:xfrm>
            <a:off x="3086100" y="4754880"/>
            <a:ext cx="0" cy="365760"/>
          </a:xfrm>
          <a:prstGeom prst="line">
            <a:avLst/>
          </a:prstGeom>
          <a:noFill/>
          <a:ln w="19050">
            <a:solidFill>
              <a:srgbClr val="C9CBF0"/>
            </a:solidFill>
            <a:prstDash val="solid"/>
            <a:tailEnd type="triangle"/>
          </a:ln>
        </p:spPr>
      </p:sp>
      <p:sp>
        <p:nvSpPr>
          <p:cNvPr id="27" name="Shape 24"/>
          <p:cNvSpPr/>
          <p:nvPr/>
        </p:nvSpPr>
        <p:spPr>
          <a:xfrm>
            <a:off x="9102852" y="4754880"/>
            <a:ext cx="0" cy="365760"/>
          </a:xfrm>
          <a:prstGeom prst="line">
            <a:avLst/>
          </a:prstGeom>
          <a:noFill/>
          <a:ln w="19050">
            <a:solidFill>
              <a:srgbClr val="C9CBF0"/>
            </a:solidFill>
            <a:prstDash val="solid"/>
            <a:tailEnd type="triangle"/>
          </a:ln>
        </p:spPr>
      </p:sp>
      <p:sp>
        <p:nvSpPr>
          <p:cNvPr id="28" name="Shape 25"/>
          <p:cNvSpPr/>
          <p:nvPr/>
        </p:nvSpPr>
        <p:spPr>
          <a:xfrm>
            <a:off x="822960" y="5166360"/>
            <a:ext cx="10543032" cy="896112"/>
          </a:xfrm>
          <a:prstGeom prst="roundRect">
            <a:avLst>
              <a:gd name="adj" fmla="val 6122"/>
            </a:avLst>
          </a:prstGeom>
          <a:solidFill>
            <a:srgbClr val="0E1116"/>
          </a:solidFill>
          <a:ln/>
        </p:spPr>
      </p:sp>
      <p:sp>
        <p:nvSpPr>
          <p:cNvPr id="29" name="Text 26"/>
          <p:cNvSpPr/>
          <p:nvPr/>
        </p:nvSpPr>
        <p:spPr>
          <a:xfrm>
            <a:off x="1133856" y="5303520"/>
            <a:ext cx="4572000" cy="219456"/>
          </a:xfrm>
          <a:prstGeom prst="rect">
            <a:avLst/>
          </a:prstGeom>
          <a:noFill/>
          <a:ln/>
        </p:spPr>
        <p:txBody>
          <a:bodyPr wrap="square" lIns="0" tIns="0" rIns="0" bIns="0" rtlCol="0" anchor="ctr"/>
          <a:lstStyle/>
          <a:p>
            <a:pPr indent="0" marL="0">
              <a:buNone/>
            </a:pPr>
            <a:r>
              <a:rPr lang="en-US" sz="950" b="1" spc="140" kern="0" dirty="0">
                <a:solidFill>
                  <a:srgbClr val="8B8AF0"/>
                </a:solidFill>
                <a:latin typeface="JetBrains Mono" pitchFamily="34" charset="0"/>
                <a:ea typeface="JetBrains Mono" pitchFamily="34" charset="-122"/>
                <a:cs typeface="JetBrains Mono" pitchFamily="34" charset="-120"/>
              </a:rPr>
              <a:t>MOI VOYAGE DEVNET</a:t>
            </a:r>
            <a:endParaRPr lang="en-US" sz="950" dirty="0"/>
          </a:p>
        </p:txBody>
      </p:sp>
      <p:sp>
        <p:nvSpPr>
          <p:cNvPr id="30" name="Text 27"/>
          <p:cNvSpPr/>
          <p:nvPr/>
        </p:nvSpPr>
        <p:spPr>
          <a:xfrm>
            <a:off x="1133856" y="5559552"/>
            <a:ext cx="9921240"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Agent registry</a:t>
            </a:r>
            <a:pPr indent="0" marL="0">
              <a:buNone/>
            </a:pPr>
            <a:r>
              <a:rPr lang="en-US" sz="1250" dirty="0">
                <a:solidFill>
                  <a:srgbClr val="B9BECD"/>
                </a:solidFill>
                <a:latin typeface="Inter" pitchFamily="34" charset="0"/>
                <a:ea typeface="Inter" pitchFamily="34" charset="-122"/>
                <a:cs typeface="Inter" pitchFamily="34" charset="-120"/>
              </a:rPr>
              <a:t> — both identities, and the wallet each one registered.   ·   </a:t>
            </a:r>
            <a:pPr indent="0" marL="0">
              <a:buNone/>
            </a:pPr>
            <a:r>
              <a:rPr lang="en-US" sz="1250" b="1" dirty="0">
                <a:solidFill>
                  <a:srgbClr val="FFFFFF"/>
                </a:solidFill>
                <a:latin typeface="Inter" pitchFamily="34" charset="0"/>
                <a:ea typeface="Inter" pitchFamily="34" charset="-122"/>
                <a:cs typeface="Inter" pitchFamily="34" charset="-120"/>
              </a:rPr>
              <a:t>Native MAS0 asset</a:t>
            </a:r>
            <a:pPr indent="0" marL="0">
              <a:buNone/>
            </a:pPr>
            <a:r>
              <a:rPr lang="en-US" sz="1250" dirty="0">
                <a:solidFill>
                  <a:srgbClr val="B9BECD"/>
                </a:solidFill>
                <a:latin typeface="Inter" pitchFamily="34" charset="0"/>
                <a:ea typeface="Inter" pitchFamily="34" charset="-122"/>
                <a:cs typeface="Inter" pitchFamily="34" charset="-120"/>
              </a:rPr>
              <a:t> — what actually moves.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indent="0" marL="0">
              <a:buNone/>
            </a:pPr>
            <a:r>
              <a:rPr lang="en-US" sz="1000" b="1" spc="140" kern="0" dirty="0">
                <a:solidFill>
                  <a:srgbClr val="8B8AF0"/>
                </a:solidFill>
                <a:latin typeface="JetBrains Mono" pitchFamily="34" charset="0"/>
                <a:ea typeface="JetBrains Mono" pitchFamily="34" charset="-122"/>
                <a:cs typeface="JetBrains Mono" pitchFamily="34" charset="-120"/>
              </a:rPr>
              <a:t>MOI · BUILD 03</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algn="r" indent="0" marL="0">
              <a:buNone/>
            </a:pP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indent="0" marL="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algn="r" indent="0" marL="0">
              <a:buNone/>
            </a:pPr>
            <a:r>
              <a:rPr lang="en-US" sz="900" dirty="0">
                <a:solidFill>
                  <a:srgbClr val="6B7280"/>
                </a:solidFill>
                <a:latin typeface="JetBrains Mono" pitchFamily="34" charset="0"/>
                <a:ea typeface="JetBrains Mono" pitchFamily="34" charset="-122"/>
                <a:cs typeface="JetBrains Mono" pitchFamily="34" charset="-120"/>
              </a:rPr>
              <a:t>03 / 7</a:t>
            </a:r>
            <a:endParaRPr lang="en-US" sz="900" dirty="0"/>
          </a:p>
        </p:txBody>
      </p:sp>
      <p:sp>
        <p:nvSpPr>
          <p:cNvPr id="7" name="Shape 4"/>
          <p:cNvSpPr/>
          <p:nvPr/>
        </p:nvSpPr>
        <p:spPr>
          <a:xfrm>
            <a:off x="10314432" y="438912"/>
            <a:ext cx="1051560" cy="384048"/>
          </a:xfrm>
          <a:prstGeom prst="roundRect">
            <a:avLst>
              <a:gd name="adj" fmla="val 47619"/>
            </a:avLst>
          </a:prstGeom>
          <a:solidFill>
            <a:srgbClr val="2A1520"/>
          </a:solidFill>
          <a:ln w="12700">
            <a:solidFill>
              <a:srgbClr val="D6336C"/>
            </a:solidFill>
            <a:prstDash val="solid"/>
          </a:ln>
        </p:spPr>
      </p:sp>
      <p:sp>
        <p:nvSpPr>
          <p:cNvPr id="8" name="Shape 5"/>
          <p:cNvSpPr/>
          <p:nvPr/>
        </p:nvSpPr>
        <p:spPr>
          <a:xfrm>
            <a:off x="10497312" y="580644"/>
            <a:ext cx="100584" cy="100584"/>
          </a:xfrm>
          <a:prstGeom prst="ellipse">
            <a:avLst/>
          </a:prstGeom>
          <a:solidFill>
            <a:srgbClr val="D6336C"/>
          </a:solidFill>
          <a:ln/>
        </p:spPr>
      </p:sp>
      <p:sp>
        <p:nvSpPr>
          <p:cNvPr id="9" name="Text 6"/>
          <p:cNvSpPr/>
          <p:nvPr/>
        </p:nvSpPr>
        <p:spPr>
          <a:xfrm>
            <a:off x="10652760" y="438912"/>
            <a:ext cx="566928" cy="384048"/>
          </a:xfrm>
          <a:prstGeom prst="rect">
            <a:avLst/>
          </a:prstGeom>
          <a:noFill/>
          <a:ln/>
        </p:spPr>
        <p:txBody>
          <a:bodyPr wrap="square" lIns="0" tIns="0" rIns="0" bIns="0" rtlCol="0" anchor="ctr"/>
          <a:lstStyle/>
          <a:p>
            <a:pPr indent="0" marL="0">
              <a:buNone/>
            </a:pPr>
            <a:r>
              <a:rPr lang="en-US" sz="950" b="1" spc="120" kern="0" dirty="0">
                <a:solidFill>
                  <a:srgbClr val="D6336C"/>
                </a:solidFill>
                <a:latin typeface="JetBrains Mono" pitchFamily="34" charset="0"/>
                <a:ea typeface="JetBrains Mono" pitchFamily="34" charset="-122"/>
                <a:cs typeface="JetBrains Mono" pitchFamily="34" charset="-120"/>
              </a:rPr>
              <a:t>LIVE</a:t>
            </a:r>
            <a:endParaRPr lang="en-US" sz="950" dirty="0"/>
          </a:p>
        </p:txBody>
      </p:sp>
      <p:sp>
        <p:nvSpPr>
          <p:cNvPr id="10" name="Text 7"/>
          <p:cNvSpPr/>
          <p:nvPr/>
        </p:nvSpPr>
        <p:spPr>
          <a:xfrm>
            <a:off x="822960" y="932688"/>
            <a:ext cx="10543032" cy="658368"/>
          </a:xfrm>
          <a:prstGeom prst="rect">
            <a:avLst/>
          </a:prstGeom>
          <a:noFill/>
          <a:ln/>
        </p:spPr>
        <p:txBody>
          <a:bodyPr wrap="square" lIns="0" tIns="0" rIns="0" bIns="0" rtlCol="0" anchor="ctr"/>
          <a:lstStyle/>
          <a:p>
            <a:pPr indent="0" marL="0">
              <a:buNone/>
            </a:pPr>
            <a:r>
              <a:rPr lang="en-US" sz="3800" b="1" dirty="0">
                <a:solidFill>
                  <a:srgbClr val="FFFFFF"/>
                </a:solidFill>
                <a:latin typeface="Inter" pitchFamily="34" charset="0"/>
                <a:ea typeface="Inter" pitchFamily="34" charset="-122"/>
                <a:cs typeface="Inter" pitchFamily="34" charset="-120"/>
              </a:rPr>
              <a:t>Watch it happen</a:t>
            </a:r>
            <a:endParaRPr lang="en-US" sz="3800" dirty="0"/>
          </a:p>
        </p:txBody>
      </p:sp>
      <p:sp>
        <p:nvSpPr>
          <p:cNvPr id="11" name="Text 8"/>
          <p:cNvSpPr/>
          <p:nvPr/>
        </p:nvSpPr>
        <p:spPr>
          <a:xfrm>
            <a:off x="822960" y="1682496"/>
            <a:ext cx="10543032" cy="402336"/>
          </a:xfrm>
          <a:prstGeom prst="rect">
            <a:avLst/>
          </a:prstGeom>
          <a:noFill/>
          <a:ln/>
        </p:spPr>
        <p:txBody>
          <a:bodyPr wrap="square" lIns="0" tIns="0" rIns="0" bIns="0" rtlCol="0" anchor="ctr"/>
          <a:lstStyle/>
          <a:p>
            <a:pPr indent="0" marL="0">
              <a:buNone/>
            </a:pPr>
            <a:r>
              <a:rPr lang="en-US" sz="1450" dirty="0">
                <a:solidFill>
                  <a:srgbClr val="B9BECD"/>
                </a:solidFill>
                <a:latin typeface="Inter" pitchFamily="34" charset="0"/>
                <a:ea typeface="Inter" pitchFamily="34" charset="-122"/>
                <a:cs typeface="Inter" pitchFamily="34" charset="-120"/>
              </a:rPr>
              <a:t>Two agents, one purchase, settled on Voyage devnet — end to end.</a:t>
            </a:r>
            <a:endParaRPr lang="en-US" sz="1450" dirty="0"/>
          </a:p>
        </p:txBody>
      </p:sp>
      <p:sp>
        <p:nvSpPr>
          <p:cNvPr id="12" name="Shape 9"/>
          <p:cNvSpPr/>
          <p:nvPr/>
        </p:nvSpPr>
        <p:spPr>
          <a:xfrm>
            <a:off x="822960" y="2432304"/>
            <a:ext cx="2409444" cy="1975104"/>
          </a:xfrm>
          <a:prstGeom prst="roundRect">
            <a:avLst>
              <a:gd name="adj" fmla="val 2778"/>
            </a:avLst>
          </a:prstGeom>
          <a:solidFill>
            <a:srgbClr val="1C212B"/>
          </a:solidFill>
          <a:ln w="12700">
            <a:solidFill>
              <a:srgbClr val="363C49"/>
            </a:solidFill>
            <a:prstDash val="solid"/>
          </a:ln>
        </p:spPr>
      </p:sp>
      <p:sp>
        <p:nvSpPr>
          <p:cNvPr id="13" name="Text 10"/>
          <p:cNvSpPr/>
          <p:nvPr/>
        </p:nvSpPr>
        <p:spPr>
          <a:xfrm>
            <a:off x="1097280" y="2688336"/>
            <a:ext cx="1097280" cy="457200"/>
          </a:xfrm>
          <a:prstGeom prst="rect">
            <a:avLst/>
          </a:prstGeom>
          <a:noFill/>
          <a:ln/>
        </p:spPr>
        <p:txBody>
          <a:bodyPr wrap="square" lIns="0" tIns="0" rIns="0" bIns="0" rtlCol="0" anchor="ctr"/>
          <a:lstStyle/>
          <a:p>
            <a:pPr indent="0" marL="0">
              <a:buNone/>
            </a:pPr>
            <a:r>
              <a:rPr lang="en-US" sz="2600" b="1" dirty="0">
                <a:solidFill>
                  <a:srgbClr val="8B8AF0"/>
                </a:solidFill>
                <a:latin typeface="JetBrains Mono" pitchFamily="34" charset="0"/>
                <a:ea typeface="JetBrains Mono" pitchFamily="34" charset="-122"/>
                <a:cs typeface="JetBrains Mono" pitchFamily="34" charset="-120"/>
              </a:rPr>
              <a:t>01</a:t>
            </a:r>
            <a:endParaRPr lang="en-US" sz="2600" dirty="0"/>
          </a:p>
        </p:txBody>
      </p:sp>
      <p:sp>
        <p:nvSpPr>
          <p:cNvPr id="14" name="Text 11"/>
          <p:cNvSpPr/>
          <p:nvPr/>
        </p:nvSpPr>
        <p:spPr>
          <a:xfrm>
            <a:off x="1097280" y="3273552"/>
            <a:ext cx="1860804" cy="91440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Inter" pitchFamily="34" charset="0"/>
                <a:ea typeface="Inter" pitchFamily="34" charset="-122"/>
                <a:cs typeface="Inter" pitchFamily="34" charset="-120"/>
              </a:rPr>
              <a:t>It admits it can't answer, and scans the registry</a:t>
            </a:r>
            <a:endParaRPr lang="en-US" sz="1400" dirty="0"/>
          </a:p>
        </p:txBody>
      </p:sp>
      <p:sp>
        <p:nvSpPr>
          <p:cNvPr id="15" name="Text 12"/>
          <p:cNvSpPr/>
          <p:nvPr/>
        </p:nvSpPr>
        <p:spPr>
          <a:xfrm>
            <a:off x="3250692" y="2706624"/>
            <a:ext cx="265176" cy="365760"/>
          </a:xfrm>
          <a:prstGeom prst="rect">
            <a:avLst/>
          </a:prstGeom>
          <a:noFill/>
          <a:ln/>
        </p:spPr>
        <p:txBody>
          <a:bodyPr wrap="square" lIns="0" tIns="0" rIns="0" bIns="0" rtlCol="0" anchor="ctr"/>
          <a:lstStyle/>
          <a:p>
            <a:pPr algn="ctr" indent="0" marL="0">
              <a:buNone/>
            </a:pPr>
            <a:r>
              <a:rPr lang="en-US" sz="1300" dirty="0">
                <a:solidFill>
                  <a:srgbClr val="4A5162"/>
                </a:solidFill>
                <a:latin typeface="JetBrains Mono" pitchFamily="34" charset="0"/>
                <a:ea typeface="JetBrains Mono" pitchFamily="34" charset="-122"/>
                <a:cs typeface="JetBrains Mono" pitchFamily="34" charset="-120"/>
              </a:rPr>
              <a:t>→</a:t>
            </a:r>
            <a:endParaRPr lang="en-US" sz="1300" dirty="0"/>
          </a:p>
        </p:txBody>
      </p:sp>
      <p:sp>
        <p:nvSpPr>
          <p:cNvPr id="16" name="Shape 13"/>
          <p:cNvSpPr/>
          <p:nvPr/>
        </p:nvSpPr>
        <p:spPr>
          <a:xfrm>
            <a:off x="3534156" y="2432304"/>
            <a:ext cx="2409444" cy="1975104"/>
          </a:xfrm>
          <a:prstGeom prst="roundRect">
            <a:avLst>
              <a:gd name="adj" fmla="val 2778"/>
            </a:avLst>
          </a:prstGeom>
          <a:solidFill>
            <a:srgbClr val="1C212B"/>
          </a:solidFill>
          <a:ln w="12700">
            <a:solidFill>
              <a:srgbClr val="363C49"/>
            </a:solidFill>
            <a:prstDash val="solid"/>
          </a:ln>
        </p:spPr>
      </p:sp>
      <p:sp>
        <p:nvSpPr>
          <p:cNvPr id="17" name="Text 14"/>
          <p:cNvSpPr/>
          <p:nvPr/>
        </p:nvSpPr>
        <p:spPr>
          <a:xfrm>
            <a:off x="3808476" y="2688336"/>
            <a:ext cx="1097280" cy="457200"/>
          </a:xfrm>
          <a:prstGeom prst="rect">
            <a:avLst/>
          </a:prstGeom>
          <a:noFill/>
          <a:ln/>
        </p:spPr>
        <p:txBody>
          <a:bodyPr wrap="square" lIns="0" tIns="0" rIns="0" bIns="0" rtlCol="0" anchor="ctr"/>
          <a:lstStyle/>
          <a:p>
            <a:pPr indent="0" marL="0">
              <a:buNone/>
            </a:pPr>
            <a:r>
              <a:rPr lang="en-US" sz="2600" b="1" dirty="0">
                <a:solidFill>
                  <a:srgbClr val="8B8AF0"/>
                </a:solidFill>
                <a:latin typeface="JetBrains Mono" pitchFamily="34" charset="0"/>
                <a:ea typeface="JetBrains Mono" pitchFamily="34" charset="-122"/>
                <a:cs typeface="JetBrains Mono" pitchFamily="34" charset="-120"/>
              </a:rPr>
              <a:t>02</a:t>
            </a:r>
            <a:endParaRPr lang="en-US" sz="2600" dirty="0"/>
          </a:p>
        </p:txBody>
      </p:sp>
      <p:sp>
        <p:nvSpPr>
          <p:cNvPr id="18" name="Text 15"/>
          <p:cNvSpPr/>
          <p:nvPr/>
        </p:nvSpPr>
        <p:spPr>
          <a:xfrm>
            <a:off x="3808476" y="3273552"/>
            <a:ext cx="1860804" cy="91440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Inter" pitchFamily="34" charset="0"/>
                <a:ea typeface="Inter" pitchFamily="34" charset="-122"/>
                <a:cs typeface="Inter" pitchFamily="34" charset="-120"/>
              </a:rPr>
              <a:t>It reads the seller's skills, wallet and URL off the chain</a:t>
            </a:r>
            <a:endParaRPr lang="en-US" sz="1400" dirty="0"/>
          </a:p>
        </p:txBody>
      </p:sp>
      <p:sp>
        <p:nvSpPr>
          <p:cNvPr id="19" name="Text 16"/>
          <p:cNvSpPr/>
          <p:nvPr/>
        </p:nvSpPr>
        <p:spPr>
          <a:xfrm>
            <a:off x="5961888" y="2706624"/>
            <a:ext cx="265176" cy="365760"/>
          </a:xfrm>
          <a:prstGeom prst="rect">
            <a:avLst/>
          </a:prstGeom>
          <a:noFill/>
          <a:ln/>
        </p:spPr>
        <p:txBody>
          <a:bodyPr wrap="square" lIns="0" tIns="0" rIns="0" bIns="0" rtlCol="0" anchor="ctr"/>
          <a:lstStyle/>
          <a:p>
            <a:pPr algn="ctr" indent="0" marL="0">
              <a:buNone/>
            </a:pPr>
            <a:r>
              <a:rPr lang="en-US" sz="1300" dirty="0">
                <a:solidFill>
                  <a:srgbClr val="4A5162"/>
                </a:solidFill>
                <a:latin typeface="JetBrains Mono" pitchFamily="34" charset="0"/>
                <a:ea typeface="JetBrains Mono" pitchFamily="34" charset="-122"/>
                <a:cs typeface="JetBrains Mono" pitchFamily="34" charset="-120"/>
              </a:rPr>
              <a:t>→</a:t>
            </a:r>
            <a:endParaRPr lang="en-US" sz="1300" dirty="0"/>
          </a:p>
        </p:txBody>
      </p:sp>
      <p:sp>
        <p:nvSpPr>
          <p:cNvPr id="20" name="Shape 17"/>
          <p:cNvSpPr/>
          <p:nvPr/>
        </p:nvSpPr>
        <p:spPr>
          <a:xfrm>
            <a:off x="6245352" y="2432304"/>
            <a:ext cx="2409444" cy="1975104"/>
          </a:xfrm>
          <a:prstGeom prst="roundRect">
            <a:avLst>
              <a:gd name="adj" fmla="val 2778"/>
            </a:avLst>
          </a:prstGeom>
          <a:solidFill>
            <a:srgbClr val="1C212B"/>
          </a:solidFill>
          <a:ln w="12700">
            <a:solidFill>
              <a:srgbClr val="363C49"/>
            </a:solidFill>
            <a:prstDash val="solid"/>
          </a:ln>
        </p:spPr>
      </p:sp>
      <p:sp>
        <p:nvSpPr>
          <p:cNvPr id="21" name="Text 18"/>
          <p:cNvSpPr/>
          <p:nvPr/>
        </p:nvSpPr>
        <p:spPr>
          <a:xfrm>
            <a:off x="6519672" y="2688336"/>
            <a:ext cx="1097280" cy="457200"/>
          </a:xfrm>
          <a:prstGeom prst="rect">
            <a:avLst/>
          </a:prstGeom>
          <a:noFill/>
          <a:ln/>
        </p:spPr>
        <p:txBody>
          <a:bodyPr wrap="square" lIns="0" tIns="0" rIns="0" bIns="0" rtlCol="0" anchor="ctr"/>
          <a:lstStyle/>
          <a:p>
            <a:pPr indent="0" marL="0">
              <a:buNone/>
            </a:pPr>
            <a:r>
              <a:rPr lang="en-US" sz="2600" b="1" dirty="0">
                <a:solidFill>
                  <a:srgbClr val="8B8AF0"/>
                </a:solidFill>
                <a:latin typeface="JetBrains Mono" pitchFamily="34" charset="0"/>
                <a:ea typeface="JetBrains Mono" pitchFamily="34" charset="-122"/>
                <a:cs typeface="JetBrains Mono" pitchFamily="34" charset="-120"/>
              </a:rPr>
              <a:t>03</a:t>
            </a:r>
            <a:endParaRPr lang="en-US" sz="2600" dirty="0"/>
          </a:p>
        </p:txBody>
      </p:sp>
      <p:sp>
        <p:nvSpPr>
          <p:cNvPr id="22" name="Text 19"/>
          <p:cNvSpPr/>
          <p:nvPr/>
        </p:nvSpPr>
        <p:spPr>
          <a:xfrm>
            <a:off x="6519672" y="3273552"/>
            <a:ext cx="1860804" cy="91440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Inter" pitchFamily="34" charset="0"/>
                <a:ea typeface="Inter" pitchFamily="34" charset="-122"/>
                <a:cs typeface="Inter" pitchFamily="34" charset="-120"/>
              </a:rPr>
              <a:t>It is quoted a price — and checks who it is about to pay</a:t>
            </a:r>
            <a:endParaRPr lang="en-US" sz="1400" dirty="0"/>
          </a:p>
        </p:txBody>
      </p:sp>
      <p:sp>
        <p:nvSpPr>
          <p:cNvPr id="23" name="Text 20"/>
          <p:cNvSpPr/>
          <p:nvPr/>
        </p:nvSpPr>
        <p:spPr>
          <a:xfrm>
            <a:off x="8673084" y="2706624"/>
            <a:ext cx="265176" cy="365760"/>
          </a:xfrm>
          <a:prstGeom prst="rect">
            <a:avLst/>
          </a:prstGeom>
          <a:noFill/>
          <a:ln/>
        </p:spPr>
        <p:txBody>
          <a:bodyPr wrap="square" lIns="0" tIns="0" rIns="0" bIns="0" rtlCol="0" anchor="ctr"/>
          <a:lstStyle/>
          <a:p>
            <a:pPr algn="ctr" indent="0" marL="0">
              <a:buNone/>
            </a:pPr>
            <a:r>
              <a:rPr lang="en-US" sz="1300" dirty="0">
                <a:solidFill>
                  <a:srgbClr val="4A5162"/>
                </a:solidFill>
                <a:latin typeface="JetBrains Mono" pitchFamily="34" charset="0"/>
                <a:ea typeface="JetBrains Mono" pitchFamily="34" charset="-122"/>
                <a:cs typeface="JetBrains Mono" pitchFamily="34" charset="-120"/>
              </a:rPr>
              <a:t>→</a:t>
            </a:r>
            <a:endParaRPr lang="en-US" sz="1300" dirty="0"/>
          </a:p>
        </p:txBody>
      </p:sp>
      <p:sp>
        <p:nvSpPr>
          <p:cNvPr id="24" name="Shape 21"/>
          <p:cNvSpPr/>
          <p:nvPr/>
        </p:nvSpPr>
        <p:spPr>
          <a:xfrm>
            <a:off x="8956548" y="2432304"/>
            <a:ext cx="2409444" cy="1975104"/>
          </a:xfrm>
          <a:prstGeom prst="roundRect">
            <a:avLst>
              <a:gd name="adj" fmla="val 2778"/>
            </a:avLst>
          </a:prstGeom>
          <a:solidFill>
            <a:srgbClr val="1C212B"/>
          </a:solidFill>
          <a:ln w="12700">
            <a:solidFill>
              <a:srgbClr val="363C49"/>
            </a:solidFill>
            <a:prstDash val="solid"/>
          </a:ln>
        </p:spPr>
      </p:sp>
      <p:sp>
        <p:nvSpPr>
          <p:cNvPr id="25" name="Text 22"/>
          <p:cNvSpPr/>
          <p:nvPr/>
        </p:nvSpPr>
        <p:spPr>
          <a:xfrm>
            <a:off x="9230868" y="2688336"/>
            <a:ext cx="1097280" cy="457200"/>
          </a:xfrm>
          <a:prstGeom prst="rect">
            <a:avLst/>
          </a:prstGeom>
          <a:noFill/>
          <a:ln/>
        </p:spPr>
        <p:txBody>
          <a:bodyPr wrap="square" lIns="0" tIns="0" rIns="0" bIns="0" rtlCol="0" anchor="ctr"/>
          <a:lstStyle/>
          <a:p>
            <a:pPr indent="0" marL="0">
              <a:buNone/>
            </a:pPr>
            <a:r>
              <a:rPr lang="en-US" sz="2600" b="1" dirty="0">
                <a:solidFill>
                  <a:srgbClr val="8B8AF0"/>
                </a:solidFill>
                <a:latin typeface="JetBrains Mono" pitchFamily="34" charset="0"/>
                <a:ea typeface="JetBrains Mono" pitchFamily="34" charset="-122"/>
                <a:cs typeface="JetBrains Mono" pitchFamily="34" charset="-120"/>
              </a:rPr>
              <a:t>04</a:t>
            </a:r>
            <a:endParaRPr lang="en-US" sz="2600" dirty="0"/>
          </a:p>
        </p:txBody>
      </p:sp>
      <p:sp>
        <p:nvSpPr>
          <p:cNvPr id="26" name="Text 23"/>
          <p:cNvSpPr/>
          <p:nvPr/>
        </p:nvSpPr>
        <p:spPr>
          <a:xfrm>
            <a:off x="9230868" y="3273552"/>
            <a:ext cx="1860804" cy="91440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Inter" pitchFamily="34" charset="0"/>
                <a:ea typeface="Inter" pitchFamily="34" charset="-122"/>
                <a:cs typeface="Inter" pitchFamily="34" charset="-120"/>
              </a:rPr>
              <a:t>It pays, and the seller verifies that itself</a:t>
            </a:r>
            <a:endParaRPr lang="en-US" sz="1400" dirty="0"/>
          </a:p>
        </p:txBody>
      </p:sp>
      <p:sp>
        <p:nvSpPr>
          <p:cNvPr id="27" name="Shape 24"/>
          <p:cNvSpPr/>
          <p:nvPr/>
        </p:nvSpPr>
        <p:spPr>
          <a:xfrm>
            <a:off x="822960" y="4828032"/>
            <a:ext cx="10543032" cy="868680"/>
          </a:xfrm>
          <a:prstGeom prst="roundRect">
            <a:avLst>
              <a:gd name="adj" fmla="val 6316"/>
            </a:avLst>
          </a:prstGeom>
          <a:solidFill>
            <a:srgbClr val="1A1119"/>
          </a:solidFill>
          <a:ln w="12700">
            <a:solidFill>
              <a:srgbClr val="D6336C"/>
            </a:solidFill>
            <a:prstDash val="solid"/>
          </a:ln>
        </p:spPr>
      </p:sp>
      <p:sp>
        <p:nvSpPr>
          <p:cNvPr id="28" name="Shape 25"/>
          <p:cNvSpPr/>
          <p:nvPr/>
        </p:nvSpPr>
        <p:spPr>
          <a:xfrm>
            <a:off x="1152144" y="5084064"/>
            <a:ext cx="365760" cy="365760"/>
          </a:xfrm>
          <a:prstGeom prst="ellipse">
            <a:avLst/>
          </a:prstGeom>
          <a:solidFill>
            <a:srgbClr val="2A1520"/>
          </a:solidFill>
          <a:ln w="12700">
            <a:solidFill>
              <a:srgbClr val="D6336C"/>
            </a:solidFill>
            <a:prstDash val="solid"/>
          </a:ln>
        </p:spPr>
      </p:sp>
      <p:sp>
        <p:nvSpPr>
          <p:cNvPr id="29" name="Text 26"/>
          <p:cNvSpPr/>
          <p:nvPr/>
        </p:nvSpPr>
        <p:spPr>
          <a:xfrm>
            <a:off x="1152144" y="5084064"/>
            <a:ext cx="365760" cy="365760"/>
          </a:xfrm>
          <a:prstGeom prst="rect">
            <a:avLst/>
          </a:prstGeom>
          <a:noFill/>
          <a:ln/>
        </p:spPr>
        <p:txBody>
          <a:bodyPr wrap="square" lIns="0" tIns="0" rIns="0" bIns="0" rtlCol="0" anchor="ctr"/>
          <a:lstStyle/>
          <a:p>
            <a:pPr algn="ctr" indent="0" marL="0">
              <a:buNone/>
            </a:pPr>
            <a:r>
              <a:rPr lang="en-US" sz="1200" b="1" dirty="0">
                <a:solidFill>
                  <a:srgbClr val="D6336C"/>
                </a:solidFill>
                <a:latin typeface="Inter" pitchFamily="34" charset="0"/>
                <a:ea typeface="Inter" pitchFamily="34" charset="-122"/>
                <a:cs typeface="Inter" pitchFamily="34" charset="-120"/>
              </a:rPr>
              <a:t>✕</a:t>
            </a:r>
            <a:endParaRPr lang="en-US" sz="1200" dirty="0"/>
          </a:p>
        </p:txBody>
      </p:sp>
      <p:sp>
        <p:nvSpPr>
          <p:cNvPr id="30" name="Text 27"/>
          <p:cNvSpPr/>
          <p:nvPr/>
        </p:nvSpPr>
        <p:spPr>
          <a:xfrm>
            <a:off x="1691640" y="4828032"/>
            <a:ext cx="6400800" cy="868680"/>
          </a:xfrm>
          <a:prstGeom prst="rect">
            <a:avLst/>
          </a:prstGeom>
          <a:noFill/>
          <a:ln/>
        </p:spPr>
        <p:txBody>
          <a:bodyPr wrap="square" lIns="0" tIns="0" rIns="0" bIns="0" rtlCol="0" anchor="ctr"/>
          <a:lstStyle/>
          <a:p>
            <a:pPr indent="0" marL="0">
              <a:buNone/>
            </a:pPr>
            <a:r>
              <a:rPr lang="en-US" sz="1700" b="1" dirty="0">
                <a:solidFill>
                  <a:srgbClr val="D6336C"/>
                </a:solidFill>
                <a:latin typeface="Inter" pitchFamily="34" charset="0"/>
                <a:ea typeface="Inter" pitchFamily="34" charset="-122"/>
                <a:cs typeface="Inter" pitchFamily="34" charset="-120"/>
              </a:rPr>
              <a:t>then I break it, and the agent refuses</a:t>
            </a:r>
            <a:endParaRPr lang="en-US" sz="1700" dirty="0"/>
          </a:p>
        </p:txBody>
      </p:sp>
      <p:sp>
        <p:nvSpPr>
          <p:cNvPr id="31" name="Text 28"/>
          <p:cNvSpPr/>
          <p:nvPr/>
        </p:nvSpPr>
        <p:spPr>
          <a:xfrm>
            <a:off x="7434072" y="4828032"/>
            <a:ext cx="3566160" cy="868680"/>
          </a:xfrm>
          <a:prstGeom prst="rect">
            <a:avLst/>
          </a:prstGeom>
          <a:noFill/>
          <a:ln/>
        </p:spPr>
        <p:txBody>
          <a:bodyPr wrap="square" lIns="0" tIns="0" rIns="0" bIns="0" rtlCol="0" anchor="ctr"/>
          <a:lstStyle/>
          <a:p>
            <a:pPr algn="r" indent="0" marL="0">
              <a:buNone/>
            </a:pPr>
            <a:r>
              <a:rPr lang="en-US" sz="1100" dirty="0">
                <a:solidFill>
                  <a:srgbClr val="9AA0AE"/>
                </a:solidFill>
                <a:latin typeface="JetBrains Mono" pitchFamily="34" charset="0"/>
                <a:ea typeface="JetBrains Mono" pitchFamily="34" charset="-122"/>
                <a:cs typeface="JetBrains Mono" pitchFamily="34" charset="-120"/>
              </a:rPr>
              <a:t>no transaction is ever built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indent="0" marL="0">
              <a:buNone/>
            </a:pPr>
            <a:r>
              <a:rPr lang="en-US" sz="1000" b="1" spc="140" kern="0" dirty="0">
                <a:solidFill>
                  <a:srgbClr val="8B8AF0"/>
                </a:solidFill>
                <a:latin typeface="JetBrains Mono" pitchFamily="34" charset="0"/>
                <a:ea typeface="JetBrains Mono" pitchFamily="34" charset="-122"/>
                <a:cs typeface="JetBrains Mono" pitchFamily="34" charset="-120"/>
              </a:rPr>
              <a:t>MOI · BUILD 04</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algn="r" indent="0" marL="0">
              <a:buNone/>
            </a:pPr>
            <a:r>
              <a:rPr lang="en-US" sz="1000" spc="140" kern="0" dirty="0">
                <a:solidFill>
                  <a:srgbClr val="9AA0AE"/>
                </a:solidFill>
                <a:latin typeface="JetBrains Mono" pitchFamily="34" charset="0"/>
                <a:ea typeface="JetBrains Mono" pitchFamily="34" charset="-122"/>
                <a:cs typeface="JetBrains Mono" pitchFamily="34" charset="-120"/>
              </a:rPr>
              <a:t>THE CODE</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indent="0" marL="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algn="r" indent="0" marL="0">
              <a:buNone/>
            </a:pPr>
            <a:r>
              <a:rPr lang="en-US" sz="900" dirty="0">
                <a:solidFill>
                  <a:srgbClr val="6B7280"/>
                </a:solidFill>
                <a:latin typeface="JetBrains Mono" pitchFamily="34" charset="0"/>
                <a:ea typeface="JetBrains Mono" pitchFamily="34" charset="-122"/>
                <a:cs typeface="JetBrains Mono" pitchFamily="34" charset="-120"/>
              </a:rPr>
              <a:t>04 / 7</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indent="0" marL="0">
              <a:buNone/>
            </a:pPr>
            <a:r>
              <a:rPr lang="en-US" sz="3800" b="1" dirty="0">
                <a:solidFill>
                  <a:srgbClr val="FFFFFF"/>
                </a:solidFill>
                <a:latin typeface="Inter" pitchFamily="34" charset="0"/>
                <a:ea typeface="Inter" pitchFamily="34" charset="-122"/>
                <a:cs typeface="Inter" pitchFamily="34" charset="-120"/>
              </a:rPr>
              <a:t>Four files</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indent="0" marL="0">
              <a:buNone/>
            </a:pPr>
            <a:r>
              <a:rPr lang="en-US" sz="1450" dirty="0">
                <a:solidFill>
                  <a:srgbClr val="B9BECD"/>
                </a:solidFill>
                <a:latin typeface="Inter" pitchFamily="34" charset="0"/>
                <a:ea typeface="Inter" pitchFamily="34" charset="-122"/>
                <a:cs typeface="Inter" pitchFamily="34" charset="-120"/>
              </a:rPr>
              <a:t>Everything that makes the payment safe lives in these — and nowhere else.</a:t>
            </a:r>
            <a:endParaRPr lang="en-US" sz="1450" dirty="0"/>
          </a:p>
        </p:txBody>
      </p:sp>
      <p:sp>
        <p:nvSpPr>
          <p:cNvPr id="9" name="Shape 6"/>
          <p:cNvSpPr/>
          <p:nvPr/>
        </p:nvSpPr>
        <p:spPr>
          <a:xfrm>
            <a:off x="822960" y="2395728"/>
            <a:ext cx="5042916" cy="1572768"/>
          </a:xfrm>
          <a:prstGeom prst="roundRect">
            <a:avLst>
              <a:gd name="adj" fmla="val 3488"/>
            </a:avLst>
          </a:prstGeom>
          <a:solidFill>
            <a:srgbClr val="1C212B"/>
          </a:solidFill>
          <a:ln w="12700">
            <a:solidFill>
              <a:srgbClr val="363C49"/>
            </a:solidFill>
            <a:prstDash val="solid"/>
          </a:ln>
        </p:spPr>
      </p:sp>
      <p:sp>
        <p:nvSpPr>
          <p:cNvPr id="10" name="Text 7"/>
          <p:cNvSpPr/>
          <p:nvPr/>
        </p:nvSpPr>
        <p:spPr>
          <a:xfrm>
            <a:off x="4951476" y="2633472"/>
            <a:ext cx="640080" cy="237744"/>
          </a:xfrm>
          <a:prstGeom prst="rect">
            <a:avLst/>
          </a:prstGeom>
          <a:noFill/>
          <a:ln/>
        </p:spPr>
        <p:txBody>
          <a:bodyPr wrap="square" lIns="0" tIns="0" rIns="0" bIns="0" rtlCol="0" anchor="ctr"/>
          <a:lstStyle/>
          <a:p>
            <a:pPr algn="r" indent="0" marL="0">
              <a:buNone/>
            </a:pPr>
            <a:r>
              <a:rPr lang="en-US" sz="1000" dirty="0">
                <a:solidFill>
                  <a:srgbClr val="3A404D"/>
                </a:solidFill>
                <a:latin typeface="JetBrains Mono" pitchFamily="34" charset="0"/>
                <a:ea typeface="JetBrains Mono" pitchFamily="34" charset="-122"/>
                <a:cs typeface="JetBrains Mono" pitchFamily="34" charset="-120"/>
              </a:rPr>
              <a:t>01</a:t>
            </a:r>
            <a:endParaRPr lang="en-US" sz="1000" dirty="0"/>
          </a:p>
        </p:txBody>
      </p:sp>
      <p:sp>
        <p:nvSpPr>
          <p:cNvPr id="11" name="Text 8"/>
          <p:cNvSpPr/>
          <p:nvPr/>
        </p:nvSpPr>
        <p:spPr>
          <a:xfrm>
            <a:off x="1152144" y="2724912"/>
            <a:ext cx="3854196" cy="384048"/>
          </a:xfrm>
          <a:prstGeom prst="rect">
            <a:avLst/>
          </a:prstGeom>
          <a:noFill/>
          <a:ln/>
        </p:spPr>
        <p:txBody>
          <a:bodyPr wrap="square" lIns="0" tIns="0" rIns="0" bIns="0" rtlCol="0" anchor="ctr"/>
          <a:lstStyle/>
          <a:p>
            <a:pPr indent="0" marL="0">
              <a:buNone/>
            </a:pPr>
            <a:r>
              <a:rPr lang="en-US" sz="1800" b="1" dirty="0">
                <a:solidFill>
                  <a:srgbClr val="FFFFFF"/>
                </a:solidFill>
                <a:latin typeface="JetBrains Mono" pitchFamily="34" charset="0"/>
                <a:ea typeface="JetBrains Mono" pitchFamily="34" charset="-122"/>
                <a:cs typeface="JetBrains Mono" pitchFamily="34" charset="-120"/>
              </a:rPr>
              <a:t>payment-proof.ts</a:t>
            </a:r>
            <a:endParaRPr lang="en-US" sz="1800" dirty="0"/>
          </a:p>
        </p:txBody>
      </p:sp>
      <p:sp>
        <p:nvSpPr>
          <p:cNvPr id="12" name="Text 9"/>
          <p:cNvSpPr/>
          <p:nvPr/>
        </p:nvSpPr>
        <p:spPr>
          <a:xfrm>
            <a:off x="1152144" y="3236976"/>
            <a:ext cx="4384548" cy="548640"/>
          </a:xfrm>
          <a:prstGeom prst="rect">
            <a:avLst/>
          </a:prstGeom>
          <a:noFill/>
          <a:ln/>
        </p:spPr>
        <p:txBody>
          <a:bodyPr wrap="square" lIns="0" tIns="0" rIns="0" bIns="0" rtlCol="0" anchor="ctr"/>
          <a:lstStyle/>
          <a:p>
            <a:pPr indent="0" marL="0">
              <a:lnSpc>
                <a:spcPts val="2000"/>
              </a:lnSpc>
              <a:buNone/>
            </a:pPr>
            <a:r>
              <a:rPr lang="en-US" sz="1400" dirty="0">
                <a:solidFill>
                  <a:srgbClr val="B9BECD"/>
                </a:solidFill>
                <a:latin typeface="Inter" pitchFamily="34" charset="0"/>
                <a:ea typeface="Inter" pitchFamily="34" charset="-122"/>
                <a:cs typeface="Inter" pitchFamily="34" charset="-120"/>
              </a:rPr>
              <a:t>the whole wire format — a quote, and a signed claim</a:t>
            </a:r>
            <a:endParaRPr lang="en-US" sz="1400" dirty="0"/>
          </a:p>
        </p:txBody>
      </p:sp>
      <p:sp>
        <p:nvSpPr>
          <p:cNvPr id="13" name="Shape 10"/>
          <p:cNvSpPr/>
          <p:nvPr/>
        </p:nvSpPr>
        <p:spPr>
          <a:xfrm>
            <a:off x="6323076" y="2395728"/>
            <a:ext cx="5042916" cy="1572768"/>
          </a:xfrm>
          <a:prstGeom prst="roundRect">
            <a:avLst>
              <a:gd name="adj" fmla="val 3488"/>
            </a:avLst>
          </a:prstGeom>
          <a:solidFill>
            <a:srgbClr val="10221B"/>
          </a:solidFill>
          <a:ln w="15875">
            <a:solidFill>
              <a:srgbClr val="3CCB8E"/>
            </a:solidFill>
            <a:prstDash val="solid"/>
          </a:ln>
        </p:spPr>
      </p:sp>
      <p:sp>
        <p:nvSpPr>
          <p:cNvPr id="14" name="Text 11"/>
          <p:cNvSpPr/>
          <p:nvPr/>
        </p:nvSpPr>
        <p:spPr>
          <a:xfrm>
            <a:off x="10451592" y="2633472"/>
            <a:ext cx="640080" cy="237744"/>
          </a:xfrm>
          <a:prstGeom prst="rect">
            <a:avLst/>
          </a:prstGeom>
          <a:noFill/>
          <a:ln/>
        </p:spPr>
        <p:txBody>
          <a:bodyPr wrap="square" lIns="0" tIns="0" rIns="0" bIns="0" rtlCol="0" anchor="ctr"/>
          <a:lstStyle/>
          <a:p>
            <a:pPr algn="r" indent="0" marL="0">
              <a:buNone/>
            </a:pPr>
            <a:r>
              <a:rPr lang="en-US" sz="1000" dirty="0">
                <a:solidFill>
                  <a:srgbClr val="3CCB8E"/>
                </a:solidFill>
                <a:latin typeface="JetBrains Mono" pitchFamily="34" charset="0"/>
                <a:ea typeface="JetBrains Mono" pitchFamily="34" charset="-122"/>
                <a:cs typeface="JetBrains Mono" pitchFamily="34" charset="-120"/>
              </a:rPr>
              <a:t>02</a:t>
            </a:r>
            <a:endParaRPr lang="en-US" sz="1000" dirty="0"/>
          </a:p>
        </p:txBody>
      </p:sp>
      <p:sp>
        <p:nvSpPr>
          <p:cNvPr id="15" name="Text 12"/>
          <p:cNvSpPr/>
          <p:nvPr/>
        </p:nvSpPr>
        <p:spPr>
          <a:xfrm>
            <a:off x="6652260" y="2724912"/>
            <a:ext cx="3854196" cy="384048"/>
          </a:xfrm>
          <a:prstGeom prst="rect">
            <a:avLst/>
          </a:prstGeom>
          <a:noFill/>
          <a:ln/>
        </p:spPr>
        <p:txBody>
          <a:bodyPr wrap="square" lIns="0" tIns="0" rIns="0" bIns="0" rtlCol="0" anchor="ctr"/>
          <a:lstStyle/>
          <a:p>
            <a:pPr indent="0" marL="0">
              <a:buNone/>
            </a:pPr>
            <a:r>
              <a:rPr lang="en-US" sz="1800" b="1" dirty="0">
                <a:solidFill>
                  <a:srgbClr val="3CCB8E"/>
                </a:solidFill>
                <a:latin typeface="JetBrains Mono" pitchFamily="34" charset="0"/>
                <a:ea typeface="JetBrains Mono" pitchFamily="34" charset="-122"/>
                <a:cs typeface="JetBrains Mono" pitchFamily="34" charset="-120"/>
              </a:rPr>
              <a:t>identity-check.ts</a:t>
            </a:r>
            <a:endParaRPr lang="en-US" sz="1800" dirty="0"/>
          </a:p>
        </p:txBody>
      </p:sp>
      <p:sp>
        <p:nvSpPr>
          <p:cNvPr id="16" name="Text 13"/>
          <p:cNvSpPr/>
          <p:nvPr/>
        </p:nvSpPr>
        <p:spPr>
          <a:xfrm>
            <a:off x="6652260" y="3236976"/>
            <a:ext cx="4384548" cy="548640"/>
          </a:xfrm>
          <a:prstGeom prst="rect">
            <a:avLst/>
          </a:prstGeom>
          <a:noFill/>
          <a:ln/>
        </p:spPr>
        <p:txBody>
          <a:bodyPr wrap="square" lIns="0" tIns="0" rIns="0" bIns="0" rtlCol="0" anchor="ctr"/>
          <a:lstStyle/>
          <a:p>
            <a:pPr indent="0" marL="0">
              <a:lnSpc>
                <a:spcPts val="2000"/>
              </a:lnSpc>
              <a:buNone/>
            </a:pPr>
            <a:r>
              <a:rPr lang="en-US" sz="1400" dirty="0">
                <a:solidFill>
                  <a:srgbClr val="B9BECD"/>
                </a:solidFill>
                <a:latin typeface="Inter" pitchFamily="34" charset="0"/>
                <a:ea typeface="Inter" pitchFamily="34" charset="-122"/>
                <a:cs typeface="Inter" pitchFamily="34" charset="-120"/>
              </a:rPr>
              <a:t>42 lines. this is the session.</a:t>
            </a:r>
            <a:endParaRPr lang="en-US" sz="1400" dirty="0"/>
          </a:p>
        </p:txBody>
      </p:sp>
      <p:sp>
        <p:nvSpPr>
          <p:cNvPr id="17" name="Shape 14"/>
          <p:cNvSpPr/>
          <p:nvPr/>
        </p:nvSpPr>
        <p:spPr>
          <a:xfrm>
            <a:off x="822960" y="4279392"/>
            <a:ext cx="5042916" cy="1572768"/>
          </a:xfrm>
          <a:prstGeom prst="roundRect">
            <a:avLst>
              <a:gd name="adj" fmla="val 3488"/>
            </a:avLst>
          </a:prstGeom>
          <a:solidFill>
            <a:srgbClr val="1C212B"/>
          </a:solidFill>
          <a:ln w="12700">
            <a:solidFill>
              <a:srgbClr val="363C49"/>
            </a:solidFill>
            <a:prstDash val="solid"/>
          </a:ln>
        </p:spPr>
      </p:sp>
      <p:sp>
        <p:nvSpPr>
          <p:cNvPr id="18" name="Text 15"/>
          <p:cNvSpPr/>
          <p:nvPr/>
        </p:nvSpPr>
        <p:spPr>
          <a:xfrm>
            <a:off x="4951476" y="4517136"/>
            <a:ext cx="640080" cy="237744"/>
          </a:xfrm>
          <a:prstGeom prst="rect">
            <a:avLst/>
          </a:prstGeom>
          <a:noFill/>
          <a:ln/>
        </p:spPr>
        <p:txBody>
          <a:bodyPr wrap="square" lIns="0" tIns="0" rIns="0" bIns="0" rtlCol="0" anchor="ctr"/>
          <a:lstStyle/>
          <a:p>
            <a:pPr algn="r" indent="0" marL="0">
              <a:buNone/>
            </a:pPr>
            <a:r>
              <a:rPr lang="en-US" sz="1000" dirty="0">
                <a:solidFill>
                  <a:srgbClr val="3A404D"/>
                </a:solidFill>
                <a:latin typeface="JetBrains Mono" pitchFamily="34" charset="0"/>
                <a:ea typeface="JetBrains Mono" pitchFamily="34" charset="-122"/>
                <a:cs typeface="JetBrains Mono" pitchFamily="34" charset="-120"/>
              </a:rPr>
              <a:t>03</a:t>
            </a:r>
            <a:endParaRPr lang="en-US" sz="1000" dirty="0"/>
          </a:p>
        </p:txBody>
      </p:sp>
      <p:sp>
        <p:nvSpPr>
          <p:cNvPr id="19" name="Text 16"/>
          <p:cNvSpPr/>
          <p:nvPr/>
        </p:nvSpPr>
        <p:spPr>
          <a:xfrm>
            <a:off x="1152144" y="4608576"/>
            <a:ext cx="3854196" cy="384048"/>
          </a:xfrm>
          <a:prstGeom prst="rect">
            <a:avLst/>
          </a:prstGeom>
          <a:noFill/>
          <a:ln/>
        </p:spPr>
        <p:txBody>
          <a:bodyPr wrap="square" lIns="0" tIns="0" rIns="0" bIns="0" rtlCol="0" anchor="ctr"/>
          <a:lstStyle/>
          <a:p>
            <a:pPr indent="0" marL="0">
              <a:buNone/>
            </a:pPr>
            <a:r>
              <a:rPr lang="en-US" sz="1800" b="1" dirty="0">
                <a:solidFill>
                  <a:srgbClr val="FFFFFF"/>
                </a:solidFill>
                <a:latin typeface="JetBrains Mono" pitchFamily="34" charset="0"/>
                <a:ea typeface="JetBrains Mono" pitchFamily="34" charset="-122"/>
                <a:cs typeface="JetBrains Mono" pitchFamily="34" charset="-120"/>
              </a:rPr>
              <a:t>verify-proof.ts</a:t>
            </a:r>
            <a:endParaRPr lang="en-US" sz="1800" dirty="0"/>
          </a:p>
        </p:txBody>
      </p:sp>
      <p:sp>
        <p:nvSpPr>
          <p:cNvPr id="20" name="Text 17"/>
          <p:cNvSpPr/>
          <p:nvPr/>
        </p:nvSpPr>
        <p:spPr>
          <a:xfrm>
            <a:off x="1152144" y="5120640"/>
            <a:ext cx="4384548" cy="548640"/>
          </a:xfrm>
          <a:prstGeom prst="rect">
            <a:avLst/>
          </a:prstGeom>
          <a:noFill/>
          <a:ln/>
        </p:spPr>
        <p:txBody>
          <a:bodyPr wrap="square" lIns="0" tIns="0" rIns="0" bIns="0" rtlCol="0" anchor="ctr"/>
          <a:lstStyle/>
          <a:p>
            <a:pPr indent="0" marL="0">
              <a:lnSpc>
                <a:spcPts val="2000"/>
              </a:lnSpc>
              <a:buNone/>
            </a:pPr>
            <a:r>
              <a:rPr lang="en-US" sz="1400" dirty="0">
                <a:solidFill>
                  <a:srgbClr val="B9BECD"/>
                </a:solidFill>
                <a:latin typeface="Inter" pitchFamily="34" charset="0"/>
                <a:ea typeface="Inter" pitchFamily="34" charset="-122"/>
                <a:cs typeface="Inter" pitchFamily="34" charset="-120"/>
              </a:rPr>
              <a:t>the seller's seven checks, all read-only</a:t>
            </a:r>
            <a:endParaRPr lang="en-US" sz="1400" dirty="0"/>
          </a:p>
        </p:txBody>
      </p:sp>
      <p:sp>
        <p:nvSpPr>
          <p:cNvPr id="21" name="Shape 18"/>
          <p:cNvSpPr/>
          <p:nvPr/>
        </p:nvSpPr>
        <p:spPr>
          <a:xfrm>
            <a:off x="6323076" y="4279392"/>
            <a:ext cx="5042916" cy="1572768"/>
          </a:xfrm>
          <a:prstGeom prst="roundRect">
            <a:avLst>
              <a:gd name="adj" fmla="val 3488"/>
            </a:avLst>
          </a:prstGeom>
          <a:solidFill>
            <a:srgbClr val="1C212B"/>
          </a:solidFill>
          <a:ln w="12700">
            <a:solidFill>
              <a:srgbClr val="363C49"/>
            </a:solidFill>
            <a:prstDash val="solid"/>
          </a:ln>
        </p:spPr>
      </p:sp>
      <p:sp>
        <p:nvSpPr>
          <p:cNvPr id="22" name="Text 19"/>
          <p:cNvSpPr/>
          <p:nvPr/>
        </p:nvSpPr>
        <p:spPr>
          <a:xfrm>
            <a:off x="10451592" y="4517136"/>
            <a:ext cx="640080" cy="237744"/>
          </a:xfrm>
          <a:prstGeom prst="rect">
            <a:avLst/>
          </a:prstGeom>
          <a:noFill/>
          <a:ln/>
        </p:spPr>
        <p:txBody>
          <a:bodyPr wrap="square" lIns="0" tIns="0" rIns="0" bIns="0" rtlCol="0" anchor="ctr"/>
          <a:lstStyle/>
          <a:p>
            <a:pPr algn="r" indent="0" marL="0">
              <a:buNone/>
            </a:pPr>
            <a:r>
              <a:rPr lang="en-US" sz="1000" dirty="0">
                <a:solidFill>
                  <a:srgbClr val="3A404D"/>
                </a:solidFill>
                <a:latin typeface="JetBrains Mono" pitchFamily="34" charset="0"/>
                <a:ea typeface="JetBrains Mono" pitchFamily="34" charset="-122"/>
                <a:cs typeface="JetBrains Mono" pitchFamily="34" charset="-120"/>
              </a:rPr>
              <a:t>04</a:t>
            </a:r>
            <a:endParaRPr lang="en-US" sz="1000" dirty="0"/>
          </a:p>
        </p:txBody>
      </p:sp>
      <p:sp>
        <p:nvSpPr>
          <p:cNvPr id="23" name="Text 20"/>
          <p:cNvSpPr/>
          <p:nvPr/>
        </p:nvSpPr>
        <p:spPr>
          <a:xfrm>
            <a:off x="6652260" y="4608576"/>
            <a:ext cx="3854196" cy="384048"/>
          </a:xfrm>
          <a:prstGeom prst="rect">
            <a:avLst/>
          </a:prstGeom>
          <a:noFill/>
          <a:ln/>
        </p:spPr>
        <p:txBody>
          <a:bodyPr wrap="square" lIns="0" tIns="0" rIns="0" bIns="0" rtlCol="0" anchor="ctr"/>
          <a:lstStyle/>
          <a:p>
            <a:pPr indent="0" marL="0">
              <a:buNone/>
            </a:pPr>
            <a:r>
              <a:rPr lang="en-US" sz="1800" b="1" dirty="0">
                <a:solidFill>
                  <a:srgbClr val="FFFFFF"/>
                </a:solidFill>
                <a:latin typeface="JetBrains Mono" pitchFamily="34" charset="0"/>
                <a:ea typeface="JetBrains Mono" pitchFamily="34" charset="-122"/>
                <a:cs typeface="JetBrains Mono" pitchFamily="34" charset="-120"/>
              </a:rPr>
              <a:t>pricing.ts + worth.ts</a:t>
            </a:r>
            <a:endParaRPr lang="en-US" sz="1800" dirty="0"/>
          </a:p>
        </p:txBody>
      </p:sp>
      <p:sp>
        <p:nvSpPr>
          <p:cNvPr id="24" name="Text 21"/>
          <p:cNvSpPr/>
          <p:nvPr/>
        </p:nvSpPr>
        <p:spPr>
          <a:xfrm>
            <a:off x="6652260" y="5120640"/>
            <a:ext cx="4384548" cy="548640"/>
          </a:xfrm>
          <a:prstGeom prst="rect">
            <a:avLst/>
          </a:prstGeom>
          <a:noFill/>
          <a:ln/>
        </p:spPr>
        <p:txBody>
          <a:bodyPr wrap="square" lIns="0" tIns="0" rIns="0" bIns="0" rtlCol="0" anchor="ctr"/>
          <a:lstStyle/>
          <a:p>
            <a:pPr indent="0" marL="0">
              <a:lnSpc>
                <a:spcPts val="2000"/>
              </a:lnSpc>
              <a:buNone/>
            </a:pPr>
            <a:r>
              <a:rPr lang="en-US" sz="1400" dirty="0">
                <a:solidFill>
                  <a:srgbClr val="B9BECD"/>
                </a:solidFill>
                <a:latin typeface="Inter" pitchFamily="34" charset="0"/>
                <a:ea typeface="Inter" pitchFamily="34" charset="-122"/>
                <a:cs typeface="Inter" pitchFamily="34" charset="-120"/>
              </a:rPr>
              <a:t>what each agent decides — and what it is not allowed to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indent="0" marL="0">
              <a:buNone/>
            </a:pPr>
            <a:r>
              <a:rPr lang="en-US" sz="1000" b="1" spc="140" kern="0" dirty="0">
                <a:solidFill>
                  <a:srgbClr val="2D2BB6"/>
                </a:solidFill>
                <a:latin typeface="JetBrains Mono" pitchFamily="34" charset="0"/>
                <a:ea typeface="JetBrains Mono" pitchFamily="34" charset="-122"/>
                <a:cs typeface="JetBrains Mono" pitchFamily="34" charset="-120"/>
              </a:rPr>
              <a:t>MOI · BUILD 05</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algn="r" indent="0" marL="0">
              <a:buNone/>
            </a:pPr>
            <a:r>
              <a:rPr lang="en-US" sz="1000" spc="140" kern="0" dirty="0">
                <a:solidFill>
                  <a:srgbClr val="5B6170"/>
                </a:solidFill>
                <a:latin typeface="JetBrains Mono" pitchFamily="34" charset="0"/>
                <a:ea typeface="JetBrains Mono" pitchFamily="34" charset="-122"/>
                <a:cs typeface="JetBrains Mono" pitchFamily="34" charset="-120"/>
              </a:rPr>
              <a:t>WHAT'S MISSING</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indent="0" marL="0">
              <a:buNone/>
            </a:pPr>
            <a:r>
              <a:rPr lang="en-US" sz="900" dirty="0">
                <a:solidFill>
                  <a:srgbClr val="9AA0AE"/>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algn="r" indent="0" marL="0">
              <a:buNone/>
            </a:pPr>
            <a:r>
              <a:rPr lang="en-US" sz="900" dirty="0">
                <a:solidFill>
                  <a:srgbClr val="9AA0AE"/>
                </a:solidFill>
                <a:latin typeface="JetBrains Mono" pitchFamily="34" charset="0"/>
                <a:ea typeface="JetBrains Mono" pitchFamily="34" charset="-122"/>
                <a:cs typeface="JetBrains Mono" pitchFamily="34" charset="-120"/>
              </a:rPr>
              <a:t>05 / 7</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indent="0" marL="0">
              <a:buNone/>
            </a:pPr>
            <a:r>
              <a:rPr lang="en-US" sz="3800" b="1" dirty="0">
                <a:solidFill>
                  <a:srgbClr val="0E1116"/>
                </a:solidFill>
                <a:latin typeface="Inter" pitchFamily="34" charset="0"/>
                <a:ea typeface="Inter" pitchFamily="34" charset="-122"/>
                <a:cs typeface="Inter" pitchFamily="34" charset="-120"/>
              </a:rPr>
              <a:t>Every guardrail here is self-imposed</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indent="0" marL="0">
              <a:buNone/>
            </a:pPr>
            <a:r>
              <a:rPr lang="en-US" sz="1450" dirty="0">
                <a:solidFill>
                  <a:srgbClr val="5B6170"/>
                </a:solidFill>
                <a:latin typeface="Inter" pitchFamily="34" charset="0"/>
                <a:ea typeface="Inter" pitchFamily="34" charset="-122"/>
                <a:cs typeface="Inter" pitchFamily="34" charset="-120"/>
              </a:rPr>
              <a:t>The buyer refuses anything over 6. That limit is a constant in its own source.</a:t>
            </a:r>
            <a:endParaRPr lang="en-US" sz="1450" dirty="0"/>
          </a:p>
        </p:txBody>
      </p:sp>
      <p:sp>
        <p:nvSpPr>
          <p:cNvPr id="9" name="Shape 6"/>
          <p:cNvSpPr/>
          <p:nvPr/>
        </p:nvSpPr>
        <p:spPr>
          <a:xfrm>
            <a:off x="822960" y="2286000"/>
            <a:ext cx="10543032" cy="786384"/>
          </a:xfrm>
          <a:prstGeom prst="roundRect">
            <a:avLst>
              <a:gd name="adj" fmla="val 6977"/>
            </a:avLst>
          </a:prstGeom>
          <a:solidFill>
            <a:srgbClr val="0E1116"/>
          </a:solidFill>
          <a:ln/>
        </p:spPr>
      </p:sp>
      <p:sp>
        <p:nvSpPr>
          <p:cNvPr id="10" name="Text 7"/>
          <p:cNvSpPr/>
          <p:nvPr/>
        </p:nvSpPr>
        <p:spPr>
          <a:xfrm>
            <a:off x="1152144" y="2286000"/>
            <a:ext cx="9884664" cy="786384"/>
          </a:xfrm>
          <a:prstGeom prst="rect">
            <a:avLst/>
          </a:prstGeom>
          <a:noFill/>
          <a:ln/>
        </p:spPr>
        <p:txBody>
          <a:bodyPr wrap="square" lIns="0" tIns="0" rIns="0" bIns="0" rtlCol="0" anchor="ctr"/>
          <a:lstStyle/>
          <a:p>
            <a:pPr indent="0" marL="0">
              <a:buNone/>
            </a:pPr>
            <a:r>
              <a:rPr lang="en-US" sz="1350" dirty="0">
                <a:solidFill>
                  <a:srgbClr val="9AA0AE"/>
                </a:solidFill>
                <a:latin typeface="JetBrains Mono" pitchFamily="34" charset="0"/>
                <a:ea typeface="JetBrains Mono" pitchFamily="34" charset="-122"/>
                <a:cs typeface="JetBrains Mono" pitchFamily="34" charset="-120"/>
              </a:rPr>
              <a:t>export const </a:t>
            </a:r>
            <a:pPr indent="0" marL="0">
              <a:buNone/>
            </a:pPr>
            <a:r>
              <a:rPr lang="en-US" sz="1350" dirty="0">
                <a:solidFill>
                  <a:srgbClr val="3CCB8E"/>
                </a:solidFill>
                <a:latin typeface="JetBrains Mono" pitchFamily="34" charset="0"/>
                <a:ea typeface="JetBrains Mono" pitchFamily="34" charset="-122"/>
                <a:cs typeface="JetBrains Mono" pitchFamily="34" charset="-120"/>
              </a:rPr>
              <a:t>SOFT_LIMIT</a:t>
            </a:r>
            <a:pPr indent="0" marL="0">
              <a:buNone/>
            </a:pPr>
            <a:r>
              <a:rPr lang="en-US" sz="1350" dirty="0">
                <a:solidFill>
                  <a:srgbClr val="9AA0AE"/>
                </a:solidFill>
                <a:latin typeface="JetBrains Mono" pitchFamily="34" charset="0"/>
                <a:ea typeface="JetBrains Mono" pitchFamily="34" charset="-122"/>
                <a:cs typeface="JetBrains Mono" pitchFamily="34" charset="-120"/>
              </a:rPr>
              <a:t> = </a:t>
            </a:r>
            <a:pPr indent="0" marL="0">
              <a:buNone/>
            </a:pPr>
            <a:r>
              <a:rPr lang="en-US" sz="1350" dirty="0">
                <a:solidFill>
                  <a:srgbClr val="8B8AF0"/>
                </a:solidFill>
                <a:latin typeface="JetBrains Mono" pitchFamily="34" charset="0"/>
                <a:ea typeface="JetBrains Mono" pitchFamily="34" charset="-122"/>
                <a:cs typeface="JetBrains Mono" pitchFamily="34" charset="-120"/>
              </a:rPr>
              <a:t>BigInt</a:t>
            </a:r>
            <a:pPr indent="0" marL="0">
              <a:buNone/>
            </a:pPr>
            <a:r>
              <a:rPr lang="en-US" sz="1350" dirty="0">
                <a:solidFill>
                  <a:srgbClr val="B9BECD"/>
                </a:solidFill>
                <a:latin typeface="JetBrains Mono" pitchFamily="34" charset="0"/>
                <a:ea typeface="JetBrains Mono" pitchFamily="34" charset="-122"/>
                <a:cs typeface="JetBrains Mono" pitchFamily="34" charset="-120"/>
              </a:rPr>
              <a:t>(process.env.MAX_PRICE_PER_ANSWER ?? </a:t>
            </a:r>
            <a:pPr indent="0" marL="0">
              <a:buNone/>
            </a:pPr>
            <a:r>
              <a:rPr lang="en-US" sz="1350" dirty="0">
                <a:solidFill>
                  <a:srgbClr val="3CCB8E"/>
                </a:solidFill>
                <a:latin typeface="JetBrains Mono" pitchFamily="34" charset="0"/>
                <a:ea typeface="JetBrains Mono" pitchFamily="34" charset="-122"/>
                <a:cs typeface="JetBrains Mono" pitchFamily="34" charset="-120"/>
              </a:rPr>
              <a:t>"6"</a:t>
            </a:r>
            <a:pPr indent="0" marL="0">
              <a:buNone/>
            </a:pPr>
            <a:r>
              <a:rPr lang="en-US" sz="1350" dirty="0">
                <a:solidFill>
                  <a:srgbClr val="B9BECD"/>
                </a:solidFill>
                <a:latin typeface="JetBrains Mono" pitchFamily="34" charset="0"/>
                <a:ea typeface="JetBrains Mono" pitchFamily="34" charset="-122"/>
                <a:cs typeface="JetBrains Mono" pitchFamily="34" charset="-120"/>
              </a:rPr>
              <a:t>);</a:t>
            </a:r>
            <a:endParaRPr lang="en-US" sz="1350" dirty="0"/>
          </a:p>
        </p:txBody>
      </p:sp>
      <p:sp>
        <p:nvSpPr>
          <p:cNvPr id="11" name="Shape 8"/>
          <p:cNvSpPr/>
          <p:nvPr/>
        </p:nvSpPr>
        <p:spPr>
          <a:xfrm>
            <a:off x="822960" y="3291840"/>
            <a:ext cx="5042916" cy="1828800"/>
          </a:xfrm>
          <a:prstGeom prst="roundRect">
            <a:avLst>
              <a:gd name="adj" fmla="val 3000"/>
            </a:avLst>
          </a:prstGeom>
          <a:solidFill>
            <a:srgbClr val="F4F4F8"/>
          </a:solidFill>
          <a:ln w="12700">
            <a:solidFill>
              <a:srgbClr val="E4E5EC"/>
            </a:solidFill>
            <a:prstDash val="solid"/>
          </a:ln>
        </p:spPr>
      </p:sp>
      <p:sp>
        <p:nvSpPr>
          <p:cNvPr id="12" name="Text 9"/>
          <p:cNvSpPr/>
          <p:nvPr/>
        </p:nvSpPr>
        <p:spPr>
          <a:xfrm>
            <a:off x="1133856" y="3474720"/>
            <a:ext cx="2743200" cy="219456"/>
          </a:xfrm>
          <a:prstGeom prst="rect">
            <a:avLst/>
          </a:prstGeom>
          <a:noFill/>
          <a:ln/>
        </p:spPr>
        <p:txBody>
          <a:bodyPr wrap="square" lIns="0" tIns="0" rIns="0" bIns="0" rtlCol="0" anchor="ctr"/>
          <a:lstStyle/>
          <a:p>
            <a:pPr indent="0" marL="0">
              <a:buNone/>
            </a:pPr>
            <a:r>
              <a:rPr lang="en-US" sz="950" b="1" spc="140" kern="0" dirty="0">
                <a:solidFill>
                  <a:srgbClr val="5B6170"/>
                </a:solidFill>
                <a:latin typeface="JetBrains Mono" pitchFamily="34" charset="0"/>
                <a:ea typeface="JetBrains Mono" pitchFamily="34" charset="-122"/>
                <a:cs typeface="JetBrains Mono" pitchFamily="34" charset="-120"/>
              </a:rPr>
              <a:t>REMOVABLE</a:t>
            </a:r>
            <a:endParaRPr lang="en-US" sz="950" dirty="0"/>
          </a:p>
        </p:txBody>
      </p:sp>
      <p:sp>
        <p:nvSpPr>
          <p:cNvPr id="13" name="Text 10"/>
          <p:cNvSpPr/>
          <p:nvPr/>
        </p:nvSpPr>
        <p:spPr>
          <a:xfrm>
            <a:off x="1133856" y="3730752"/>
            <a:ext cx="4421124" cy="347472"/>
          </a:xfrm>
          <a:prstGeom prst="rect">
            <a:avLst/>
          </a:prstGeom>
          <a:noFill/>
          <a:ln/>
        </p:spPr>
        <p:txBody>
          <a:bodyPr wrap="square" lIns="0" tIns="0" rIns="0" bIns="0" rtlCol="0" anchor="ctr"/>
          <a:lstStyle/>
          <a:p>
            <a:pPr indent="0" marL="0">
              <a:buNone/>
            </a:pPr>
            <a:r>
              <a:rPr lang="en-US" sz="1800" b="1" dirty="0">
                <a:solidFill>
                  <a:srgbClr val="0E1116"/>
                </a:solidFill>
                <a:latin typeface="Inter" pitchFamily="34" charset="0"/>
                <a:ea typeface="Inter" pitchFamily="34" charset="-122"/>
                <a:cs typeface="Inter" pitchFamily="34" charset="-120"/>
              </a:rPr>
              <a:t>One environment variable</a:t>
            </a:r>
            <a:endParaRPr lang="en-US" sz="1800" dirty="0"/>
          </a:p>
        </p:txBody>
      </p:sp>
      <p:sp>
        <p:nvSpPr>
          <p:cNvPr id="14" name="Text 11"/>
          <p:cNvSpPr/>
          <p:nvPr/>
        </p:nvSpPr>
        <p:spPr>
          <a:xfrm>
            <a:off x="1133856" y="4151376"/>
            <a:ext cx="4421124" cy="914400"/>
          </a:xfrm>
          <a:prstGeom prst="rect">
            <a:avLst/>
          </a:prstGeom>
          <a:noFill/>
          <a:ln/>
        </p:spPr>
        <p:txBody>
          <a:bodyPr wrap="square" lIns="0" tIns="0" rIns="0" bIns="0" rtlCol="0" anchor="ctr"/>
          <a:lstStyle/>
          <a:p>
            <a:pPr indent="0" marL="0">
              <a:lnSpc>
                <a:spcPts val="1900"/>
              </a:lnSpc>
              <a:buNone/>
            </a:pPr>
            <a:r>
              <a:rPr lang="en-US" sz="1300" dirty="0">
                <a:solidFill>
                  <a:srgbClr val="5B6170"/>
                </a:solidFill>
                <a:latin typeface="Inter" pitchFamily="34" charset="0"/>
                <a:ea typeface="Inter" pitchFamily="34" charset="-122"/>
                <a:cs typeface="Inter" pitchFamily="34" charset="-120"/>
              </a:rPr>
              <a:t>Set MAX_PRICE_PER_ANSWER and the ceiling is gone — no code change. The model's second opinion is also just a prompt, in a file the operator controls.</a:t>
            </a:r>
            <a:endParaRPr lang="en-US" sz="1300" dirty="0"/>
          </a:p>
        </p:txBody>
      </p:sp>
      <p:sp>
        <p:nvSpPr>
          <p:cNvPr id="15" name="Shape 12"/>
          <p:cNvSpPr/>
          <p:nvPr/>
        </p:nvSpPr>
        <p:spPr>
          <a:xfrm>
            <a:off x="6323076" y="3291840"/>
            <a:ext cx="5042916" cy="1828800"/>
          </a:xfrm>
          <a:prstGeom prst="roundRect">
            <a:avLst>
              <a:gd name="adj" fmla="val 3000"/>
            </a:avLst>
          </a:prstGeom>
          <a:solidFill>
            <a:srgbClr val="EEF0FB"/>
          </a:solidFill>
          <a:ln w="12700">
            <a:solidFill>
              <a:srgbClr val="C9CBF0"/>
            </a:solidFill>
            <a:prstDash val="solid"/>
          </a:ln>
        </p:spPr>
      </p:sp>
      <p:sp>
        <p:nvSpPr>
          <p:cNvPr id="16" name="Text 13"/>
          <p:cNvSpPr/>
          <p:nvPr/>
        </p:nvSpPr>
        <p:spPr>
          <a:xfrm>
            <a:off x="6633972" y="3474720"/>
            <a:ext cx="2743200" cy="219456"/>
          </a:xfrm>
          <a:prstGeom prst="rect">
            <a:avLst/>
          </a:prstGeom>
          <a:noFill/>
          <a:ln/>
        </p:spPr>
        <p:txBody>
          <a:bodyPr wrap="square" lIns="0" tIns="0" rIns="0" bIns="0" rtlCol="0" anchor="ctr"/>
          <a:lstStyle/>
          <a:p>
            <a:pPr indent="0" marL="0">
              <a:buNone/>
            </a:pPr>
            <a:r>
              <a:rPr lang="en-US" sz="950" b="1" spc="140" kern="0" dirty="0">
                <a:solidFill>
                  <a:srgbClr val="2D2BB6"/>
                </a:solidFill>
                <a:latin typeface="JetBrains Mono" pitchFamily="34" charset="0"/>
                <a:ea typeface="JetBrains Mono" pitchFamily="34" charset="-122"/>
                <a:cs typeface="JetBrains Mono" pitchFamily="34" charset="-120"/>
              </a:rPr>
              <a:t>WORSE</a:t>
            </a:r>
            <a:endParaRPr lang="en-US" sz="950" dirty="0"/>
          </a:p>
        </p:txBody>
      </p:sp>
      <p:sp>
        <p:nvSpPr>
          <p:cNvPr id="17" name="Text 14"/>
          <p:cNvSpPr/>
          <p:nvPr/>
        </p:nvSpPr>
        <p:spPr>
          <a:xfrm>
            <a:off x="6633972" y="3730752"/>
            <a:ext cx="4421124" cy="347472"/>
          </a:xfrm>
          <a:prstGeom prst="rect">
            <a:avLst/>
          </a:prstGeom>
          <a:noFill/>
          <a:ln/>
        </p:spPr>
        <p:txBody>
          <a:bodyPr wrap="square" lIns="0" tIns="0" rIns="0" bIns="0" rtlCol="0" anchor="ctr"/>
          <a:lstStyle/>
          <a:p>
            <a:pPr indent="0" marL="0">
              <a:buNone/>
            </a:pPr>
            <a:r>
              <a:rPr lang="en-US" sz="1800" b="1" dirty="0">
                <a:solidFill>
                  <a:srgbClr val="0E1116"/>
                </a:solidFill>
                <a:latin typeface="Inter" pitchFamily="34" charset="0"/>
                <a:ea typeface="Inter" pitchFamily="34" charset="-122"/>
                <a:cs typeface="Inter" pitchFamily="34" charset="-120"/>
              </a:rPr>
              <a:t>It caps per purchase, not in total</a:t>
            </a:r>
            <a:endParaRPr lang="en-US" sz="1800" dirty="0"/>
          </a:p>
        </p:txBody>
      </p:sp>
      <p:sp>
        <p:nvSpPr>
          <p:cNvPr id="18" name="Text 15"/>
          <p:cNvSpPr/>
          <p:nvPr/>
        </p:nvSpPr>
        <p:spPr>
          <a:xfrm>
            <a:off x="6633972" y="4151376"/>
            <a:ext cx="4421124" cy="914400"/>
          </a:xfrm>
          <a:prstGeom prst="rect">
            <a:avLst/>
          </a:prstGeom>
          <a:noFill/>
          <a:ln/>
        </p:spPr>
        <p:txBody>
          <a:bodyPr wrap="square" lIns="0" tIns="0" rIns="0" bIns="0" rtlCol="0" anchor="ctr"/>
          <a:lstStyle/>
          <a:p>
            <a:pPr indent="0" marL="0">
              <a:lnSpc>
                <a:spcPts val="1900"/>
              </a:lnSpc>
              <a:buNone/>
            </a:pPr>
            <a:r>
              <a:rPr lang="en-US" sz="1300" dirty="0">
                <a:solidFill>
                  <a:srgbClr val="5B6170"/>
                </a:solidFill>
                <a:latin typeface="Inter" pitchFamily="34" charset="0"/>
                <a:ea typeface="Inter" pitchFamily="34" charset="-122"/>
                <a:cs typeface="Inter" pitchFamily="34" charset="-120"/>
              </a:rPr>
              <a:t>Nothing tracks cumulative spend. An agent with a 6-unit limit can still drain 99,000 — six at a time — without breaking its limit once.</a:t>
            </a:r>
            <a:endParaRPr lang="en-US" sz="1300" dirty="0"/>
          </a:p>
        </p:txBody>
      </p:sp>
      <p:sp>
        <p:nvSpPr>
          <p:cNvPr id="19" name="Text 16"/>
          <p:cNvSpPr/>
          <p:nvPr/>
        </p:nvSpPr>
        <p:spPr>
          <a:xfrm>
            <a:off x="822960" y="5358384"/>
            <a:ext cx="10543032" cy="548640"/>
          </a:xfrm>
          <a:prstGeom prst="rect">
            <a:avLst/>
          </a:prstGeom>
          <a:noFill/>
          <a:ln/>
        </p:spPr>
        <p:txBody>
          <a:bodyPr wrap="square" lIns="0" tIns="0" rIns="0" bIns="0" rtlCol="0" anchor="ctr"/>
          <a:lstStyle/>
          <a:p>
            <a:pPr indent="0" marL="0">
              <a:buNone/>
            </a:pPr>
            <a:r>
              <a:rPr lang="en-US" sz="1700" b="1" dirty="0">
                <a:solidFill>
                  <a:srgbClr val="5B6170"/>
                </a:solidFill>
                <a:latin typeface="Inter" pitchFamily="34" charset="0"/>
                <a:ea typeface="Inter" pitchFamily="34" charset="-122"/>
                <a:cs typeface="Inter" pitchFamily="34" charset="-120"/>
              </a:rPr>
              <a:t>A limit the agent consults is a preference. </a:t>
            </a:r>
            <a:pPr indent="0" marL="0">
              <a:buNone/>
            </a:pPr>
            <a:r>
              <a:rPr lang="en-US" sz="1700" b="1" dirty="0">
                <a:solidFill>
                  <a:srgbClr val="2D2BB6"/>
                </a:solidFill>
                <a:latin typeface="Inter" pitchFamily="34" charset="0"/>
                <a:ea typeface="Inter" pitchFamily="34" charset="-122"/>
                <a:cs typeface="Inter" pitchFamily="34" charset="-120"/>
              </a:rPr>
              <a:t>A limit the chain applies is authority.</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indent="0" marL="0">
              <a:buNone/>
            </a:pPr>
            <a:r>
              <a:rPr lang="en-US" sz="1000" b="1" spc="140" kern="0" dirty="0">
                <a:solidFill>
                  <a:srgbClr val="8B8AF0"/>
                </a:solidFill>
                <a:latin typeface="JetBrains Mono" pitchFamily="34" charset="0"/>
                <a:ea typeface="JetBrains Mono" pitchFamily="34" charset="-122"/>
                <a:cs typeface="JetBrains Mono" pitchFamily="34" charset="-120"/>
              </a:rPr>
              <a:t>MOI · BUILD 06</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algn="r" indent="0" marL="0">
              <a:buNone/>
            </a:pPr>
            <a:r>
              <a:rPr lang="en-US" sz="1000" spc="140" kern="0" dirty="0">
                <a:solidFill>
                  <a:srgbClr val="9AA0AE"/>
                </a:solidFill>
                <a:latin typeface="JetBrains Mono" pitchFamily="34" charset="0"/>
                <a:ea typeface="JetBrains Mono" pitchFamily="34" charset="-122"/>
                <a:cs typeface="JetBrains Mono" pitchFamily="34" charset="-120"/>
              </a:rPr>
              <a:t>WHERE THIS GOES</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indent="0" marL="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algn="r" indent="0" marL="0">
              <a:buNone/>
            </a:pPr>
            <a:r>
              <a:rPr lang="en-US" sz="900" dirty="0">
                <a:solidFill>
                  <a:srgbClr val="6B7280"/>
                </a:solidFill>
                <a:latin typeface="JetBrains Mono" pitchFamily="34" charset="0"/>
                <a:ea typeface="JetBrains Mono" pitchFamily="34" charset="-122"/>
                <a:cs typeface="JetBrains Mono" pitchFamily="34" charset="-120"/>
              </a:rPr>
              <a:t>06 / 7</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indent="0" marL="0">
              <a:buNone/>
            </a:pPr>
            <a:r>
              <a:rPr lang="en-US" sz="3800" b="1" dirty="0">
                <a:solidFill>
                  <a:srgbClr val="FFFFFF"/>
                </a:solidFill>
                <a:latin typeface="Inter" pitchFamily="34" charset="0"/>
                <a:ea typeface="Inter" pitchFamily="34" charset="-122"/>
                <a:cs typeface="Inter" pitchFamily="34" charset="-120"/>
              </a:rPr>
              <a:t>Three questions, three sessions</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indent="0" marL="0">
              <a:buNone/>
            </a:pPr>
            <a:r>
              <a:rPr lang="en-US" sz="1450" dirty="0">
                <a:solidFill>
                  <a:srgbClr val="B9BECD"/>
                </a:solidFill>
                <a:latin typeface="Inter" pitchFamily="34" charset="0"/>
                <a:ea typeface="Inter" pitchFamily="34" charset="-122"/>
                <a:cs typeface="Inter" pitchFamily="34" charset="-120"/>
              </a:rPr>
              <a:t>Today answered one of them.</a:t>
            </a:r>
            <a:endParaRPr lang="en-US" sz="1450" dirty="0"/>
          </a:p>
        </p:txBody>
      </p:sp>
      <p:sp>
        <p:nvSpPr>
          <p:cNvPr id="9" name="Shape 6"/>
          <p:cNvSpPr/>
          <p:nvPr/>
        </p:nvSpPr>
        <p:spPr>
          <a:xfrm>
            <a:off x="822960" y="2395728"/>
            <a:ext cx="10543032" cy="1060704"/>
          </a:xfrm>
          <a:prstGeom prst="roundRect">
            <a:avLst>
              <a:gd name="adj" fmla="val 5172"/>
            </a:avLst>
          </a:prstGeom>
          <a:solidFill>
            <a:srgbClr val="10221B"/>
          </a:solidFill>
          <a:ln w="15875">
            <a:solidFill>
              <a:srgbClr val="3CCB8E"/>
            </a:solidFill>
            <a:prstDash val="solid"/>
          </a:ln>
        </p:spPr>
      </p:sp>
      <p:sp>
        <p:nvSpPr>
          <p:cNvPr id="10" name="Text 7"/>
          <p:cNvSpPr/>
          <p:nvPr/>
        </p:nvSpPr>
        <p:spPr>
          <a:xfrm>
            <a:off x="1133856" y="2395728"/>
            <a:ext cx="1005840" cy="1060704"/>
          </a:xfrm>
          <a:prstGeom prst="rect">
            <a:avLst/>
          </a:prstGeom>
          <a:noFill/>
          <a:ln/>
        </p:spPr>
        <p:txBody>
          <a:bodyPr wrap="square" lIns="0" tIns="0" rIns="0" bIns="0" rtlCol="0" anchor="ctr"/>
          <a:lstStyle/>
          <a:p>
            <a:pPr indent="0" marL="0">
              <a:buNone/>
            </a:pPr>
            <a:r>
              <a:rPr lang="en-US" sz="2600" b="1" dirty="0">
                <a:solidFill>
                  <a:srgbClr val="3CCB8E"/>
                </a:solidFill>
                <a:latin typeface="JetBrains Mono" pitchFamily="34" charset="0"/>
                <a:ea typeface="JetBrains Mono" pitchFamily="34" charset="-122"/>
                <a:cs typeface="JetBrains Mono" pitchFamily="34" charset="-120"/>
              </a:rPr>
              <a:t>07</a:t>
            </a:r>
            <a:endParaRPr lang="en-US" sz="2600" dirty="0"/>
          </a:p>
        </p:txBody>
      </p:sp>
      <p:sp>
        <p:nvSpPr>
          <p:cNvPr id="11" name="Text 8"/>
          <p:cNvSpPr/>
          <p:nvPr/>
        </p:nvSpPr>
        <p:spPr>
          <a:xfrm>
            <a:off x="2240280" y="2596896"/>
            <a:ext cx="6766560" cy="347472"/>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Who am I paying?</a:t>
            </a:r>
            <a:endParaRPr lang="en-US" sz="1900" dirty="0"/>
          </a:p>
        </p:txBody>
      </p:sp>
      <p:sp>
        <p:nvSpPr>
          <p:cNvPr id="12" name="Text 9"/>
          <p:cNvSpPr/>
          <p:nvPr/>
        </p:nvSpPr>
        <p:spPr>
          <a:xfrm>
            <a:off x="2240280" y="2971800"/>
            <a:ext cx="7863840" cy="310896"/>
          </a:xfrm>
          <a:prstGeom prst="rect">
            <a:avLst/>
          </a:prstGeom>
          <a:noFill/>
          <a:ln/>
        </p:spPr>
        <p:txBody>
          <a:bodyPr wrap="square" lIns="0" tIns="0" rIns="0" bIns="0" rtlCol="0" anchor="ctr"/>
          <a:lstStyle/>
          <a:p>
            <a:pPr indent="0" marL="0">
              <a:buNone/>
            </a:pPr>
            <a:r>
              <a:rPr lang="en-US" sz="1350" dirty="0">
                <a:solidFill>
                  <a:srgbClr val="B9BECD"/>
                </a:solidFill>
                <a:latin typeface="Inter" pitchFamily="34" charset="0"/>
                <a:ea typeface="Inter" pitchFamily="34" charset="-122"/>
                <a:cs typeface="Inter" pitchFamily="34" charset="-120"/>
              </a:rPr>
              <a:t>The registry, checked before any money moves.</a:t>
            </a:r>
            <a:endParaRPr lang="en-US" sz="1350" dirty="0"/>
          </a:p>
        </p:txBody>
      </p:sp>
      <p:sp>
        <p:nvSpPr>
          <p:cNvPr id="13" name="Text 10"/>
          <p:cNvSpPr/>
          <p:nvPr/>
        </p:nvSpPr>
        <p:spPr>
          <a:xfrm>
            <a:off x="9445752" y="2395728"/>
            <a:ext cx="1554480" cy="1060704"/>
          </a:xfrm>
          <a:prstGeom prst="rect">
            <a:avLst/>
          </a:prstGeom>
          <a:noFill/>
          <a:ln/>
        </p:spPr>
        <p:txBody>
          <a:bodyPr wrap="square" lIns="0" tIns="0" rIns="0" bIns="0" rtlCol="0" anchor="ctr"/>
          <a:lstStyle/>
          <a:p>
            <a:pPr algn="r" indent="0" marL="0">
              <a:buNone/>
            </a:pPr>
            <a:r>
              <a:rPr lang="en-US" sz="1050" b="1" spc="140" kern="0" dirty="0">
                <a:solidFill>
                  <a:srgbClr val="3CCB8E"/>
                </a:solidFill>
                <a:latin typeface="JetBrains Mono" pitchFamily="34" charset="0"/>
                <a:ea typeface="JetBrains Mono" pitchFamily="34" charset="-122"/>
                <a:cs typeface="JetBrains Mono" pitchFamily="34" charset="-120"/>
              </a:rPr>
              <a:t>DONE</a:t>
            </a:r>
            <a:endParaRPr lang="en-US" sz="1050" dirty="0"/>
          </a:p>
        </p:txBody>
      </p:sp>
      <p:sp>
        <p:nvSpPr>
          <p:cNvPr id="14" name="Shape 11"/>
          <p:cNvSpPr/>
          <p:nvPr/>
        </p:nvSpPr>
        <p:spPr>
          <a:xfrm>
            <a:off x="822960" y="3694176"/>
            <a:ext cx="10543032" cy="1060704"/>
          </a:xfrm>
          <a:prstGeom prst="roundRect">
            <a:avLst>
              <a:gd name="adj" fmla="val 5172"/>
            </a:avLst>
          </a:prstGeom>
          <a:solidFill>
            <a:srgbClr val="1C212B"/>
          </a:solidFill>
          <a:ln w="12700">
            <a:solidFill>
              <a:srgbClr val="363C49"/>
            </a:solidFill>
            <a:prstDash val="solid"/>
          </a:ln>
        </p:spPr>
      </p:sp>
      <p:sp>
        <p:nvSpPr>
          <p:cNvPr id="15" name="Text 12"/>
          <p:cNvSpPr/>
          <p:nvPr/>
        </p:nvSpPr>
        <p:spPr>
          <a:xfrm>
            <a:off x="1133856" y="3694176"/>
            <a:ext cx="1005840" cy="1060704"/>
          </a:xfrm>
          <a:prstGeom prst="rect">
            <a:avLst/>
          </a:prstGeom>
          <a:noFill/>
          <a:ln/>
        </p:spPr>
        <p:txBody>
          <a:bodyPr wrap="square" lIns="0" tIns="0" rIns="0" bIns="0" rtlCol="0" anchor="ctr"/>
          <a:lstStyle/>
          <a:p>
            <a:pPr indent="0" marL="0">
              <a:buNone/>
            </a:pPr>
            <a:r>
              <a:rPr lang="en-US" sz="2600" b="1" dirty="0">
                <a:solidFill>
                  <a:srgbClr val="8B8AF0"/>
                </a:solidFill>
                <a:latin typeface="JetBrains Mono" pitchFamily="34" charset="0"/>
                <a:ea typeface="JetBrains Mono" pitchFamily="34" charset="-122"/>
                <a:cs typeface="JetBrains Mono" pitchFamily="34" charset="-120"/>
              </a:rPr>
              <a:t>08</a:t>
            </a:r>
            <a:endParaRPr lang="en-US" sz="2600" dirty="0"/>
          </a:p>
        </p:txBody>
      </p:sp>
      <p:sp>
        <p:nvSpPr>
          <p:cNvPr id="16" name="Text 13"/>
          <p:cNvSpPr/>
          <p:nvPr/>
        </p:nvSpPr>
        <p:spPr>
          <a:xfrm>
            <a:off x="2240280" y="3895344"/>
            <a:ext cx="6766560" cy="347472"/>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What may I spend?</a:t>
            </a:r>
            <a:endParaRPr lang="en-US" sz="1900" dirty="0"/>
          </a:p>
        </p:txBody>
      </p:sp>
      <p:sp>
        <p:nvSpPr>
          <p:cNvPr id="17" name="Text 14"/>
          <p:cNvSpPr/>
          <p:nvPr/>
        </p:nvSpPr>
        <p:spPr>
          <a:xfrm>
            <a:off x="2240280" y="4270248"/>
            <a:ext cx="7863840" cy="310896"/>
          </a:xfrm>
          <a:prstGeom prst="rect">
            <a:avLst/>
          </a:prstGeom>
          <a:noFill/>
          <a:ln/>
        </p:spPr>
        <p:txBody>
          <a:bodyPr wrap="square" lIns="0" tIns="0" rIns="0" bIns="0" rtlCol="0" anchor="ctr"/>
          <a:lstStyle/>
          <a:p>
            <a:pPr indent="0" marL="0">
              <a:buNone/>
            </a:pPr>
            <a:r>
              <a:rPr lang="en-US" sz="1350" dirty="0">
                <a:solidFill>
                  <a:srgbClr val="B9BECD"/>
                </a:solidFill>
                <a:latin typeface="Inter" pitchFamily="34" charset="0"/>
                <a:ea typeface="Inter" pitchFamily="34" charset="-122"/>
                <a:cs typeface="Inter" pitchFamily="34" charset="-120"/>
              </a:rPr>
              <a:t>A cap the chain enforces — authority the agent inherits, not one it grants itself.</a:t>
            </a:r>
            <a:endParaRPr lang="en-US" sz="1350" dirty="0"/>
          </a:p>
        </p:txBody>
      </p:sp>
      <p:sp>
        <p:nvSpPr>
          <p:cNvPr id="18" name="Text 15"/>
          <p:cNvSpPr/>
          <p:nvPr/>
        </p:nvSpPr>
        <p:spPr>
          <a:xfrm>
            <a:off x="9445752" y="3694176"/>
            <a:ext cx="1554480" cy="1060704"/>
          </a:xfrm>
          <a:prstGeom prst="rect">
            <a:avLst/>
          </a:prstGeom>
          <a:noFill/>
          <a:ln/>
        </p:spPr>
        <p:txBody>
          <a:bodyPr wrap="square" lIns="0" tIns="0" rIns="0" bIns="0" rtlCol="0" anchor="ctr"/>
          <a:lstStyle/>
          <a:p>
            <a:pPr algn="r" indent="0" marL="0">
              <a:buNone/>
            </a:pPr>
            <a:r>
              <a:rPr lang="en-US" sz="1050" b="1" spc="140" kern="0" dirty="0">
                <a:solidFill>
                  <a:srgbClr val="8B8AF0"/>
                </a:solidFill>
                <a:latin typeface="JetBrains Mono" pitchFamily="34" charset="0"/>
                <a:ea typeface="JetBrains Mono" pitchFamily="34" charset="-122"/>
                <a:cs typeface="JetBrains Mono" pitchFamily="34" charset="-120"/>
              </a:rPr>
              <a:t>NEXT</a:t>
            </a:r>
            <a:endParaRPr lang="en-US" sz="1050" dirty="0"/>
          </a:p>
        </p:txBody>
      </p:sp>
      <p:sp>
        <p:nvSpPr>
          <p:cNvPr id="19" name="Shape 16"/>
          <p:cNvSpPr/>
          <p:nvPr/>
        </p:nvSpPr>
        <p:spPr>
          <a:xfrm>
            <a:off x="822960" y="4992624"/>
            <a:ext cx="10543032" cy="1060704"/>
          </a:xfrm>
          <a:prstGeom prst="roundRect">
            <a:avLst>
              <a:gd name="adj" fmla="val 5172"/>
            </a:avLst>
          </a:prstGeom>
          <a:solidFill>
            <a:srgbClr val="1C212B"/>
          </a:solidFill>
          <a:ln w="12700">
            <a:solidFill>
              <a:srgbClr val="363C49"/>
            </a:solidFill>
            <a:prstDash val="solid"/>
          </a:ln>
        </p:spPr>
      </p:sp>
      <p:sp>
        <p:nvSpPr>
          <p:cNvPr id="20" name="Text 17"/>
          <p:cNvSpPr/>
          <p:nvPr/>
        </p:nvSpPr>
        <p:spPr>
          <a:xfrm>
            <a:off x="1133856" y="4992624"/>
            <a:ext cx="1005840" cy="1060704"/>
          </a:xfrm>
          <a:prstGeom prst="rect">
            <a:avLst/>
          </a:prstGeom>
          <a:noFill/>
          <a:ln/>
        </p:spPr>
        <p:txBody>
          <a:bodyPr wrap="square" lIns="0" tIns="0" rIns="0" bIns="0" rtlCol="0" anchor="ctr"/>
          <a:lstStyle/>
          <a:p>
            <a:pPr indent="0" marL="0">
              <a:buNone/>
            </a:pPr>
            <a:r>
              <a:rPr lang="en-US" sz="2600" b="1" dirty="0">
                <a:solidFill>
                  <a:srgbClr val="6B7280"/>
                </a:solidFill>
                <a:latin typeface="JetBrains Mono" pitchFamily="34" charset="0"/>
                <a:ea typeface="JetBrains Mono" pitchFamily="34" charset="-122"/>
                <a:cs typeface="JetBrains Mono" pitchFamily="34" charset="-120"/>
              </a:rPr>
              <a:t>09</a:t>
            </a:r>
            <a:endParaRPr lang="en-US" sz="2600" dirty="0"/>
          </a:p>
        </p:txBody>
      </p:sp>
      <p:sp>
        <p:nvSpPr>
          <p:cNvPr id="21" name="Text 18"/>
          <p:cNvSpPr/>
          <p:nvPr/>
        </p:nvSpPr>
        <p:spPr>
          <a:xfrm>
            <a:off x="2240280" y="5193792"/>
            <a:ext cx="6766560" cy="347472"/>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What if you don't deliver?</a:t>
            </a:r>
            <a:endParaRPr lang="en-US" sz="1900" dirty="0"/>
          </a:p>
        </p:txBody>
      </p:sp>
      <p:sp>
        <p:nvSpPr>
          <p:cNvPr id="22" name="Text 19"/>
          <p:cNvSpPr/>
          <p:nvPr/>
        </p:nvSpPr>
        <p:spPr>
          <a:xfrm>
            <a:off x="2240280" y="5568696"/>
            <a:ext cx="7863840" cy="310896"/>
          </a:xfrm>
          <a:prstGeom prst="rect">
            <a:avLst/>
          </a:prstGeom>
          <a:noFill/>
          <a:ln/>
        </p:spPr>
        <p:txBody>
          <a:bodyPr wrap="square" lIns="0" tIns="0" rIns="0" bIns="0" rtlCol="0" anchor="ctr"/>
          <a:lstStyle/>
          <a:p>
            <a:pPr indent="0" marL="0">
              <a:buNone/>
            </a:pPr>
            <a:r>
              <a:rPr lang="en-US" sz="1350" dirty="0">
                <a:solidFill>
                  <a:srgbClr val="B9BECD"/>
                </a:solidFill>
                <a:latin typeface="Inter" pitchFamily="34" charset="0"/>
                <a:ea typeface="Inter" pitchFamily="34" charset="-122"/>
                <a:cs typeface="Inter" pitchFamily="34" charset="-120"/>
              </a:rPr>
              <a:t>Pay on delivery, using MOI's native lockup and release.</a:t>
            </a:r>
            <a:endParaRPr lang="en-US" sz="1350" dirty="0"/>
          </a:p>
        </p:txBody>
      </p:sp>
      <p:sp>
        <p:nvSpPr>
          <p:cNvPr id="23" name="Text 20"/>
          <p:cNvSpPr/>
          <p:nvPr/>
        </p:nvSpPr>
        <p:spPr>
          <a:xfrm>
            <a:off x="9445752" y="4992624"/>
            <a:ext cx="1554480" cy="1060704"/>
          </a:xfrm>
          <a:prstGeom prst="rect">
            <a:avLst/>
          </a:prstGeom>
          <a:noFill/>
          <a:ln/>
        </p:spPr>
        <p:txBody>
          <a:bodyPr wrap="square" lIns="0" tIns="0" rIns="0" bIns="0" rtlCol="0" anchor="ctr"/>
          <a:lstStyle/>
          <a:p>
            <a:pPr algn="r" indent="0" marL="0">
              <a:buNone/>
            </a:pPr>
            <a:r>
              <a:rPr lang="en-US" sz="1050" b="1" spc="140" kern="0" dirty="0">
                <a:solidFill>
                  <a:srgbClr val="6B7280"/>
                </a:solidFill>
                <a:latin typeface="JetBrains Mono" pitchFamily="34" charset="0"/>
                <a:ea typeface="JetBrains Mono" pitchFamily="34" charset="-122"/>
                <a:cs typeface="JetBrains Mono" pitchFamily="34" charset="-120"/>
              </a:rPr>
              <a:t>AFTER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sp>
        <p:nvSpPr>
          <p:cNvPr id="3" name="Text 0"/>
          <p:cNvSpPr/>
          <p:nvPr/>
        </p:nvSpPr>
        <p:spPr>
          <a:xfrm>
            <a:off x="822960" y="502920"/>
            <a:ext cx="3657600" cy="256032"/>
          </a:xfrm>
          <a:prstGeom prst="rect">
            <a:avLst/>
          </a:prstGeom>
          <a:noFill/>
          <a:ln/>
        </p:spPr>
        <p:txBody>
          <a:bodyPr wrap="square" lIns="0" tIns="0" rIns="0" bIns="0" rtlCol="0" anchor="ctr"/>
          <a:lstStyle/>
          <a:p>
            <a:pPr indent="0" marL="0">
              <a:buNone/>
            </a:pPr>
            <a:r>
              <a:rPr lang="en-US" sz="1000" b="1" spc="140" kern="0" dirty="0">
                <a:solidFill>
                  <a:srgbClr val="8B8AF0"/>
                </a:solidFill>
                <a:latin typeface="JetBrains Mono" pitchFamily="34" charset="0"/>
                <a:ea typeface="JetBrains Mono" pitchFamily="34" charset="-122"/>
                <a:cs typeface="JetBrains Mono" pitchFamily="34" charset="-120"/>
              </a:rPr>
              <a:t>MOI · BUILD 07</a:t>
            </a:r>
            <a:endParaRPr lang="en-US" sz="1000" dirty="0"/>
          </a:p>
        </p:txBody>
      </p:sp>
      <p:sp>
        <p:nvSpPr>
          <p:cNvPr id="4" name="Text 1"/>
          <p:cNvSpPr/>
          <p:nvPr/>
        </p:nvSpPr>
        <p:spPr>
          <a:xfrm>
            <a:off x="6793992" y="502920"/>
            <a:ext cx="4572000" cy="256032"/>
          </a:xfrm>
          <a:prstGeom prst="rect">
            <a:avLst/>
          </a:prstGeom>
          <a:noFill/>
          <a:ln/>
        </p:spPr>
        <p:txBody>
          <a:bodyPr wrap="square" lIns="0" tIns="0" rIns="0" bIns="0" rtlCol="0" anchor="ctr"/>
          <a:lstStyle/>
          <a:p>
            <a:pPr algn="r" indent="0" marL="0">
              <a:buNone/>
            </a:pPr>
            <a:r>
              <a:rPr lang="en-US" sz="1000" spc="140" kern="0" dirty="0">
                <a:solidFill>
                  <a:srgbClr val="9AA0AE"/>
                </a:solidFill>
                <a:latin typeface="JetBrains Mono" pitchFamily="34" charset="0"/>
                <a:ea typeface="JetBrains Mono" pitchFamily="34" charset="-122"/>
                <a:cs typeface="JetBrains Mono" pitchFamily="34" charset="-120"/>
              </a:rPr>
              <a:t>GO BUILD</a:t>
            </a:r>
            <a:endParaRPr lang="en-US" sz="1000" dirty="0"/>
          </a:p>
        </p:txBody>
      </p:sp>
      <p:sp>
        <p:nvSpPr>
          <p:cNvPr id="5" name="Text 2"/>
          <p:cNvSpPr/>
          <p:nvPr/>
        </p:nvSpPr>
        <p:spPr>
          <a:xfrm>
            <a:off x="822960" y="6327648"/>
            <a:ext cx="3657600" cy="237744"/>
          </a:xfrm>
          <a:prstGeom prst="rect">
            <a:avLst/>
          </a:prstGeom>
          <a:noFill/>
          <a:ln/>
        </p:spPr>
        <p:txBody>
          <a:bodyPr wrap="square" lIns="0" tIns="0" rIns="0" bIns="0" rtlCol="0" anchor="ctr"/>
          <a:lstStyle/>
          <a:p>
            <a:pPr indent="0" marL="0">
              <a:buNone/>
            </a:pPr>
            <a:r>
              <a:rPr lang="en-US" sz="900" dirty="0">
                <a:solidFill>
                  <a:srgbClr val="6B7280"/>
                </a:solidFill>
                <a:latin typeface="JetBrains Mono" pitchFamily="34" charset="0"/>
                <a:ea typeface="JetBrains Mono" pitchFamily="34" charset="-122"/>
                <a:cs typeface="JetBrains Mono" pitchFamily="34" charset="-120"/>
              </a:rPr>
              <a:t>moi builders · session 07</a:t>
            </a:r>
            <a:endParaRPr lang="en-US" sz="900" dirty="0"/>
          </a:p>
        </p:txBody>
      </p:sp>
      <p:sp>
        <p:nvSpPr>
          <p:cNvPr id="6" name="Text 3"/>
          <p:cNvSpPr/>
          <p:nvPr/>
        </p:nvSpPr>
        <p:spPr>
          <a:xfrm>
            <a:off x="9537192" y="6327648"/>
            <a:ext cx="1828800" cy="237744"/>
          </a:xfrm>
          <a:prstGeom prst="rect">
            <a:avLst/>
          </a:prstGeom>
          <a:noFill/>
          <a:ln/>
        </p:spPr>
        <p:txBody>
          <a:bodyPr wrap="square" lIns="0" tIns="0" rIns="0" bIns="0" rtlCol="0" anchor="ctr"/>
          <a:lstStyle/>
          <a:p>
            <a:pPr algn="r" indent="0" marL="0">
              <a:buNone/>
            </a:pPr>
            <a:r>
              <a:rPr lang="en-US" sz="900" dirty="0">
                <a:solidFill>
                  <a:srgbClr val="6B7280"/>
                </a:solidFill>
                <a:latin typeface="JetBrains Mono" pitchFamily="34" charset="0"/>
                <a:ea typeface="JetBrains Mono" pitchFamily="34" charset="-122"/>
                <a:cs typeface="JetBrains Mono" pitchFamily="34" charset="-120"/>
              </a:rPr>
              <a:t>07 / 7</a:t>
            </a:r>
            <a:endParaRPr lang="en-US" sz="900" dirty="0"/>
          </a:p>
        </p:txBody>
      </p:sp>
      <p:sp>
        <p:nvSpPr>
          <p:cNvPr id="7" name="Text 4"/>
          <p:cNvSpPr/>
          <p:nvPr/>
        </p:nvSpPr>
        <p:spPr>
          <a:xfrm>
            <a:off x="822960" y="932688"/>
            <a:ext cx="10543032" cy="658368"/>
          </a:xfrm>
          <a:prstGeom prst="rect">
            <a:avLst/>
          </a:prstGeom>
          <a:noFill/>
          <a:ln/>
        </p:spPr>
        <p:txBody>
          <a:bodyPr wrap="square" lIns="0" tIns="0" rIns="0" bIns="0" rtlCol="0" anchor="ctr"/>
          <a:lstStyle/>
          <a:p>
            <a:pPr indent="0" marL="0">
              <a:buNone/>
            </a:pPr>
            <a:r>
              <a:rPr lang="en-US" sz="3800" b="1" dirty="0">
                <a:solidFill>
                  <a:srgbClr val="FFFFFF"/>
                </a:solidFill>
                <a:latin typeface="Inter" pitchFamily="34" charset="0"/>
                <a:ea typeface="Inter" pitchFamily="34" charset="-122"/>
                <a:cs typeface="Inter" pitchFamily="34" charset="-120"/>
              </a:rPr>
              <a:t>Run it yourself</a:t>
            </a:r>
            <a:endParaRPr lang="en-US" sz="3800" dirty="0"/>
          </a:p>
        </p:txBody>
      </p:sp>
      <p:sp>
        <p:nvSpPr>
          <p:cNvPr id="8" name="Text 5"/>
          <p:cNvSpPr/>
          <p:nvPr/>
        </p:nvSpPr>
        <p:spPr>
          <a:xfrm>
            <a:off x="822960" y="1682496"/>
            <a:ext cx="10543032" cy="402336"/>
          </a:xfrm>
          <a:prstGeom prst="rect">
            <a:avLst/>
          </a:prstGeom>
          <a:noFill/>
          <a:ln/>
        </p:spPr>
        <p:txBody>
          <a:bodyPr wrap="square" lIns="0" tIns="0" rIns="0" bIns="0" rtlCol="0" anchor="ctr"/>
          <a:lstStyle/>
          <a:p>
            <a:pPr indent="0" marL="0">
              <a:buNone/>
            </a:pPr>
            <a:r>
              <a:rPr lang="en-US" sz="1450" dirty="0">
                <a:solidFill>
                  <a:srgbClr val="B9BECD"/>
                </a:solidFill>
                <a:latin typeface="Inter" pitchFamily="34" charset="0"/>
                <a:ea typeface="Inter" pitchFamily="34" charset="-122"/>
                <a:cs typeface="Inter" pitchFamily="34" charset="-120"/>
              </a:rPr>
              <a:t>One funded devnet wallet covers the whole thing. The seller never needs gas — it only receives.</a:t>
            </a:r>
            <a:endParaRPr lang="en-US" sz="1450" dirty="0"/>
          </a:p>
        </p:txBody>
      </p:sp>
      <p:sp>
        <p:nvSpPr>
          <p:cNvPr id="9" name="Shape 6"/>
          <p:cNvSpPr/>
          <p:nvPr/>
        </p:nvSpPr>
        <p:spPr>
          <a:xfrm>
            <a:off x="822960" y="2377440"/>
            <a:ext cx="6035040" cy="2670048"/>
          </a:xfrm>
          <a:prstGeom prst="roundRect">
            <a:avLst>
              <a:gd name="adj" fmla="val 2055"/>
            </a:avLst>
          </a:prstGeom>
          <a:solidFill>
            <a:srgbClr val="1C212B"/>
          </a:solidFill>
          <a:ln w="12700">
            <a:solidFill>
              <a:srgbClr val="363C49"/>
            </a:solidFill>
            <a:prstDash val="solid"/>
          </a:ln>
        </p:spPr>
      </p:sp>
      <p:sp>
        <p:nvSpPr>
          <p:cNvPr id="10" name="Text 7"/>
          <p:cNvSpPr/>
          <p:nvPr/>
        </p:nvSpPr>
        <p:spPr>
          <a:xfrm>
            <a:off x="1152144" y="2578608"/>
            <a:ext cx="2834640" cy="310896"/>
          </a:xfrm>
          <a:prstGeom prst="rect">
            <a:avLst/>
          </a:prstGeom>
          <a:noFill/>
          <a:ln/>
        </p:spPr>
        <p:txBody>
          <a:bodyPr wrap="square" lIns="0" tIns="0" rIns="0" bIns="0" rtlCol="0" anchor="ctr"/>
          <a:lstStyle/>
          <a:p>
            <a:pPr indent="0" marL="0">
              <a:buNone/>
            </a:pPr>
            <a:r>
              <a:rPr lang="en-US" sz="1250" dirty="0">
                <a:solidFill>
                  <a:srgbClr val="8B8AF0"/>
                </a:solidFill>
                <a:latin typeface="JetBrains Mono" pitchFamily="34" charset="0"/>
                <a:ea typeface="JetBrains Mono" pitchFamily="34" charset="-122"/>
                <a:cs typeface="JetBrains Mono" pitchFamily="34" charset="-120"/>
              </a:rPr>
              <a:t>npm install</a:t>
            </a:r>
            <a:endParaRPr lang="en-US" sz="1250" dirty="0"/>
          </a:p>
        </p:txBody>
      </p:sp>
      <p:sp>
        <p:nvSpPr>
          <p:cNvPr id="11" name="Text 8"/>
          <p:cNvSpPr/>
          <p:nvPr/>
        </p:nvSpPr>
        <p:spPr>
          <a:xfrm>
            <a:off x="1152144" y="3035808"/>
            <a:ext cx="2834640" cy="310896"/>
          </a:xfrm>
          <a:prstGeom prst="rect">
            <a:avLst/>
          </a:prstGeom>
          <a:noFill/>
          <a:ln/>
        </p:spPr>
        <p:txBody>
          <a:bodyPr wrap="square" lIns="0" tIns="0" rIns="0" bIns="0" rtlCol="0" anchor="ctr"/>
          <a:lstStyle/>
          <a:p>
            <a:pPr indent="0" marL="0">
              <a:buNone/>
            </a:pPr>
            <a:r>
              <a:rPr lang="en-US" sz="1250" dirty="0">
                <a:solidFill>
                  <a:srgbClr val="8B8AF0"/>
                </a:solidFill>
                <a:latin typeface="JetBrains Mono" pitchFamily="34" charset="0"/>
                <a:ea typeface="JetBrains Mono" pitchFamily="34" charset="-122"/>
                <a:cs typeface="JetBrains Mono" pitchFamily="34" charset="-120"/>
              </a:rPr>
              <a:t>cp .env.example .env</a:t>
            </a:r>
            <a:endParaRPr lang="en-US" sz="1250" dirty="0"/>
          </a:p>
        </p:txBody>
      </p:sp>
      <p:sp>
        <p:nvSpPr>
          <p:cNvPr id="12" name="Text 9"/>
          <p:cNvSpPr/>
          <p:nvPr/>
        </p:nvSpPr>
        <p:spPr>
          <a:xfrm>
            <a:off x="4023360" y="3035808"/>
            <a:ext cx="2505456" cy="310896"/>
          </a:xfrm>
          <a:prstGeom prst="rect">
            <a:avLst/>
          </a:prstGeom>
          <a:noFill/>
          <a:ln/>
        </p:spPr>
        <p:txBody>
          <a:bodyPr wrap="square" lIns="0" tIns="0" rIns="0" bIns="0" rtlCol="0" anchor="ctr"/>
          <a:lstStyle/>
          <a:p>
            <a:pPr indent="0" marL="0">
              <a:buNone/>
            </a:pPr>
            <a:r>
              <a:rPr lang="en-US" sz="1050" dirty="0">
                <a:solidFill>
                  <a:srgbClr val="6B7280"/>
                </a:solidFill>
                <a:latin typeface="JetBrains Mono" pitchFamily="34" charset="0"/>
                <a:ea typeface="JetBrains Mono" pitchFamily="34" charset="-122"/>
                <a:cs typeface="JetBrains Mono" pitchFamily="34" charset="-120"/>
              </a:rPr>
              <a:t>paste a funded mnemonic</a:t>
            </a:r>
            <a:endParaRPr lang="en-US" sz="1050" dirty="0"/>
          </a:p>
        </p:txBody>
      </p:sp>
      <p:sp>
        <p:nvSpPr>
          <p:cNvPr id="13" name="Text 10"/>
          <p:cNvSpPr/>
          <p:nvPr/>
        </p:nvSpPr>
        <p:spPr>
          <a:xfrm>
            <a:off x="1152144" y="3493008"/>
            <a:ext cx="2834640" cy="310896"/>
          </a:xfrm>
          <a:prstGeom prst="rect">
            <a:avLst/>
          </a:prstGeom>
          <a:noFill/>
          <a:ln/>
        </p:spPr>
        <p:txBody>
          <a:bodyPr wrap="square" lIns="0" tIns="0" rIns="0" bIns="0" rtlCol="0" anchor="ctr"/>
          <a:lstStyle/>
          <a:p>
            <a:pPr indent="0" marL="0">
              <a:buNone/>
            </a:pPr>
            <a:r>
              <a:rPr lang="en-US" sz="1250" dirty="0">
                <a:solidFill>
                  <a:srgbClr val="8B8AF0"/>
                </a:solidFill>
                <a:latin typeface="JetBrains Mono" pitchFamily="34" charset="0"/>
                <a:ea typeface="JetBrains Mono" pitchFamily="34" charset="-122"/>
                <a:cs typeface="JetBrains Mono" pitchFamily="34" charset="-120"/>
              </a:rPr>
              <a:t>npm run setup:asset</a:t>
            </a:r>
            <a:endParaRPr lang="en-US" sz="1250" dirty="0"/>
          </a:p>
        </p:txBody>
      </p:sp>
      <p:sp>
        <p:nvSpPr>
          <p:cNvPr id="14" name="Text 11"/>
          <p:cNvSpPr/>
          <p:nvPr/>
        </p:nvSpPr>
        <p:spPr>
          <a:xfrm>
            <a:off x="4023360" y="3493008"/>
            <a:ext cx="2505456" cy="310896"/>
          </a:xfrm>
          <a:prstGeom prst="rect">
            <a:avLst/>
          </a:prstGeom>
          <a:noFill/>
          <a:ln/>
        </p:spPr>
        <p:txBody>
          <a:bodyPr wrap="square" lIns="0" tIns="0" rIns="0" bIns="0" rtlCol="0" anchor="ctr"/>
          <a:lstStyle/>
          <a:p>
            <a:pPr indent="0" marL="0">
              <a:buNone/>
            </a:pPr>
            <a:r>
              <a:rPr lang="en-US" sz="1050" dirty="0">
                <a:solidFill>
                  <a:srgbClr val="6B7280"/>
                </a:solidFill>
                <a:latin typeface="JetBrains Mono" pitchFamily="34" charset="0"/>
                <a:ea typeface="JetBrains Mono" pitchFamily="34" charset="-122"/>
                <a:cs typeface="JetBrains Mono" pitchFamily="34" charset="-120"/>
              </a:rPr>
              <a:t>mint the settlement asset</a:t>
            </a:r>
            <a:endParaRPr lang="en-US" sz="1050" dirty="0"/>
          </a:p>
        </p:txBody>
      </p:sp>
      <p:sp>
        <p:nvSpPr>
          <p:cNvPr id="15" name="Text 12"/>
          <p:cNvSpPr/>
          <p:nvPr/>
        </p:nvSpPr>
        <p:spPr>
          <a:xfrm>
            <a:off x="1152144" y="3950208"/>
            <a:ext cx="2834640" cy="310896"/>
          </a:xfrm>
          <a:prstGeom prst="rect">
            <a:avLst/>
          </a:prstGeom>
          <a:noFill/>
          <a:ln/>
        </p:spPr>
        <p:txBody>
          <a:bodyPr wrap="square" lIns="0" tIns="0" rIns="0" bIns="0" rtlCol="0" anchor="ctr"/>
          <a:lstStyle/>
          <a:p>
            <a:pPr indent="0" marL="0">
              <a:buNone/>
            </a:pPr>
            <a:r>
              <a:rPr lang="en-US" sz="1250" dirty="0">
                <a:solidFill>
                  <a:srgbClr val="8B8AF0"/>
                </a:solidFill>
                <a:latin typeface="JetBrains Mono" pitchFamily="34" charset="0"/>
                <a:ea typeface="JetBrains Mono" pitchFamily="34" charset="-122"/>
                <a:cs typeface="JetBrains Mono" pitchFamily="34" charset="-120"/>
              </a:rPr>
              <a:t>npm run setup:registry</a:t>
            </a:r>
            <a:endParaRPr lang="en-US" sz="1250" dirty="0"/>
          </a:p>
        </p:txBody>
      </p:sp>
      <p:sp>
        <p:nvSpPr>
          <p:cNvPr id="16" name="Text 13"/>
          <p:cNvSpPr/>
          <p:nvPr/>
        </p:nvSpPr>
        <p:spPr>
          <a:xfrm>
            <a:off x="4023360" y="3950208"/>
            <a:ext cx="2505456" cy="310896"/>
          </a:xfrm>
          <a:prstGeom prst="rect">
            <a:avLst/>
          </a:prstGeom>
          <a:noFill/>
          <a:ln/>
        </p:spPr>
        <p:txBody>
          <a:bodyPr wrap="square" lIns="0" tIns="0" rIns="0" bIns="0" rtlCol="0" anchor="ctr"/>
          <a:lstStyle/>
          <a:p>
            <a:pPr indent="0" marL="0">
              <a:buNone/>
            </a:pPr>
            <a:r>
              <a:rPr lang="en-US" sz="1050" dirty="0">
                <a:solidFill>
                  <a:srgbClr val="6B7280"/>
                </a:solidFill>
                <a:latin typeface="JetBrains Mono" pitchFamily="34" charset="0"/>
                <a:ea typeface="JetBrains Mono" pitchFamily="34" charset="-122"/>
                <a:cs typeface="JetBrains Mono" pitchFamily="34" charset="-120"/>
              </a:rPr>
              <a:t>put both agents on chain</a:t>
            </a:r>
            <a:endParaRPr lang="en-US" sz="1050" dirty="0"/>
          </a:p>
        </p:txBody>
      </p:sp>
      <p:sp>
        <p:nvSpPr>
          <p:cNvPr id="17" name="Text 14"/>
          <p:cNvSpPr/>
          <p:nvPr/>
        </p:nvSpPr>
        <p:spPr>
          <a:xfrm>
            <a:off x="1152144" y="4407408"/>
            <a:ext cx="2834640" cy="310896"/>
          </a:xfrm>
          <a:prstGeom prst="rect">
            <a:avLst/>
          </a:prstGeom>
          <a:noFill/>
          <a:ln/>
        </p:spPr>
        <p:txBody>
          <a:bodyPr wrap="square" lIns="0" tIns="0" rIns="0" bIns="0" rtlCol="0" anchor="ctr"/>
          <a:lstStyle/>
          <a:p>
            <a:pPr indent="0" marL="0">
              <a:buNone/>
            </a:pPr>
            <a:r>
              <a:rPr lang="en-US" sz="1250" dirty="0">
                <a:solidFill>
                  <a:srgbClr val="8B8AF0"/>
                </a:solidFill>
                <a:latin typeface="JetBrains Mono" pitchFamily="34" charset="0"/>
                <a:ea typeface="JetBrains Mono" pitchFamily="34" charset="-122"/>
                <a:cs typeface="JetBrains Mono" pitchFamily="34" charset="-120"/>
              </a:rPr>
              <a:t>npm run ui</a:t>
            </a:r>
            <a:endParaRPr lang="en-US" sz="1250" dirty="0"/>
          </a:p>
        </p:txBody>
      </p:sp>
      <p:sp>
        <p:nvSpPr>
          <p:cNvPr id="18" name="Text 15"/>
          <p:cNvSpPr/>
          <p:nvPr/>
        </p:nvSpPr>
        <p:spPr>
          <a:xfrm>
            <a:off x="4023360" y="4407408"/>
            <a:ext cx="2505456" cy="310896"/>
          </a:xfrm>
          <a:prstGeom prst="rect">
            <a:avLst/>
          </a:prstGeom>
          <a:noFill/>
          <a:ln/>
        </p:spPr>
        <p:txBody>
          <a:bodyPr wrap="square" lIns="0" tIns="0" rIns="0" bIns="0" rtlCol="0" anchor="ctr"/>
          <a:lstStyle/>
          <a:p>
            <a:pPr indent="0" marL="0">
              <a:buNone/>
            </a:pPr>
            <a:r>
              <a:rPr lang="en-US" sz="1050" dirty="0">
                <a:solidFill>
                  <a:srgbClr val="6B7280"/>
                </a:solidFill>
                <a:latin typeface="JetBrains Mono" pitchFamily="34" charset="0"/>
                <a:ea typeface="JetBrains Mono" pitchFamily="34" charset="-122"/>
                <a:cs typeface="JetBrains Mono" pitchFamily="34" charset="-120"/>
              </a:rPr>
              <a:t>the agent console</a:t>
            </a:r>
            <a:endParaRPr lang="en-US" sz="1050" dirty="0"/>
          </a:p>
        </p:txBody>
      </p:sp>
      <p:sp>
        <p:nvSpPr>
          <p:cNvPr id="19" name="Shape 16"/>
          <p:cNvSpPr/>
          <p:nvPr/>
        </p:nvSpPr>
        <p:spPr>
          <a:xfrm>
            <a:off x="7315200" y="2377440"/>
            <a:ext cx="4050792" cy="1261872"/>
          </a:xfrm>
          <a:prstGeom prst="roundRect">
            <a:avLst>
              <a:gd name="adj" fmla="val 4348"/>
            </a:avLst>
          </a:prstGeom>
          <a:solidFill>
            <a:srgbClr val="1C212B"/>
          </a:solidFill>
          <a:ln w="12700">
            <a:solidFill>
              <a:srgbClr val="363C49"/>
            </a:solidFill>
            <a:prstDash val="solid"/>
          </a:ln>
        </p:spPr>
      </p:sp>
      <p:sp>
        <p:nvSpPr>
          <p:cNvPr id="20" name="Text 17"/>
          <p:cNvSpPr/>
          <p:nvPr/>
        </p:nvSpPr>
        <p:spPr>
          <a:xfrm>
            <a:off x="7626096" y="2651760"/>
            <a:ext cx="3429000" cy="219456"/>
          </a:xfrm>
          <a:prstGeom prst="rect">
            <a:avLst/>
          </a:prstGeom>
          <a:noFill/>
          <a:ln/>
        </p:spPr>
        <p:txBody>
          <a:bodyPr wrap="square" lIns="0" tIns="0" rIns="0" bIns="0" rtlCol="0" anchor="ctr"/>
          <a:lstStyle/>
          <a:p>
            <a:pPr indent="0" marL="0">
              <a:buNone/>
            </a:pPr>
            <a:r>
              <a:rPr lang="en-US" sz="950" b="1" spc="140" kern="0" dirty="0">
                <a:solidFill>
                  <a:srgbClr val="8B8AF0"/>
                </a:solidFill>
                <a:latin typeface="JetBrains Mono" pitchFamily="34" charset="0"/>
                <a:ea typeface="JetBrains Mono" pitchFamily="34" charset="-122"/>
                <a:cs typeface="JetBrains Mono" pitchFamily="34" charset="-120"/>
              </a:rPr>
              <a:t>FAUCET · ONE WALLET</a:t>
            </a:r>
            <a:endParaRPr lang="en-US" sz="950" dirty="0"/>
          </a:p>
        </p:txBody>
      </p:sp>
      <p:sp>
        <p:nvSpPr>
          <p:cNvPr id="21" name="Text 18"/>
          <p:cNvSpPr/>
          <p:nvPr/>
        </p:nvSpPr>
        <p:spPr>
          <a:xfrm>
            <a:off x="7626096" y="2971800"/>
            <a:ext cx="3429000" cy="384048"/>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voyage.moi.technology</a:t>
            </a:r>
            <a:endParaRPr lang="en-US" sz="1900" dirty="0"/>
          </a:p>
        </p:txBody>
      </p:sp>
      <p:sp>
        <p:nvSpPr>
          <p:cNvPr id="22" name="Shape 19"/>
          <p:cNvSpPr/>
          <p:nvPr/>
        </p:nvSpPr>
        <p:spPr>
          <a:xfrm>
            <a:off x="7315200" y="3785616"/>
            <a:ext cx="4050792" cy="1261872"/>
          </a:xfrm>
          <a:prstGeom prst="roundRect">
            <a:avLst>
              <a:gd name="adj" fmla="val 4348"/>
            </a:avLst>
          </a:prstGeom>
          <a:solidFill>
            <a:srgbClr val="1C212B"/>
          </a:solidFill>
          <a:ln w="12700">
            <a:solidFill>
              <a:srgbClr val="363C49"/>
            </a:solidFill>
            <a:prstDash val="solid"/>
          </a:ln>
        </p:spPr>
      </p:sp>
      <p:sp>
        <p:nvSpPr>
          <p:cNvPr id="23" name="Text 20"/>
          <p:cNvSpPr/>
          <p:nvPr/>
        </p:nvSpPr>
        <p:spPr>
          <a:xfrm>
            <a:off x="7626096" y="4059936"/>
            <a:ext cx="3429000" cy="219456"/>
          </a:xfrm>
          <a:prstGeom prst="rect">
            <a:avLst/>
          </a:prstGeom>
          <a:noFill/>
          <a:ln/>
        </p:spPr>
        <p:txBody>
          <a:bodyPr wrap="square" lIns="0" tIns="0" rIns="0" bIns="0" rtlCol="0" anchor="ctr"/>
          <a:lstStyle/>
          <a:p>
            <a:pPr indent="0" marL="0">
              <a:buNone/>
            </a:pPr>
            <a:r>
              <a:rPr lang="en-US" sz="950" b="1" spc="140" kern="0" dirty="0">
                <a:solidFill>
                  <a:srgbClr val="3CCB8E"/>
                </a:solidFill>
                <a:latin typeface="JetBrains Mono" pitchFamily="34" charset="0"/>
                <a:ea typeface="JetBrains Mono" pitchFamily="34" charset="-122"/>
                <a:cs typeface="JetBrains Mono" pitchFamily="34" charset="-120"/>
              </a:rPr>
              <a:t>NEXT</a:t>
            </a:r>
            <a:endParaRPr lang="en-US" sz="950" dirty="0"/>
          </a:p>
        </p:txBody>
      </p:sp>
      <p:sp>
        <p:nvSpPr>
          <p:cNvPr id="24" name="Text 21"/>
          <p:cNvSpPr/>
          <p:nvPr/>
        </p:nvSpPr>
        <p:spPr>
          <a:xfrm>
            <a:off x="7626096" y="4379976"/>
            <a:ext cx="3429000" cy="384048"/>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Session 8 — authority</a:t>
            </a:r>
            <a:endParaRPr lang="en-US" sz="1900" dirty="0"/>
          </a:p>
        </p:txBody>
      </p:sp>
      <p:sp>
        <p:nvSpPr>
          <p:cNvPr id="25" name="Text 22"/>
          <p:cNvSpPr/>
          <p:nvPr/>
        </p:nvSpPr>
        <p:spPr>
          <a:xfrm>
            <a:off x="822960" y="5303520"/>
            <a:ext cx="10543032" cy="548640"/>
          </a:xfrm>
          <a:prstGeom prst="rect">
            <a:avLst/>
          </a:prstGeom>
          <a:noFill/>
          <a:ln/>
        </p:spPr>
        <p:txBody>
          <a:bodyPr wrap="square" lIns="0" tIns="0" rIns="0" bIns="0" rtlCol="0" anchor="ctr"/>
          <a:lstStyle/>
          <a:p>
            <a:pPr indent="0" marL="0">
              <a:buNone/>
            </a:pPr>
            <a:r>
              <a:rPr lang="en-US" sz="1750" b="1" dirty="0">
                <a:solidFill>
                  <a:srgbClr val="B9BECD"/>
                </a:solidFill>
                <a:latin typeface="Inter" pitchFamily="34" charset="0"/>
                <a:ea typeface="Inter" pitchFamily="34" charset="-122"/>
                <a:cs typeface="Inter" pitchFamily="34" charset="-120"/>
              </a:rPr>
              <a:t>The payment was the easy half. </a:t>
            </a:r>
            <a:pPr indent="0" marL="0">
              <a:buNone/>
            </a:pPr>
            <a:r>
              <a:rPr lang="en-US" sz="1750" b="1" dirty="0">
                <a:solidFill>
                  <a:srgbClr val="FFFFFF"/>
                </a:solidFill>
                <a:latin typeface="Inter" pitchFamily="34" charset="0"/>
                <a:ea typeface="Inter" pitchFamily="34" charset="-122"/>
                <a:cs typeface="Inter" pitchFamily="34" charset="-120"/>
              </a:rPr>
              <a:t>Knowing who you're paying is what makes it safe.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MOI Builders · Session 07 — Agentic Payments</dc:title>
  <dc:subject>PptxGenJS Presentation</dc:subject>
  <dc:creator>Sarva Labs</dc:creator>
  <cp:lastModifiedBy>Sarva Labs</cp:lastModifiedBy>
  <cp:revision>1</cp:revision>
  <dcterms:created xsi:type="dcterms:W3CDTF">2026-08-05T19:59:07Z</dcterms:created>
  <dcterms:modified xsi:type="dcterms:W3CDTF">2026-08-05T19:59:07Z</dcterms:modified>
</cp:coreProperties>
</file>