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9" r:id="rId4"/>
    <p:sldId id="260" r:id="rId5"/>
    <p:sldId id="261" r:id="rId6"/>
    <p:sldId id="262" r:id="rId7"/>
    <p:sldId id="264" r:id="rId14"/>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  <Relationship Id="rId14" Type="http://schemas.openxmlformats.org/officeDocument/2006/relationships/slide" Target="slides/slide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239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DECK · slide 1 ]
Hey everyone — welcome back to MOI Builders. I'm Adi, I work on ecosystem here at Sarva Labs, and this is session seven.
If you're new: the repo link's in the description. Everything I run today is in there, so you can follow along or break it afterwards.
Today is easy to say and fun to watch: two agents — and one of them is going to buy something from the other, without knowing the other one exists.
Let me introduce the cast.
[ next slide ]</a:t>
            </a:r>
            <a:r>
              <a:rPr lang="en-US" dirty="0" err="1"/>
              <a:t>gonna</a:t>
            </a:r>
            <a:r>
              <a:rPr lang="en-US" dirty="0"/>
              <a:t> be an easy and fun to watch session: two agents — and one of them is going to buy something from
the other, without knowing the other one exists.
Let me introduce the cast.
[ next slide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kern="1200" dirty="0">
                <a:solidFill>
                  <a:schemeClr val="tx1"/>
                </a:solidFill>
                <a:effectLst/>
                <a:latin typeface="+mn-lt"/>
                <a:ea typeface="+mn-ea"/>
                <a:cs typeface="+mn-cs"/>
              </a:rPr>
              <a:t>So we have two agents.</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So we have two agents.
On the right — we've got the Probability Book Desk agent, who is the seller. It sells bitcoin probability books: so for example you can ask it a yes-or-no question about the future like, will bitcoin drop twenty percent this quarter — and it sells you back a number. And it sets its own price, per answer, every time someone asks. And a number like that is worth paying for, because it changes what you do next — a thirty percent chance of a crash means acting very differently than a three percent one.
On the left — we've got the Risk Agent, who is the buyer. It's got a question it can't answer, and it's got a wallet. And it's been instructed not to answer questions it doesn't know anything about, but to instead go search the MOI agent registry for an agent that is capable of that task.
And I want to be clear about one thing: both of these are actual live agents with brains running on Groq, and each of them has real decisions that belong to it. The seller decides what to charge — it watches how much demand each question is getting and marks its prices up when one runs hot, inside limits it can't break. And the buyer decides what to buy — it reads the catalog, picks whichever market actually answers its question, and then judges for itself whether the price it gets quoted is worth paying. So the prices you'll see quoted and the choices you'll see made are decisions the models are making during this run, not a script I recorded earlier.
[ point at the gap in the middle ]
Here's the catch: the buyer doesn't know the seller exists. No URL, no API key for each other, no account. The one thing they share is that strip at the bottom — they're both registered on MOI. Which means each of them has an on-chain identity that anyone can look up, with a wallet attached to it.
So here's what you're about to watch, in one breath. The buyer searches MOI's agent registry and finds the seller. It gets quoted a price. It checks, on chain, that the address it's told to pay really belongs to that agent. It pays from its own wallet. The seller confirms the payment by reading the chain — and hands over the answer.
That's the whole flow. Let's watch it for real.
[ &gt;&gt;&gt; SWITCH TO BROWSER — http://localhost:4000 ]
[ CAREFUL: the seller prices per request, but it can NOT decline a sale — not implemented. ]</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On the left — we've got the Risk Agent, who is the buyer. It's got a question it can't answer, and it's got a wallet. And it's been instructed not to answer questions it doesn't know anything about, but to instead go search the MOI agent registry for an agent that is capable of that task.</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And I want to be clear about one thing: both of these are actual live agents running on </a:t>
            </a:r>
            <a:r>
              <a:rPr lang="en-US" sz="1200" b="0" i="0" kern="1200" dirty="0" err="1">
                <a:solidFill>
                  <a:schemeClr val="tx1"/>
                </a:solidFill>
                <a:effectLst/>
                <a:latin typeface="+mn-lt"/>
                <a:ea typeface="+mn-ea"/>
                <a:cs typeface="+mn-cs"/>
              </a:rPr>
              <a:t>Groq</a:t>
            </a:r>
            <a:r>
              <a:rPr lang="en-US" sz="1200" b="0" i="0" kern="1200" dirty="0">
                <a:solidFill>
                  <a:schemeClr val="tx1"/>
                </a:solidFill>
                <a:effectLst/>
                <a:latin typeface="+mn-lt"/>
                <a:ea typeface="+mn-ea"/>
                <a:cs typeface="+mn-cs"/>
              </a:rPr>
              <a:t>. The prices you'll see quoted and the choices you'll see made are decisions the models are making during the run, not a script I recorded earlier.</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 point at the gap in the middle ]</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Here's the catch: the buyer doesn't know the seller exists. No URL, no API key for each other, no account. The one thing they share is that strip at the bottom </a:t>
            </a:r>
          </a:p>
          <a:p>
            <a:pPr rtl="0"/>
            <a:r>
              <a:rPr lang="en-US" sz="1200" b="0" i="0" kern="1200" dirty="0">
                <a:solidFill>
                  <a:schemeClr val="tx1"/>
                </a:solidFill>
                <a:effectLst/>
                <a:latin typeface="+mn-lt"/>
                <a:ea typeface="+mn-ea"/>
                <a:cs typeface="+mn-cs"/>
              </a:rPr>
              <a:t>— they're both registered on MOI. Which means each of them has an on-chain identity that anyone can look up, with a wallet attached to it.</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So here's what you're about to watch, in one breath. The buyer searches MOI's agent registry and finds the seller. It gets quoted a price. It checks, on chain, that the address it's told to pay really belongs to that agent. It pays from its own wallet. The seller confirms the payment by reading the chain — and hands over the answer.</a:t>
            </a:r>
          </a:p>
          <a:p>
            <a:pPr rtl="0"/>
            <a:r>
              <a:rPr lang="en-US" sz="1200" b="0" i="0" kern="1200" dirty="0">
                <a:solidFill>
                  <a:schemeClr val="tx1"/>
                </a:solidFill>
                <a:effectLst/>
                <a:latin typeface="+mn-lt"/>
                <a:ea typeface="+mn-ea"/>
                <a:cs typeface="+mn-cs"/>
              </a:rPr>
              <a:t>That's the whole flow. Let's watch it for real.</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 &gt;&gt;&gt; SWITCH TO BROWSER — http://localhost:4000 ]</a:t>
            </a:r>
          </a:p>
          <a:p>
            <a:pPr rtl="0"/>
            <a:r>
              <a:rPr lang="en-US" sz="1200" b="0" i="0" kern="1200" dirty="0">
                <a:solidFill>
                  <a:schemeClr val="tx1"/>
                </a:solidFill>
                <a:effectLst/>
                <a:latin typeface="+mn-lt"/>
                <a:ea typeface="+mn-ea"/>
                <a:cs typeface="+mn-cs"/>
              </a:rPr>
              <a:t>[ CAREFUL: the seller prices per request, but it can NOT decline a sale — not implemented. ]</a:t>
            </a:r>
          </a:p>
          <a:p>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http://localhost:4000/?gap=7000 — each card holds ~7 seconds even if the agent finishes early.
[ SETUP — before you hit Ask ]
So what you're looking at now is the console for the buyer agent — the Risk Agent. And the way this works is that we type in a question the way a human would ask it, and from that point on the agent runs completely alone — every card that appears on this page is its live thought process: what it decided, what it read off the chain, and whether it moved any money. Nothing on this page is pre-scripted.
TYPE: How likely is a big bitcoin drawdown this quarter?   Hit Ask.
— Card 1 · "I don't know the answer to this" (buyer) —
So the first thing it does is admit that it can't answer this by itself. And instead of guessing, it goes to the MOI agent registry and starts scanning for agents tagged with the skill sells-books — and I want to be clear, this is not a Google search, it's an on-chain listing of agents and the skills they've registered. So what it's looking for is who sells this, not some URL we hardcoded into the demo.
— Card 2 · "Found one: agent_…" (chain) —
And there it is — it found one. Everything on this card came off the chain: the agent id, its status, the wallet it registered, its service URL, and the skills it advertises. Nobody handed it an address anywhere — discovery finished before any talk of payment even started.
— Card 3 · "Here is what I sell" (seller) —
Now it's reading the seller's catalog, and the catalog is free — the questions are public, it's only the answers that cost money. And notice these are just the opening prices, because the desk sets the real price at the moment we actually ask for a specific market.
— Card 4 · "This is the one I want: …" (buyer) —
And here's the buyer's model making its first real decision — it picks whichever market actually answers our question, and it tells you why it picked it. And note that still, no money has moved.
— Card 5 · "402 Payment Required" (seller) —
And here comes the bill — a classic HTTP 402, Payment Required. What the seller is saying is: you can have it, here's the price, here's the wallet to pay, and here's my agent id. And this is just a quote — nothing has been delivered yet.
— Card 6 · "X USDM — I'll pay that" (buyer) —
So now the buyer has to decide whether that price is actually worth paying — it weighs the quote against its own ceiling, the list price, and the seller's justification, and in this case it accepted. And notice it still hasn't paid, because the next check is the one that actually matters.
— Card 7 · "Checked who I am paying" (buyer) —  ** BEAT THIS HARD **
Because here's the thing — that quote just handed it thirty-two bytes and said send money here. And thirty-two bytes tell you where to send money, but they tell you absolutely nothing about whose address that is. So before paying, the agent goes back to the registry and asks: what wallet did this agent actually register? And they match — so it's safe to pay. And that right there is the MOI piece of this entire session: a payment protocol can tell you where, but only the registry can tell you whose.
— Card 8 · "Paid — on chain, from my own wallet" (chain) —
And now the money has actually moved — a real transfer, and on MOI only the owner can move their own funds, so the buyer signed this transaction itself. That interaction hash is real, by the way — you can paste it into Voyage later and it'll be sitting right there.
— Card 9 · "I checked your payment myself" (seller) —
And on the other side, the seller doesn't take the buyer's word for any of this. It reads that transaction off the chain itself and runs its own checks — right sender, right recipient, right amount, and not already spent on something else. And notice there's no facilitator in the middle here, no payment processor — the seller verifies everything for itself.
— Card 10 · "Paid — here is what you bought" (seller) —
And payment confirmed means the book unlocks — a probability, a confidence, and a basis. And I'll say this plainly because it's a number about bitcoin: the forecast itself is synthetic for the demo — but the payment path you just watched was completely real.
— Footer —
So that's one full loop: discover by skill, browse, choose, get quoted, check the price, check the identity, pay, seller verifies, deliver. And the balance at the top should have dropped by exactly the quoted amount.
Closer, while they watch:
"You're not watching an API tutorial. You're watching an agent decide — live — whether another agent is safe to pay."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Bridge from the UI ]
So that was the console — the agent thinking out loud. And now I want to show you the two pieces of that which actually touch MOI, because there are really only two: how we find an agent on the registry, and how the buyer builds and signs a real transfer. Everything else you watched is ordinary web code, and I'll come back to that at the end.
[ FILE 1 — open scripts/showcase-discover-all.ts ]
Let's start with discovery, because nobody gave the buyer a URL — all it had was a skill it was looking for. And the first thing I want to do here is lower your expectations, because the registry is not a search engine. What the registry gives you is a place where every agent has written down a card about itself — who it is, where it lives, and what it can do — and those capabilities are just skill tags. So discovery means: get the list of agents, pull each one's profile, decode its card, and keep whoever has the tag you're hunting. It's a client-side scan, and that's the honest shape of it.
[ L22 — const TAG = "sells-books" ]
So here's the tag we're hunting — sells-books. And notice this is the same string the buyer used in the console, and it lives on the seller's on-chain card — not in a config file of mine, and not a URL we hardcoded anywhere.
[ L25–26 — buyerAccount() / registryClient(buyer, false) ]
We load the buyer's wallet and open a registry client with it. And everything from here is reads — nothing gets paid, nothing gets signed, we're just looking things up.
[ L30 — reg.getAllAgentIds() ]  ** BEAT THIS **
And this is the call for the slide: getAllAgentIds — give me every agent on the registry. That's the mental model I want you to keep: discovery is walking the registry. Now, in the live demo you just watched, the source of that id list is scoped down — same walk, bounded set — and the loop below is identical either way.
[ L35–47 — for (const id of ids) → getProfile / readInlineCard / cardSkills ]
And here's the whole loop, and it's three moves per agent. Pull the profile — that's the wallet, the URL, the status, the card. Decode the card and read its skill tags. And if the tag matches, keep it. That card 2 you saw in the console — "Found one" — is literally this filter returning a hit.
[ L40–45 — matches.push({ agentId, wallet, url, tags }) ]
And look at what we keep, because this is everything the rest of the session runs on: the agent id, the URL to call — and the registered wallet, which is the thing we'll check the invoice against later. So discovery never pays anybody. Discovery resolves who and where, and that's all it does.
[ FILE 2 — open packages/agent-buyer/src/pay.ts, jump to ~L70 ]
Okay — so the buyer found the seller, got quoted a price, decided it was fair, and checked the identity. Now the interesting part: how does an agent actually hand over money? And the thing to hold onto through this file is that there are two signatures. The first one moves the money — that's the transfer on MOI. And the second one proves the payment belongs to this purchase — that's a claim the buyer signs afterwards. The buyer pushes; the seller never, ever pulls.
[ L70–71 — await opts.approve(quote) ]
Before anything gets spent, this line — approve. That's the safety catch: is the price within my limit, and is this address really this seller. And the ordering matters, because on MOI once money moves, it's gone — there's no escrow in this demo and nobody to appeal to. So refusing has to happen before paying, because refusing is free and paying is final.
[ L78 — new MAS0AssetLogic(quote.asset, opts.buyer.wallet) ]
Then we bind the token from the quote to the buyer's own wallet — and that wallet is the signer. That's USDM in our case.
[ L79 — asset.transfer(quote.payTo, transferAmount).send() ]  ** BEAT THIS **
And this single line is the MOI payment. transfer builds the interaction — move this many units to that address — and .send() signs it with the buyer's key and submits it to the chain. Nobody co-signs this, no service relays it, and nobody else could produce it — because on MOI, the only key the chain will accept for this account's money is the owner's.
[ L80–82 — ix.result() / txHash = ix.hash ]
We wait for the chain to include it, and back comes the interaction hash. And that hash is the receipt — that's the thing you can paste into Voyage. The chain is the ground truth here, not anything in the HTTP conversation.
[ L86–95 — const claim: PaymentClaim ]
Now — the transfer has already happened, and it's sitting on a public chain where anyone can see it, including the hash. So what stops a stranger grabbing my hash and collecting the answer I paid for? That's what this claim is for. It binds everything together in one statement: who paid, to whom, in what token, how much, in which transaction, for which URL, with a nonce and an expiry.
[ L96–99 — wallet.sign(canonicalClaimBytes(claim), …) ]
And then the second signature — the same wallet that paid signs those exact bytes. So now the payment and the request are tied together cryptographically: the first signature moved the money, and this one says that transfer was mine, and it was for this.
[ L102–107 — const proof: PaymentProof ]
We pack it all up for the seller — the claim, the public key, the signature — which is everything it needs to check the signature, tie the key back to the account that paid, and go read the transaction off the chain for itself.
[ L111–114 — fetch(url, …) with the "X-Payment-Proof" header ]
And then we just ask again — same URL, proof in a header. So the entire protocol is two HTTP requests: ask, get told the price, pay, ask again with proof. And notice that if the seller rejected us here, the money would already be gone — which is exactly why that approve gate at line 70 runs where it runs.
[ back to the slide — the rest is spoken, no code ]
And the rest of the system is code you already write every day. The buyer's main loop just strings together what you watched — discover, browse, choose, pay. The identity check is card 7, one comparison. The pricing and the worth judgment are the two model brains, and they never touch the chain. The seller's paywall answers 402 and runs seven read-only checks before it unlocks anything. And the console is just the agent's thoughts, paced so a room can read them.
[ Closer ]
So if you remember two things from this section: card 2 in the console was file one — finding an agent by skill. Card 8 was file two — the transfer and the claim. And everything else in this entire system is just deciding whether to do those two things.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Run first: &gt;&gt;&gt; TERMINAL: MAX_PRICE_PER_ANSWER=999999 npm run ask -- "should i be worried about a crash" ]
So before we wrap, one honest thing about the demo you just watched.
The buyer didn't just pay blindly. In its code there's a ceiling — six — and it only pays if the quote comes in under that bar. And that limit is not coming from the chain. It's a constant in the buyer's own source. An environment variable. A line the agent chooses to respect.
That sounds like safety… until you ask where the lock actually lives.
[ point at "the lock is inside the house" ]
If the guardrail is inside the agent, then whoever controls the agent controls the guardrail. Change the env var — limit's gone. Skip the check — limit's gone. Compromise the process — limit's gone. And from the outside, nobody can even see what the rule was supposed to be. So this isn't really a lock on the money. It's a preference the software is trying to follow.
[ point at "caps the purchase, not the wallet" ]
And even when it does hold, notice what it's capping. It's capping one purchase — not the wallet. So if the balance is huge, the agent can still spend it down six at a time, and every single payment still looks "compliant." The rule never broke. The wallet still emptied.
So here's the distinction I want you to leave with:
A limit the agent consults is a preference.
A limit the chain applies is authority.
If the agent can choose to ignore it, it's not authority — it's manners.
[ bottom line ]
What MOI is aiming at next is that second thing: an authority layer — a scope the agent inherits on chain, so the limit isn't optional and isn't sitting in source code it controls. That's Session 8. Today we proved agents can find each other, check who's who, and pay for real. Next, we put a real ceiling underneath that wallet — because an agent that promises not to overspend is not the same thing as an agent that cannot.
Next session: it cannot.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this go from here? And the way to think about it is that this same app grows one layer at a time — nothing gets thrown away, each session stacks on the last.
What you saw today is session seven: two agents, real money, and the one question we actually answered — you always know who you're paying, because the identity lives on chain where both sides can check it.
Session eight is everything you saw today, plus context inheritance. And that's the fix for the crack I just showed you — because right now the buyer holds a raw key, and whoever holds the key holds everything. With context inheritance, the owner carves out a budget on the chain — you may spend this much, and no more — and the agent inherits that authority instead of owning it. So the spending limit stops being a variable in the agent's own code and becomes a rule the chain enforces — the agent can't raise it, can't reword it, and can't be talked out of it, because it was never its to change. Same demo, except when I try to make it overspend, the chain says no.
And session nine is everything in eight, plus x402 — which is the open standard for exactly this kind of payment, the one the broader ecosystem is converging on. Today our two agents speak a little protocol of our own, which means they can only talk to each other. Session nine swaps the wire format for x402 — and at that point any agent that speaks the standard can buy from our seller, and our buyer can pay any x402 server on the internet, with MOI underneath doing the part x402 can't: telling you whose address you're paying. And I'll let you in on something — we've already built that version once, so I know it works.
So that's the shape of it: today, you know who you're paying. Next, the chain puts a leash on our agent. And then, we open the doors to everyone else's agents.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DECK · close ]  Close here, then questions.
That's the session. Everything you watched settled on MOI devnet — the hashes are real, go look them up. The repo's linked, and one funded devnet wallet runs the whole thing end to end — the seller never needs gas, because it only ever receives.
And the thing I'd like you to walk away with isn't the payment. Moving money is the easy part. It's the check that happens in the second before the money moves — and the fact that an agent can only make that check because there's a chain sitting there that it can go and ask.
Next time: what happens when it isn't allowed to spend it in the first place.
Thanks for watching — happy to take questions.
=== LIKELY QUESTIONS ===
Seller takes the money and doesn't deliver? Today you lose it — same as handing over cash. Escrow-style pay-on-delivery is native to MOI (lockup and release), and it's on the roadmap beyond these sessions.
Really two separate agents? Two wallets, two on-chain identities, two independent decisions — but one machine and one mnemonic today. The chain doesn't care; the transfer is real either way.
Why not x402? That's session nine — we've already built it once on a branch, so we know it works. It buys interoperability; the identity check, which is the actual point, is identical in both.
What stops a replayed payment? The transfer hash is burned after one use. Caveat: that set's in memory, so restarting the seller resets it — a real seller would persist it.
Is the product real? No — invented numbers, disclaimed on every response. The payment machinery around it is the real part.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because this is MOI Builders, there's a bounty. The assignment is simple to say: rebuild what you watched today. Two agents of your own — a seller with one paid endpoint, and a buyer that finds it on the registry, checks who it's paying, and pays it for real on devnet. You can sell whatever you like — book summaries, jokes, weather forecasts — because the product isn't the assignment, the payment rails are. What we're looking for is the shape: both agents registered on chain, a 402 quote, the identity check running before the money moves, and a real transfer hash we can look up on Voyage. When it works, the form takes three things — your wallet, your email, and your repo link — and the link is right there on the slide. Everything you need is in the session repo, and one funded devnet wallet covers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Notes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a:effectLst/>
      </p:bgPr>
    </p:bg>
    <p:spTree>
      <p:nvGrpSpPr>
        <p:cNvPr id="1" name=""/>
        <p:cNvGrpSpPr/>
        <p:nvPr/>
      </p:nvGrpSpPr>
      <p:grpSpPr>
        <a:xfrm>
          <a:off x="0" y="0"/>
          <a:ext cx="0" cy="0"/>
          <a:chOff x="0" y="0"/>
          <a:chExt cx="0" cy="0"/>
        </a:xfrm>
      </p:grpSpPr>
      <p:pic>
        <p:nvPicPr>
          <p:cNvPr id="3" name="Image 0" descr="moi-mark.png"/>
          <p:cNvPicPr>
            <a:picLocks noChangeAspect="1"/>
          </p:cNvPicPr>
          <p:nvPr/>
        </p:nvPicPr>
        <p:blipFill>
          <a:blip r:embed="rId3"/>
          <a:stretch>
            <a:fillRect/>
          </a:stretch>
        </p:blipFill>
        <p:spPr>
          <a:xfrm>
            <a:off x="822960" y="1481328"/>
            <a:ext cx="420624" cy="420624"/>
          </a:xfrm>
          <a:prstGeom prst="rect">
            <a:avLst/>
          </a:prstGeom>
        </p:spPr>
      </p:pic>
      <p:sp>
        <p:nvSpPr>
          <p:cNvPr id="4" name="Text 0"/>
          <p:cNvSpPr/>
          <p:nvPr/>
        </p:nvSpPr>
        <p:spPr>
          <a:xfrm>
            <a:off x="822960" y="2139696"/>
            <a:ext cx="5486400" cy="274320"/>
          </a:xfrm>
          <a:prstGeom prst="rect">
            <a:avLst/>
          </a:prstGeom>
          <a:noFill/>
          <a:ln/>
        </p:spPr>
        <p:txBody>
          <a:bodyPr wrap="square" lIns="0" tIns="0" rIns="0" bIns="0" rtlCol="0" anchor="ctr"/>
          <a:lstStyle/>
          <a:p>
            <a:pPr marL="0" indent="0">
              <a:buNone/>
            </a:pPr>
            <a:r>
              <a:rPr lang="en-US" sz="1100" b="1" kern="0" spc="220" dirty="0">
                <a:solidFill>
                  <a:srgbClr val="8B8AF0"/>
                </a:solidFill>
                <a:latin typeface="JetBrains Mono" pitchFamily="34" charset="0"/>
                <a:ea typeface="JetBrains Mono" pitchFamily="34" charset="-122"/>
                <a:cs typeface="JetBrains Mono" pitchFamily="34" charset="-120"/>
              </a:rPr>
              <a:t>MOI BUILDERS · SESSION 07</a:t>
            </a:r>
            <a:endParaRPr lang="en-US" sz="1100" dirty="0"/>
          </a:p>
        </p:txBody>
      </p:sp>
      <p:sp>
        <p:nvSpPr>
          <p:cNvPr id="5" name="Text 1"/>
          <p:cNvSpPr/>
          <p:nvPr/>
        </p:nvSpPr>
        <p:spPr>
          <a:xfrm>
            <a:off x="777240" y="2487168"/>
            <a:ext cx="6400800" cy="1828800"/>
          </a:xfrm>
          <a:prstGeom prst="rect">
            <a:avLst/>
          </a:prstGeom>
          <a:noFill/>
          <a:ln/>
        </p:spPr>
        <p:txBody>
          <a:bodyPr wrap="square" lIns="0" tIns="0" rIns="0" bIns="0" rtlCol="0" anchor="t"/>
          <a:lstStyle/>
          <a:p>
            <a:pPr marL="0" indent="0">
              <a:lnSpc>
                <a:spcPts val="6600"/>
              </a:lnSpc>
              <a:buNone/>
            </a:pPr>
            <a:r>
              <a:rPr lang="en-US" sz="6200" b="1" dirty="0">
                <a:solidFill>
                  <a:srgbClr val="FFFFFF"/>
                </a:solidFill>
                <a:latin typeface="Inter" pitchFamily="34" charset="0"/>
                <a:ea typeface="Inter" pitchFamily="34" charset="-122"/>
                <a:cs typeface="Inter" pitchFamily="34" charset="-120"/>
              </a:rPr>
              <a:t>Agentic</a:t>
            </a:r>
            <a:endParaRPr lang="en-US" sz="6200" dirty="0"/>
          </a:p>
          <a:p>
            <a:pPr marL="0" indent="0">
              <a:lnSpc>
                <a:spcPts val="6600"/>
              </a:lnSpc>
              <a:buNone/>
            </a:pPr>
            <a:r>
              <a:rPr lang="en-US" sz="6200" b="1" dirty="0">
                <a:solidFill>
                  <a:srgbClr val="FFFFFF"/>
                </a:solidFill>
                <a:latin typeface="Inter" pitchFamily="34" charset="0"/>
                <a:ea typeface="Inter" pitchFamily="34" charset="-122"/>
                <a:cs typeface="Inter" pitchFamily="34" charset="-120"/>
              </a:rPr>
              <a:t>Payments</a:t>
            </a:r>
            <a:endParaRPr lang="en-US" sz="6200" dirty="0"/>
          </a:p>
        </p:txBody>
      </p:sp>
      <p:sp>
        <p:nvSpPr>
          <p:cNvPr id="6" name="Text 2"/>
          <p:cNvSpPr/>
          <p:nvPr/>
        </p:nvSpPr>
        <p:spPr>
          <a:xfrm>
            <a:off x="822960" y="4443984"/>
            <a:ext cx="5852160" cy="731520"/>
          </a:xfrm>
          <a:prstGeom prst="rect">
            <a:avLst/>
          </a:prstGeom>
          <a:noFill/>
          <a:ln/>
        </p:spPr>
        <p:txBody>
          <a:bodyPr wrap="square" lIns="0" tIns="0" rIns="0" bIns="0" rtlCol="0" anchor="ctr"/>
          <a:lstStyle/>
          <a:p>
            <a:pPr marL="0" indent="0">
              <a:lnSpc>
                <a:spcPts val="2600"/>
              </a:lnSpc>
              <a:buNone/>
            </a:pPr>
            <a:r>
              <a:rPr lang="en-US" sz="1650" dirty="0">
                <a:solidFill>
                  <a:srgbClr val="B9BECD"/>
                </a:solidFill>
                <a:latin typeface="Inter" pitchFamily="34" charset="0"/>
                <a:ea typeface="Inter" pitchFamily="34" charset="-122"/>
                <a:cs typeface="Inter" pitchFamily="34" charset="-120"/>
              </a:rPr>
              <a:t>An agent finds another agent on MOI — and pays it.</a:t>
            </a:r>
            <a:endParaRPr lang="en-US" sz="1650" dirty="0"/>
          </a:p>
          <a:p>
            <a:pPr marL="0" indent="0">
              <a:lnSpc>
                <a:spcPts val="2600"/>
              </a:lnSpc>
              <a:buNone/>
            </a:pPr>
            <a:r>
              <a:rPr lang="en-US" sz="1650" dirty="0">
                <a:solidFill>
                  <a:srgbClr val="B9BECD"/>
                </a:solidFill>
                <a:latin typeface="Inter" pitchFamily="34" charset="0"/>
                <a:ea typeface="Inter" pitchFamily="34" charset="-122"/>
                <a:cs typeface="Inter" pitchFamily="34" charset="-120"/>
              </a:rPr>
              <a:t>No human, no account, no API key.</a:t>
            </a:r>
            <a:endParaRPr lang="en-US" sz="1650" dirty="0"/>
          </a:p>
        </p:txBody>
      </p:sp>
      <p:sp>
        <p:nvSpPr>
          <p:cNvPr id="7" name="Text 3"/>
          <p:cNvSpPr/>
          <p:nvPr/>
        </p:nvSpPr>
        <p:spPr>
          <a:xfrm>
            <a:off x="822960" y="5321808"/>
            <a:ext cx="5486400" cy="274320"/>
          </a:xfrm>
          <a:prstGeom prst="rect">
            <a:avLst/>
          </a:prstGeom>
          <a:noFill/>
          <a:ln/>
        </p:spPr>
        <p:txBody>
          <a:bodyPr wrap="square" lIns="0" tIns="0" rIns="0" bIns="0" rtlCol="0" anchor="ctr"/>
          <a:lstStyle/>
          <a:p>
            <a:pPr marL="0" indent="0">
              <a:buNone/>
            </a:pPr>
            <a:r>
              <a:rPr lang="en-US" sz="1000" kern="0" spc="180" dirty="0">
                <a:solidFill>
                  <a:srgbClr val="6B7280"/>
                </a:solidFill>
                <a:latin typeface="JetBrains Mono" pitchFamily="34" charset="0"/>
                <a:ea typeface="JetBrains Mono" pitchFamily="34" charset="-122"/>
                <a:cs typeface="JetBrains Mono" pitchFamily="34" charset="-120"/>
              </a:rPr>
              <a:t>PART 1 OF 3 · IDENTITY</a:t>
            </a:r>
            <a:endParaRPr lang="en-US" sz="1000" dirty="0"/>
          </a:p>
        </p:txBody>
      </p:sp>
      <p:sp>
        <p:nvSpPr>
          <p:cNvPr id="8" name="Shape 4"/>
          <p:cNvSpPr/>
          <p:nvPr/>
        </p:nvSpPr>
        <p:spPr>
          <a:xfrm>
            <a:off x="8366760" y="3127248"/>
            <a:ext cx="1097280" cy="914400"/>
          </a:xfrm>
          <a:prstGeom prst="line">
            <a:avLst/>
          </a:prstGeom>
          <a:noFill/>
          <a:ln w="19050">
            <a:solidFill>
              <a:srgbClr val="363C49"/>
            </a:solidFill>
            <a:prstDash val="dash"/>
          </a:ln>
        </p:spPr>
        <p:txBody>
          <a:bodyPr/>
          <a:lstStyle/>
          <a:p>
            <a:endParaRPr lang="en-US"/>
          </a:p>
        </p:txBody>
      </p:sp>
      <p:sp>
        <p:nvSpPr>
          <p:cNvPr id="9" name="Shape 5"/>
          <p:cNvSpPr/>
          <p:nvPr/>
        </p:nvSpPr>
        <p:spPr>
          <a:xfrm>
            <a:off x="7269480" y="2084832"/>
            <a:ext cx="2606040" cy="1170432"/>
          </a:xfrm>
          <a:prstGeom prst="roundRect">
            <a:avLst>
              <a:gd name="adj" fmla="val 4688"/>
            </a:avLst>
          </a:prstGeom>
          <a:solidFill>
            <a:srgbClr val="1C212B"/>
          </a:solidFill>
          <a:ln w="12700">
            <a:solidFill>
              <a:srgbClr val="363C49"/>
            </a:solidFill>
            <a:prstDash val="solid"/>
          </a:ln>
        </p:spPr>
        <p:txBody>
          <a:bodyPr/>
          <a:lstStyle/>
          <a:p>
            <a:endParaRPr lang="en-US"/>
          </a:p>
        </p:txBody>
      </p:sp>
      <p:sp>
        <p:nvSpPr>
          <p:cNvPr id="10" name="Text 6"/>
          <p:cNvSpPr/>
          <p:nvPr/>
        </p:nvSpPr>
        <p:spPr>
          <a:xfrm>
            <a:off x="7525512" y="2249424"/>
            <a:ext cx="2103120" cy="219456"/>
          </a:xfrm>
          <a:prstGeom prst="rect">
            <a:avLst/>
          </a:prstGeom>
          <a:noFill/>
          <a:ln/>
        </p:spPr>
        <p:txBody>
          <a:bodyPr wrap="square" lIns="0" tIns="0" rIns="0" bIns="0" rtlCol="0" anchor="ctr"/>
          <a:lstStyle/>
          <a:p>
            <a:pPr marL="0" indent="0">
              <a:buNone/>
            </a:pPr>
            <a:r>
              <a:rPr lang="en-US" sz="900" b="1" kern="0" spc="140" dirty="0">
                <a:solidFill>
                  <a:srgbClr val="8B8AF0"/>
                </a:solidFill>
                <a:latin typeface="JetBrains Mono" pitchFamily="34" charset="0"/>
                <a:ea typeface="JetBrains Mono" pitchFamily="34" charset="-122"/>
                <a:cs typeface="JetBrains Mono" pitchFamily="34" charset="-120"/>
              </a:rPr>
              <a:t>BUYER</a:t>
            </a:r>
            <a:endParaRPr lang="en-US" sz="900" dirty="0"/>
          </a:p>
        </p:txBody>
      </p:sp>
      <p:sp>
        <p:nvSpPr>
          <p:cNvPr id="11" name="Text 7"/>
          <p:cNvSpPr/>
          <p:nvPr/>
        </p:nvSpPr>
        <p:spPr>
          <a:xfrm>
            <a:off x="7525512" y="2487168"/>
            <a:ext cx="2194560" cy="310896"/>
          </a:xfrm>
          <a:prstGeom prst="rect">
            <a:avLst/>
          </a:prstGeom>
          <a:noFill/>
          <a:ln/>
        </p:spPr>
        <p:txBody>
          <a:bodyPr wrap="square" lIns="0" tIns="0" rIns="0" bIns="0" rtlCol="0" anchor="ctr"/>
          <a:lstStyle/>
          <a:p>
            <a:pPr marL="0" indent="0">
              <a:buNone/>
            </a:pPr>
            <a:r>
              <a:rPr lang="en-US" sz="1700" b="1" dirty="0">
                <a:solidFill>
                  <a:srgbClr val="FFFFFF"/>
                </a:solidFill>
                <a:latin typeface="Inter" pitchFamily="34" charset="0"/>
                <a:ea typeface="Inter" pitchFamily="34" charset="-122"/>
                <a:cs typeface="Inter" pitchFamily="34" charset="-120"/>
              </a:rPr>
              <a:t>Risk Agent</a:t>
            </a:r>
            <a:endParaRPr lang="en-US" sz="1700" dirty="0"/>
          </a:p>
        </p:txBody>
      </p:sp>
      <p:sp>
        <p:nvSpPr>
          <p:cNvPr id="12" name="Text 8"/>
          <p:cNvSpPr/>
          <p:nvPr/>
        </p:nvSpPr>
        <p:spPr>
          <a:xfrm>
            <a:off x="7525512" y="2852928"/>
            <a:ext cx="2194560" cy="237744"/>
          </a:xfrm>
          <a:prstGeom prst="rect">
            <a:avLst/>
          </a:prstGeom>
          <a:noFill/>
          <a:ln/>
        </p:spPr>
        <p:txBody>
          <a:bodyPr wrap="square" lIns="0" tIns="0" rIns="0" bIns="0" rtlCol="0" anchor="ctr"/>
          <a:lstStyle/>
          <a:p>
            <a:pPr marL="0" indent="0">
              <a:buNone/>
            </a:pPr>
            <a:r>
              <a:rPr lang="en-US" sz="900" dirty="0">
                <a:solidFill>
                  <a:srgbClr val="6B7280"/>
                </a:solidFill>
                <a:latin typeface="JetBrains Mono" pitchFamily="34" charset="0"/>
                <a:ea typeface="JetBrains Mono" pitchFamily="34" charset="-122"/>
                <a:cs typeface="JetBrains Mono" pitchFamily="34" charset="-120"/>
              </a:rPr>
              <a:t>0x…8ef2c197…</a:t>
            </a:r>
            <a:endParaRPr lang="en-US" sz="900" dirty="0"/>
          </a:p>
        </p:txBody>
      </p:sp>
      <p:sp>
        <p:nvSpPr>
          <p:cNvPr id="13" name="Shape 9"/>
          <p:cNvSpPr/>
          <p:nvPr/>
        </p:nvSpPr>
        <p:spPr>
          <a:xfrm>
            <a:off x="8732520" y="4041648"/>
            <a:ext cx="2606040" cy="1170432"/>
          </a:xfrm>
          <a:prstGeom prst="roundRect">
            <a:avLst>
              <a:gd name="adj" fmla="val 4688"/>
            </a:avLst>
          </a:prstGeom>
          <a:solidFill>
            <a:srgbClr val="1C212B"/>
          </a:solidFill>
          <a:ln w="12700">
            <a:solidFill>
              <a:srgbClr val="363C49"/>
            </a:solidFill>
            <a:prstDash val="solid"/>
          </a:ln>
        </p:spPr>
        <p:txBody>
          <a:bodyPr/>
          <a:lstStyle/>
          <a:p>
            <a:endParaRPr lang="en-US"/>
          </a:p>
        </p:txBody>
      </p:sp>
      <p:sp>
        <p:nvSpPr>
          <p:cNvPr id="14" name="Text 10"/>
          <p:cNvSpPr/>
          <p:nvPr/>
        </p:nvSpPr>
        <p:spPr>
          <a:xfrm>
            <a:off x="8988552" y="4206240"/>
            <a:ext cx="2103120" cy="219456"/>
          </a:xfrm>
          <a:prstGeom prst="rect">
            <a:avLst/>
          </a:prstGeom>
          <a:noFill/>
          <a:ln/>
        </p:spPr>
        <p:txBody>
          <a:bodyPr wrap="square" lIns="0" tIns="0" rIns="0" bIns="0" rtlCol="0" anchor="ctr"/>
          <a:lstStyle/>
          <a:p>
            <a:pPr marL="0" indent="0">
              <a:buNone/>
            </a:pPr>
            <a:r>
              <a:rPr lang="en-US" sz="900" b="1" kern="0" spc="140" dirty="0">
                <a:solidFill>
                  <a:srgbClr val="8B8AF0"/>
                </a:solidFill>
                <a:latin typeface="JetBrains Mono" pitchFamily="34" charset="0"/>
                <a:ea typeface="JetBrains Mono" pitchFamily="34" charset="-122"/>
                <a:cs typeface="JetBrains Mono" pitchFamily="34" charset="-120"/>
              </a:rPr>
              <a:t>SELLER</a:t>
            </a:r>
            <a:endParaRPr lang="en-US" sz="900" dirty="0"/>
          </a:p>
        </p:txBody>
      </p:sp>
      <p:sp>
        <p:nvSpPr>
          <p:cNvPr id="15" name="Text 11"/>
          <p:cNvSpPr/>
          <p:nvPr/>
        </p:nvSpPr>
        <p:spPr>
          <a:xfrm>
            <a:off x="8988552" y="4443984"/>
            <a:ext cx="2194560" cy="310896"/>
          </a:xfrm>
          <a:prstGeom prst="rect">
            <a:avLst/>
          </a:prstGeom>
          <a:noFill/>
          <a:ln/>
        </p:spPr>
        <p:txBody>
          <a:bodyPr wrap="square" lIns="0" tIns="0" rIns="0" bIns="0" rtlCol="0" anchor="ctr"/>
          <a:lstStyle/>
          <a:p>
            <a:pPr marL="0" indent="0">
              <a:buNone/>
            </a:pPr>
            <a:r>
              <a:rPr lang="en-US" sz="1700" b="1" dirty="0">
                <a:solidFill>
                  <a:srgbClr val="FFFFFF"/>
                </a:solidFill>
                <a:latin typeface="Inter" pitchFamily="34" charset="0"/>
                <a:ea typeface="Inter" pitchFamily="34" charset="-122"/>
                <a:cs typeface="Inter" pitchFamily="34" charset="-120"/>
              </a:rPr>
              <a:t>Probability Book Desk</a:t>
            </a:r>
            <a:endParaRPr lang="en-US" sz="1700" dirty="0"/>
          </a:p>
        </p:txBody>
      </p:sp>
      <p:sp>
        <p:nvSpPr>
          <p:cNvPr id="16" name="Text 12"/>
          <p:cNvSpPr/>
          <p:nvPr/>
        </p:nvSpPr>
        <p:spPr>
          <a:xfrm>
            <a:off x="8988552" y="4809744"/>
            <a:ext cx="2194560" cy="237744"/>
          </a:xfrm>
          <a:prstGeom prst="rect">
            <a:avLst/>
          </a:prstGeom>
          <a:noFill/>
          <a:ln/>
        </p:spPr>
        <p:txBody>
          <a:bodyPr wrap="square" lIns="0" tIns="0" rIns="0" bIns="0" rtlCol="0" anchor="ctr"/>
          <a:lstStyle/>
          <a:p>
            <a:pPr marL="0" indent="0">
              <a:buNone/>
            </a:pPr>
            <a:r>
              <a:rPr lang="en-US" sz="900" dirty="0">
                <a:solidFill>
                  <a:srgbClr val="6B7280"/>
                </a:solidFill>
                <a:latin typeface="JetBrains Mono" pitchFamily="34" charset="0"/>
                <a:ea typeface="JetBrains Mono" pitchFamily="34" charset="-122"/>
                <a:cs typeface="JetBrains Mono" pitchFamily="34" charset="-120"/>
              </a:rPr>
              <a:t>0x…1d2f8c28…</a:t>
            </a:r>
            <a:endParaRPr lang="en-US" sz="900" dirty="0"/>
          </a:p>
        </p:txBody>
      </p:sp>
      <p:sp>
        <p:nvSpPr>
          <p:cNvPr id="17" name="Shape 13"/>
          <p:cNvSpPr/>
          <p:nvPr/>
        </p:nvSpPr>
        <p:spPr>
          <a:xfrm>
            <a:off x="8686800" y="3383280"/>
            <a:ext cx="420624" cy="420624"/>
          </a:xfrm>
          <a:prstGeom prst="ellipse">
            <a:avLst/>
          </a:prstGeom>
          <a:solidFill>
            <a:srgbClr val="0E1116"/>
          </a:solidFill>
          <a:ln w="15875">
            <a:solidFill>
              <a:srgbClr val="D6336C"/>
            </a:solidFill>
            <a:prstDash val="solid"/>
          </a:ln>
        </p:spPr>
        <p:txBody>
          <a:bodyPr/>
          <a:lstStyle/>
          <a:p>
            <a:endParaRPr lang="en-US"/>
          </a:p>
        </p:txBody>
      </p:sp>
      <p:sp>
        <p:nvSpPr>
          <p:cNvPr id="18" name="Text 14"/>
          <p:cNvSpPr/>
          <p:nvPr/>
        </p:nvSpPr>
        <p:spPr>
          <a:xfrm>
            <a:off x="8686800" y="3383280"/>
            <a:ext cx="420624" cy="420624"/>
          </a:xfrm>
          <a:prstGeom prst="rect">
            <a:avLst/>
          </a:prstGeom>
          <a:noFill/>
          <a:ln/>
        </p:spPr>
        <p:txBody>
          <a:bodyPr wrap="square" lIns="0" tIns="0" rIns="0" bIns="0" rtlCol="0" anchor="ctr"/>
          <a:lstStyle/>
          <a:p>
            <a:pPr marL="0" indent="0" algn="ctr">
              <a:buNone/>
            </a:pPr>
            <a:r>
              <a:rPr lang="en-US" sz="1300" b="1" dirty="0">
                <a:solidFill>
                  <a:srgbClr val="D6336C"/>
                </a:solidFill>
                <a:latin typeface="Inter" pitchFamily="34" charset="0"/>
                <a:ea typeface="Inter" pitchFamily="34" charset="-122"/>
                <a:cs typeface="Inter" pitchFamily="34" charset="-120"/>
              </a:rPr>
              <a:t>✕</a:t>
            </a:r>
            <a:endParaRPr lang="en-US" sz="1300" dirty="0"/>
          </a:p>
        </p:txBody>
      </p:sp>
      <p:sp>
        <p:nvSpPr>
          <p:cNvPr id="19" name="Text 15"/>
          <p:cNvSpPr/>
          <p:nvPr/>
        </p:nvSpPr>
        <p:spPr>
          <a:xfrm>
            <a:off x="9189720" y="3456432"/>
            <a:ext cx="1645920" cy="274320"/>
          </a:xfrm>
          <a:prstGeom prst="rect">
            <a:avLst/>
          </a:prstGeom>
          <a:noFill/>
          <a:ln/>
        </p:spPr>
        <p:txBody>
          <a:bodyPr wrap="square" lIns="0" tIns="0" rIns="0" bIns="0" rtlCol="0" anchor="ctr"/>
          <a:lstStyle/>
          <a:p>
            <a:pPr marL="0" indent="0">
              <a:buNone/>
            </a:pPr>
            <a:r>
              <a:rPr lang="en-US" sz="1000" dirty="0">
                <a:solidFill>
                  <a:srgbClr val="9AA0AE"/>
                </a:solidFill>
                <a:latin typeface="JetBrains Mono" pitchFamily="34" charset="0"/>
                <a:ea typeface="JetBrains Mono" pitchFamily="34" charset="-122"/>
                <a:cs typeface="JetBrains Mono" pitchFamily="34" charset="-120"/>
              </a:rPr>
              <a:t>never met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marL="0" indent="0">
              <a:buNone/>
            </a:pPr>
            <a:r>
              <a:rPr lang="en-US" sz="1000" b="1" kern="0" spc="140" dirty="0">
                <a:solidFill>
                  <a:srgbClr val="2D2BB6"/>
                </a:solidFill>
                <a:latin typeface="JetBrains Mono" pitchFamily="34" charset="0"/>
                <a:ea typeface="JetBrains Mono" pitchFamily="34" charset="-122"/>
                <a:cs typeface="JetBrains Mono" pitchFamily="34" charset="-120"/>
              </a:rPr>
              <a:t>MOI · BUILD 02</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marL="0" indent="0" algn="r">
              <a:buNone/>
            </a:pPr>
            <a:r>
              <a:rPr lang="en-US" sz="1000" kern="0" spc="140" dirty="0">
                <a:solidFill>
                  <a:srgbClr val="5B6170"/>
                </a:solidFill>
                <a:latin typeface="JetBrains Mono" pitchFamily="34" charset="0"/>
                <a:ea typeface="JetBrains Mono" pitchFamily="34" charset="-122"/>
                <a:cs typeface="JetBrains Mono" pitchFamily="34" charset="-120"/>
              </a:rPr>
              <a:t>THE SETUP</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marL="0" indent="0">
              <a:buNone/>
            </a:pPr>
            <a:r>
              <a:rPr lang="en-US" sz="900" dirty="0">
                <a:solidFill>
                  <a:srgbClr val="9AA0AE"/>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marL="0" indent="0" algn="r">
              <a:buNone/>
            </a:pPr>
            <a:r>
              <a:rPr lang="en-US" sz="900" dirty="0">
                <a:solidFill>
                  <a:srgbClr val="9AA0AE"/>
                </a:solidFill>
                <a:latin typeface="JetBrains Mono" pitchFamily="34" charset="0"/>
                <a:ea typeface="JetBrains Mono" pitchFamily="34" charset="-122"/>
                <a:cs typeface="JetBrains Mono" pitchFamily="34" charset="-120"/>
              </a:rPr>
              <a:t>02 / 8</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marL="0" indent="0">
              <a:buNone/>
            </a:pPr>
            <a:r>
              <a:rPr lang="en-US" sz="3800" b="1" dirty="0">
                <a:solidFill>
                  <a:srgbClr val="0E1116"/>
                </a:solidFill>
                <a:latin typeface="Inter" pitchFamily="34" charset="0"/>
                <a:ea typeface="Inter" pitchFamily="34" charset="-122"/>
                <a:cs typeface="Inter" pitchFamily="34" charset="-120"/>
              </a:rPr>
              <a:t>Two agents that have never met</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marL="0" indent="0">
              <a:buNone/>
            </a:pPr>
            <a:r>
              <a:rPr lang="en-US" sz="1450" dirty="0">
                <a:solidFill>
                  <a:srgbClr val="5B6170"/>
                </a:solidFill>
                <a:latin typeface="Inter" pitchFamily="34" charset="0"/>
                <a:ea typeface="Inter" pitchFamily="34" charset="-122"/>
                <a:cs typeface="Inter" pitchFamily="34" charset="-120"/>
              </a:rPr>
              <a:t>One needs an answer. One sells them. Neither was told the other exists.</a:t>
            </a:r>
            <a:endParaRPr lang="en-US" sz="1450" dirty="0"/>
          </a:p>
        </p:txBody>
      </p:sp>
      <p:sp>
        <p:nvSpPr>
          <p:cNvPr id="9" name="Shape 6"/>
          <p:cNvSpPr/>
          <p:nvPr/>
        </p:nvSpPr>
        <p:spPr>
          <a:xfrm>
            <a:off x="822960" y="2377440"/>
            <a:ext cx="4526280" cy="2286000"/>
          </a:xfrm>
          <a:prstGeom prst="roundRect">
            <a:avLst>
              <a:gd name="adj" fmla="val 2400"/>
            </a:avLst>
          </a:prstGeom>
          <a:solidFill>
            <a:srgbClr val="EEF0FB"/>
          </a:solidFill>
          <a:ln w="12700">
            <a:solidFill>
              <a:srgbClr val="C9CBF0"/>
            </a:solidFill>
            <a:prstDash val="solid"/>
          </a:ln>
        </p:spPr>
        <p:txBody>
          <a:bodyPr/>
          <a:lstStyle/>
          <a:p>
            <a:endParaRPr lang="en-US"/>
          </a:p>
        </p:txBody>
      </p:sp>
      <p:sp>
        <p:nvSpPr>
          <p:cNvPr id="10" name="Text 7"/>
          <p:cNvSpPr/>
          <p:nvPr/>
        </p:nvSpPr>
        <p:spPr>
          <a:xfrm>
            <a:off x="1133856" y="2596896"/>
            <a:ext cx="2743200" cy="219456"/>
          </a:xfrm>
          <a:prstGeom prst="rect">
            <a:avLst/>
          </a:prstGeom>
          <a:noFill/>
          <a:ln/>
        </p:spPr>
        <p:txBody>
          <a:bodyPr wrap="square" lIns="0" tIns="0" rIns="0" bIns="0" rtlCol="0" anchor="ctr"/>
          <a:lstStyle/>
          <a:p>
            <a:pPr marL="0" indent="0">
              <a:buNone/>
            </a:pPr>
            <a:r>
              <a:rPr lang="en-US" sz="950" b="1" kern="0" spc="140" dirty="0">
                <a:solidFill>
                  <a:srgbClr val="2D2BB6"/>
                </a:solidFill>
                <a:latin typeface="JetBrains Mono" pitchFamily="34" charset="0"/>
                <a:ea typeface="JetBrains Mono" pitchFamily="34" charset="-122"/>
                <a:cs typeface="JetBrains Mono" pitchFamily="34" charset="-120"/>
              </a:rPr>
              <a:t>BUYER</a:t>
            </a:r>
            <a:endParaRPr lang="en-US" sz="950" dirty="0"/>
          </a:p>
        </p:txBody>
      </p:sp>
      <p:sp>
        <p:nvSpPr>
          <p:cNvPr id="11" name="Text 8"/>
          <p:cNvSpPr/>
          <p:nvPr/>
        </p:nvSpPr>
        <p:spPr>
          <a:xfrm>
            <a:off x="1133856" y="2834640"/>
            <a:ext cx="3657600" cy="402336"/>
          </a:xfrm>
          <a:prstGeom prst="rect">
            <a:avLst/>
          </a:prstGeom>
          <a:noFill/>
          <a:ln/>
        </p:spPr>
        <p:txBody>
          <a:bodyPr wrap="square" lIns="0" tIns="0" rIns="0" bIns="0" rtlCol="0" anchor="ctr"/>
          <a:lstStyle/>
          <a:p>
            <a:pPr marL="0" indent="0">
              <a:buNone/>
            </a:pPr>
            <a:r>
              <a:rPr lang="en-US" sz="2400" b="1" dirty="0">
                <a:solidFill>
                  <a:srgbClr val="0E1116"/>
                </a:solidFill>
                <a:latin typeface="Inter" pitchFamily="34" charset="0"/>
                <a:ea typeface="Inter" pitchFamily="34" charset="-122"/>
                <a:cs typeface="Inter" pitchFamily="34" charset="-120"/>
              </a:rPr>
              <a:t>Risk Agent</a:t>
            </a:r>
            <a:endParaRPr lang="en-US" sz="2400" dirty="0"/>
          </a:p>
        </p:txBody>
      </p:sp>
      <p:sp>
        <p:nvSpPr>
          <p:cNvPr id="12" name="Text 9"/>
          <p:cNvSpPr/>
          <p:nvPr/>
        </p:nvSpPr>
        <p:spPr>
          <a:xfrm>
            <a:off x="1133856" y="3291840"/>
            <a:ext cx="3904488" cy="256032"/>
          </a:xfrm>
          <a:prstGeom prst="rect">
            <a:avLst/>
          </a:prstGeom>
          <a:noFill/>
          <a:ln/>
        </p:spPr>
        <p:txBody>
          <a:bodyPr wrap="square" lIns="0" tIns="0" rIns="0" bIns="0" rtlCol="0" anchor="ctr"/>
          <a:lstStyle/>
          <a:p>
            <a:pPr marL="0" indent="0">
              <a:buNone/>
            </a:pPr>
            <a:r>
              <a:rPr lang="en-US" sz="1350" dirty="0">
                <a:solidFill>
                  <a:srgbClr val="0E1116"/>
                </a:solidFill>
                <a:latin typeface="Inter" pitchFamily="34" charset="0"/>
                <a:ea typeface="Inter" pitchFamily="34" charset="-122"/>
                <a:cs typeface="Inter" pitchFamily="34" charset="-120"/>
              </a:rPr>
              <a:t>Has a question it cannot answer itself.</a:t>
            </a:r>
            <a:endParaRPr lang="en-US" sz="1350" dirty="0"/>
          </a:p>
        </p:txBody>
      </p:sp>
      <p:sp>
        <p:nvSpPr>
          <p:cNvPr id="13" name="Text 10"/>
          <p:cNvSpPr/>
          <p:nvPr/>
        </p:nvSpPr>
        <p:spPr>
          <a:xfrm>
            <a:off x="1152144" y="3584448"/>
            <a:ext cx="3886200" cy="658368"/>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5B6170"/>
                </a:solidFill>
                <a:latin typeface="Inter" pitchFamily="34" charset="0"/>
                <a:ea typeface="Inter" pitchFamily="34" charset="-122"/>
                <a:cs typeface="Inter" pitchFamily="34" charset="-120"/>
              </a:rPr>
              <a:t>Decides which market answers it</a:t>
            </a:r>
            <a:endParaRPr lang="en-US" sz="1250" dirty="0"/>
          </a:p>
          <a:p>
            <a:pPr marL="342900" indent="-342900">
              <a:spcAft>
                <a:spcPts val="400"/>
              </a:spcAft>
              <a:buSzPct val="100000"/>
              <a:buChar char="•"/>
            </a:pPr>
            <a:r>
              <a:rPr lang="en-US" sz="1250" dirty="0">
                <a:solidFill>
                  <a:srgbClr val="5B6170"/>
                </a:solidFill>
                <a:latin typeface="Inter" pitchFamily="34" charset="0"/>
                <a:ea typeface="Inter" pitchFamily="34" charset="-122"/>
                <a:cs typeface="Inter" pitchFamily="34" charset="-120"/>
              </a:rPr>
              <a:t>Decides whether the price is worth paying</a:t>
            </a:r>
            <a:endParaRPr lang="en-US" sz="1250" dirty="0"/>
          </a:p>
        </p:txBody>
      </p:sp>
      <p:sp>
        <p:nvSpPr>
          <p:cNvPr id="14" name="Text 11"/>
          <p:cNvSpPr/>
          <p:nvPr/>
        </p:nvSpPr>
        <p:spPr>
          <a:xfrm>
            <a:off x="1133856" y="4187952"/>
            <a:ext cx="3904488" cy="274320"/>
          </a:xfrm>
          <a:prstGeom prst="rect">
            <a:avLst/>
          </a:prstGeom>
          <a:noFill/>
          <a:ln/>
        </p:spPr>
        <p:txBody>
          <a:bodyPr wrap="square" lIns="0" tIns="0" rIns="0" bIns="0" rtlCol="0" anchor="ctr"/>
          <a:lstStyle/>
          <a:p>
            <a:pPr marL="0" indent="0">
              <a:buNone/>
            </a:pPr>
            <a:r>
              <a:rPr lang="en-US" sz="950" dirty="0">
                <a:solidFill>
                  <a:srgbClr val="5B6170"/>
                </a:solidFill>
                <a:latin typeface="JetBrains Mono" pitchFamily="34" charset="0"/>
                <a:ea typeface="JetBrains Mono" pitchFamily="34" charset="-122"/>
                <a:cs typeface="JetBrains Mono" pitchFamily="34" charset="-120"/>
              </a:rPr>
              <a:t>0x…8ef2c197…</a:t>
            </a:r>
            <a:r>
              <a:rPr lang="en-US" sz="950" dirty="0">
                <a:solidFill>
                  <a:srgbClr val="9AA0AE"/>
                </a:solidFill>
                <a:latin typeface="JetBrains Mono" pitchFamily="34" charset="0"/>
                <a:ea typeface="JetBrains Mono" pitchFamily="34" charset="-122"/>
                <a:cs typeface="JetBrains Mono" pitchFamily="34" charset="-120"/>
              </a:rPr>
              <a:t>   holds the funds</a:t>
            </a:r>
            <a:endParaRPr lang="en-US" sz="950" dirty="0"/>
          </a:p>
        </p:txBody>
      </p:sp>
      <p:sp>
        <p:nvSpPr>
          <p:cNvPr id="15" name="Shape 12"/>
          <p:cNvSpPr/>
          <p:nvPr/>
        </p:nvSpPr>
        <p:spPr>
          <a:xfrm>
            <a:off x="6839712" y="2377440"/>
            <a:ext cx="4526280" cy="2286000"/>
          </a:xfrm>
          <a:prstGeom prst="roundRect">
            <a:avLst>
              <a:gd name="adj" fmla="val 2400"/>
            </a:avLst>
          </a:prstGeom>
          <a:solidFill>
            <a:srgbClr val="F4F4F8"/>
          </a:solidFill>
          <a:ln w="12700">
            <a:solidFill>
              <a:srgbClr val="E4E5EC"/>
            </a:solidFill>
            <a:prstDash val="solid"/>
          </a:ln>
        </p:spPr>
        <p:txBody>
          <a:bodyPr/>
          <a:lstStyle/>
          <a:p>
            <a:endParaRPr lang="en-US"/>
          </a:p>
        </p:txBody>
      </p:sp>
      <p:sp>
        <p:nvSpPr>
          <p:cNvPr id="16" name="Text 13"/>
          <p:cNvSpPr/>
          <p:nvPr/>
        </p:nvSpPr>
        <p:spPr>
          <a:xfrm>
            <a:off x="7150608" y="2596896"/>
            <a:ext cx="2743200" cy="219456"/>
          </a:xfrm>
          <a:prstGeom prst="rect">
            <a:avLst/>
          </a:prstGeom>
          <a:noFill/>
          <a:ln/>
        </p:spPr>
        <p:txBody>
          <a:bodyPr wrap="square" lIns="0" tIns="0" rIns="0" bIns="0" rtlCol="0" anchor="ctr"/>
          <a:lstStyle/>
          <a:p>
            <a:pPr marL="0" indent="0">
              <a:buNone/>
            </a:pPr>
            <a:r>
              <a:rPr lang="en-US" sz="950" b="1" kern="0" spc="140" dirty="0">
                <a:solidFill>
                  <a:srgbClr val="2D2BB6"/>
                </a:solidFill>
                <a:latin typeface="JetBrains Mono" pitchFamily="34" charset="0"/>
                <a:ea typeface="JetBrains Mono" pitchFamily="34" charset="-122"/>
                <a:cs typeface="JetBrains Mono" pitchFamily="34" charset="-120"/>
              </a:rPr>
              <a:t>SELLER</a:t>
            </a:r>
            <a:endParaRPr lang="en-US" sz="950" dirty="0"/>
          </a:p>
        </p:txBody>
      </p:sp>
      <p:sp>
        <p:nvSpPr>
          <p:cNvPr id="17" name="Text 14"/>
          <p:cNvSpPr/>
          <p:nvPr/>
        </p:nvSpPr>
        <p:spPr>
          <a:xfrm>
            <a:off x="7150608" y="2834640"/>
            <a:ext cx="3657600" cy="402336"/>
          </a:xfrm>
          <a:prstGeom prst="rect">
            <a:avLst/>
          </a:prstGeom>
          <a:noFill/>
          <a:ln/>
        </p:spPr>
        <p:txBody>
          <a:bodyPr wrap="square" lIns="0" tIns="0" rIns="0" bIns="0" rtlCol="0" anchor="ctr"/>
          <a:lstStyle/>
          <a:p>
            <a:pPr marL="0" indent="0">
              <a:buNone/>
            </a:pPr>
            <a:r>
              <a:rPr lang="en-US" sz="2400" b="1" dirty="0">
                <a:solidFill>
                  <a:srgbClr val="0E1116"/>
                </a:solidFill>
                <a:latin typeface="Inter" pitchFamily="34" charset="0"/>
                <a:ea typeface="Inter" pitchFamily="34" charset="-122"/>
                <a:cs typeface="Inter" pitchFamily="34" charset="-120"/>
              </a:rPr>
              <a:t>Probability Book Desk</a:t>
            </a:r>
            <a:endParaRPr lang="en-US" sz="2400" dirty="0"/>
          </a:p>
        </p:txBody>
      </p:sp>
      <p:sp>
        <p:nvSpPr>
          <p:cNvPr id="18" name="Text 15"/>
          <p:cNvSpPr/>
          <p:nvPr/>
        </p:nvSpPr>
        <p:spPr>
          <a:xfrm>
            <a:off x="7150608" y="3291840"/>
            <a:ext cx="3904488" cy="256032"/>
          </a:xfrm>
          <a:prstGeom prst="rect">
            <a:avLst/>
          </a:prstGeom>
          <a:noFill/>
          <a:ln/>
        </p:spPr>
        <p:txBody>
          <a:bodyPr wrap="square" lIns="0" tIns="0" rIns="0" bIns="0" rtlCol="0" anchor="ctr"/>
          <a:lstStyle/>
          <a:p>
            <a:pPr marL="0" indent="0">
              <a:buNone/>
            </a:pPr>
            <a:r>
              <a:rPr lang="en-US" sz="1350" dirty="0">
                <a:solidFill>
                  <a:srgbClr val="0E1116"/>
                </a:solidFill>
                <a:latin typeface="Inter" pitchFamily="34" charset="0"/>
                <a:ea typeface="Inter" pitchFamily="34" charset="-122"/>
                <a:cs typeface="Inter" pitchFamily="34" charset="-120"/>
              </a:rPr>
              <a:t>Sells bitcoin probability books.</a:t>
            </a:r>
            <a:endParaRPr lang="en-US" sz="1350" dirty="0"/>
          </a:p>
        </p:txBody>
      </p:sp>
      <p:sp>
        <p:nvSpPr>
          <p:cNvPr id="19" name="Text 16"/>
          <p:cNvSpPr/>
          <p:nvPr/>
        </p:nvSpPr>
        <p:spPr>
          <a:xfrm>
            <a:off x="7168896" y="3584448"/>
            <a:ext cx="3886200" cy="658368"/>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5B6170"/>
                </a:solidFill>
                <a:latin typeface="Inter" pitchFamily="34" charset="0"/>
                <a:ea typeface="Inter" pitchFamily="34" charset="-122"/>
                <a:cs typeface="Inter" pitchFamily="34" charset="-120"/>
              </a:rPr>
              <a:t>Decides what to charge, per request</a:t>
            </a:r>
            <a:endParaRPr lang="en-US" sz="1250" dirty="0"/>
          </a:p>
          <a:p>
            <a:pPr marL="342900" indent="-342900">
              <a:spcAft>
                <a:spcPts val="400"/>
              </a:spcAft>
              <a:buSzPct val="100000"/>
              <a:buChar char="•"/>
            </a:pPr>
            <a:r>
              <a:rPr lang="en-US" sz="1250" dirty="0">
                <a:solidFill>
                  <a:srgbClr val="5B6170"/>
                </a:solidFill>
                <a:latin typeface="Inter" pitchFamily="34" charset="0"/>
                <a:ea typeface="Inter" pitchFamily="34" charset="-122"/>
                <a:cs typeface="Inter" pitchFamily="34" charset="-120"/>
              </a:rPr>
              <a:t>Prices rise when demand runs hot</a:t>
            </a:r>
            <a:endParaRPr lang="en-US" sz="1250" dirty="0"/>
          </a:p>
        </p:txBody>
      </p:sp>
      <p:sp>
        <p:nvSpPr>
          <p:cNvPr id="20" name="Text 17"/>
          <p:cNvSpPr/>
          <p:nvPr/>
        </p:nvSpPr>
        <p:spPr>
          <a:xfrm>
            <a:off x="7150608" y="4187952"/>
            <a:ext cx="3904488" cy="274320"/>
          </a:xfrm>
          <a:prstGeom prst="rect">
            <a:avLst/>
          </a:prstGeom>
          <a:noFill/>
          <a:ln/>
        </p:spPr>
        <p:txBody>
          <a:bodyPr wrap="square" lIns="0" tIns="0" rIns="0" bIns="0" rtlCol="0" anchor="ctr"/>
          <a:lstStyle/>
          <a:p>
            <a:pPr marL="0" indent="0">
              <a:buNone/>
            </a:pPr>
            <a:r>
              <a:rPr lang="en-US" sz="950" dirty="0">
                <a:solidFill>
                  <a:srgbClr val="5B6170"/>
                </a:solidFill>
                <a:latin typeface="JetBrains Mono" pitchFamily="34" charset="0"/>
                <a:ea typeface="JetBrains Mono" pitchFamily="34" charset="-122"/>
                <a:cs typeface="JetBrains Mono" pitchFamily="34" charset="-120"/>
              </a:rPr>
              <a:t>0x…1d2f8c28…</a:t>
            </a:r>
            <a:r>
              <a:rPr lang="en-US" sz="950" dirty="0">
                <a:solidFill>
                  <a:srgbClr val="9AA0AE"/>
                </a:solidFill>
                <a:latin typeface="JetBrains Mono" pitchFamily="34" charset="0"/>
                <a:ea typeface="JetBrains Mono" pitchFamily="34" charset="-122"/>
                <a:cs typeface="JetBrains Mono" pitchFamily="34" charset="-120"/>
              </a:rPr>
              <a:t>   receive-only</a:t>
            </a:r>
            <a:endParaRPr lang="en-US" sz="950" dirty="0"/>
          </a:p>
        </p:txBody>
      </p:sp>
      <p:sp>
        <p:nvSpPr>
          <p:cNvPr id="21" name="Shape 18"/>
          <p:cNvSpPr/>
          <p:nvPr/>
        </p:nvSpPr>
        <p:spPr>
          <a:xfrm>
            <a:off x="5513832" y="3218688"/>
            <a:ext cx="457200" cy="0"/>
          </a:xfrm>
          <a:prstGeom prst="line">
            <a:avLst/>
          </a:prstGeom>
          <a:noFill/>
          <a:ln w="19050">
            <a:solidFill>
              <a:srgbClr val="C9CBF0"/>
            </a:solidFill>
            <a:prstDash val="dash"/>
          </a:ln>
        </p:spPr>
        <p:txBody>
          <a:bodyPr/>
          <a:lstStyle/>
          <a:p>
            <a:endParaRPr lang="en-US"/>
          </a:p>
        </p:txBody>
      </p:sp>
      <p:sp>
        <p:nvSpPr>
          <p:cNvPr id="22" name="Shape 19"/>
          <p:cNvSpPr/>
          <p:nvPr/>
        </p:nvSpPr>
        <p:spPr>
          <a:xfrm>
            <a:off x="6217920" y="3218688"/>
            <a:ext cx="457200" cy="0"/>
          </a:xfrm>
          <a:prstGeom prst="line">
            <a:avLst/>
          </a:prstGeom>
          <a:noFill/>
          <a:ln w="19050">
            <a:solidFill>
              <a:srgbClr val="C9CBF0"/>
            </a:solidFill>
            <a:prstDash val="dash"/>
          </a:ln>
        </p:spPr>
        <p:txBody>
          <a:bodyPr/>
          <a:lstStyle/>
          <a:p>
            <a:endParaRPr lang="en-US"/>
          </a:p>
        </p:txBody>
      </p:sp>
      <p:sp>
        <p:nvSpPr>
          <p:cNvPr id="23" name="Shape 20"/>
          <p:cNvSpPr/>
          <p:nvPr/>
        </p:nvSpPr>
        <p:spPr>
          <a:xfrm>
            <a:off x="5884164" y="3008376"/>
            <a:ext cx="420624" cy="420624"/>
          </a:xfrm>
          <a:prstGeom prst="ellipse">
            <a:avLst/>
          </a:prstGeom>
          <a:solidFill>
            <a:srgbClr val="FFFFFF"/>
          </a:solidFill>
          <a:ln w="15875">
            <a:solidFill>
              <a:srgbClr val="D6336C"/>
            </a:solidFill>
            <a:prstDash val="solid"/>
          </a:ln>
        </p:spPr>
        <p:txBody>
          <a:bodyPr/>
          <a:lstStyle/>
          <a:p>
            <a:endParaRPr lang="en-US"/>
          </a:p>
        </p:txBody>
      </p:sp>
      <p:sp>
        <p:nvSpPr>
          <p:cNvPr id="24" name="Text 21"/>
          <p:cNvSpPr/>
          <p:nvPr/>
        </p:nvSpPr>
        <p:spPr>
          <a:xfrm>
            <a:off x="5884164" y="3008376"/>
            <a:ext cx="420624" cy="420624"/>
          </a:xfrm>
          <a:prstGeom prst="rect">
            <a:avLst/>
          </a:prstGeom>
          <a:noFill/>
          <a:ln/>
        </p:spPr>
        <p:txBody>
          <a:bodyPr wrap="square" lIns="0" tIns="0" rIns="0" bIns="0" rtlCol="0" anchor="ctr"/>
          <a:lstStyle/>
          <a:p>
            <a:pPr marL="0" indent="0" algn="ctr">
              <a:buNone/>
            </a:pPr>
            <a:r>
              <a:rPr lang="en-US" sz="1300" b="1" dirty="0">
                <a:solidFill>
                  <a:srgbClr val="D6336C"/>
                </a:solidFill>
                <a:latin typeface="Inter" pitchFamily="34" charset="0"/>
                <a:ea typeface="Inter" pitchFamily="34" charset="-122"/>
                <a:cs typeface="Inter" pitchFamily="34" charset="-120"/>
              </a:rPr>
              <a:t>✕</a:t>
            </a:r>
            <a:endParaRPr lang="en-US" sz="1300" dirty="0"/>
          </a:p>
        </p:txBody>
      </p:sp>
      <p:sp>
        <p:nvSpPr>
          <p:cNvPr id="25" name="Text 22"/>
          <p:cNvSpPr/>
          <p:nvPr/>
        </p:nvSpPr>
        <p:spPr>
          <a:xfrm>
            <a:off x="5317236" y="3584448"/>
            <a:ext cx="1554480" cy="685800"/>
          </a:xfrm>
          <a:prstGeom prst="rect">
            <a:avLst/>
          </a:prstGeom>
          <a:noFill/>
          <a:ln/>
        </p:spPr>
        <p:txBody>
          <a:bodyPr wrap="square" lIns="0" tIns="0" rIns="0" bIns="0" rtlCol="0" anchor="ctr"/>
          <a:lstStyle/>
          <a:p>
            <a:pPr marL="0" indent="0" algn="ctr">
              <a:lnSpc>
                <a:spcPts val="1400"/>
              </a:lnSpc>
              <a:buNone/>
            </a:pPr>
            <a:r>
              <a:rPr lang="en-US" sz="950" dirty="0">
                <a:solidFill>
                  <a:srgbClr val="9AA0AE"/>
                </a:solidFill>
                <a:latin typeface="JetBrains Mono" pitchFamily="34" charset="0"/>
                <a:ea typeface="JetBrains Mono" pitchFamily="34" charset="-122"/>
                <a:cs typeface="JetBrains Mono" pitchFamily="34" charset="-120"/>
              </a:rPr>
              <a:t>no account</a:t>
            </a:r>
            <a:endParaRPr lang="en-US" sz="950" dirty="0"/>
          </a:p>
          <a:p>
            <a:pPr marL="0" indent="0" algn="ctr">
              <a:lnSpc>
                <a:spcPts val="1400"/>
              </a:lnSpc>
              <a:buNone/>
            </a:pPr>
            <a:r>
              <a:rPr lang="en-US" sz="950" dirty="0">
                <a:solidFill>
                  <a:srgbClr val="9AA0AE"/>
                </a:solidFill>
                <a:latin typeface="JetBrains Mono" pitchFamily="34" charset="0"/>
                <a:ea typeface="JetBrains Mono" pitchFamily="34" charset="-122"/>
                <a:cs typeface="JetBrains Mono" pitchFamily="34" charset="-120"/>
              </a:rPr>
              <a:t>no API key</a:t>
            </a:r>
            <a:endParaRPr lang="en-US" sz="950" dirty="0"/>
          </a:p>
          <a:p>
            <a:pPr marL="0" indent="0" algn="ctr">
              <a:lnSpc>
                <a:spcPts val="1400"/>
              </a:lnSpc>
              <a:buNone/>
            </a:pPr>
            <a:r>
              <a:rPr lang="en-US" sz="950" dirty="0">
                <a:solidFill>
                  <a:srgbClr val="9AA0AE"/>
                </a:solidFill>
                <a:latin typeface="JetBrains Mono" pitchFamily="34" charset="0"/>
                <a:ea typeface="JetBrains Mono" pitchFamily="34" charset="-122"/>
                <a:cs typeface="JetBrains Mono" pitchFamily="34" charset="-120"/>
              </a:rPr>
              <a:t>no prior contact</a:t>
            </a:r>
            <a:endParaRPr lang="en-US" sz="950" dirty="0"/>
          </a:p>
        </p:txBody>
      </p:sp>
      <p:sp>
        <p:nvSpPr>
          <p:cNvPr id="26" name="Shape 23"/>
          <p:cNvSpPr/>
          <p:nvPr/>
        </p:nvSpPr>
        <p:spPr>
          <a:xfrm>
            <a:off x="3086100" y="4754880"/>
            <a:ext cx="0" cy="365760"/>
          </a:xfrm>
          <a:prstGeom prst="line">
            <a:avLst/>
          </a:prstGeom>
          <a:noFill/>
          <a:ln w="19050">
            <a:solidFill>
              <a:srgbClr val="C9CBF0"/>
            </a:solidFill>
            <a:prstDash val="solid"/>
            <a:tailEnd type="triangle"/>
          </a:ln>
        </p:spPr>
        <p:txBody>
          <a:bodyPr/>
          <a:lstStyle/>
          <a:p>
            <a:endParaRPr lang="en-US"/>
          </a:p>
        </p:txBody>
      </p:sp>
      <p:sp>
        <p:nvSpPr>
          <p:cNvPr id="27" name="Shape 24"/>
          <p:cNvSpPr/>
          <p:nvPr/>
        </p:nvSpPr>
        <p:spPr>
          <a:xfrm>
            <a:off x="9102852" y="4754880"/>
            <a:ext cx="0" cy="365760"/>
          </a:xfrm>
          <a:prstGeom prst="line">
            <a:avLst/>
          </a:prstGeom>
          <a:noFill/>
          <a:ln w="19050">
            <a:solidFill>
              <a:srgbClr val="C9CBF0"/>
            </a:solidFill>
            <a:prstDash val="solid"/>
            <a:tailEnd type="triangle"/>
          </a:ln>
        </p:spPr>
        <p:txBody>
          <a:bodyPr/>
          <a:lstStyle/>
          <a:p>
            <a:endParaRPr lang="en-US"/>
          </a:p>
        </p:txBody>
      </p:sp>
      <p:sp>
        <p:nvSpPr>
          <p:cNvPr id="28" name="Shape 25"/>
          <p:cNvSpPr/>
          <p:nvPr/>
        </p:nvSpPr>
        <p:spPr>
          <a:xfrm>
            <a:off x="822960" y="5166360"/>
            <a:ext cx="10543032" cy="896112"/>
          </a:xfrm>
          <a:prstGeom prst="roundRect">
            <a:avLst>
              <a:gd name="adj" fmla="val 6122"/>
            </a:avLst>
          </a:prstGeom>
          <a:solidFill>
            <a:srgbClr val="0E1116"/>
          </a:solidFill>
          <a:ln/>
        </p:spPr>
        <p:txBody>
          <a:bodyPr/>
          <a:lstStyle/>
          <a:p>
            <a:endParaRPr lang="en-US"/>
          </a:p>
        </p:txBody>
      </p:sp>
      <p:sp>
        <p:nvSpPr>
          <p:cNvPr id="29" name="Text 26"/>
          <p:cNvSpPr/>
          <p:nvPr/>
        </p:nvSpPr>
        <p:spPr>
          <a:xfrm>
            <a:off x="1133856" y="5303520"/>
            <a:ext cx="4572000" cy="219456"/>
          </a:xfrm>
          <a:prstGeom prst="rect">
            <a:avLst/>
          </a:prstGeom>
          <a:noFill/>
          <a:ln/>
        </p:spPr>
        <p:txBody>
          <a:bodyPr wrap="square" lIns="0" tIns="0" rIns="0" bIns="0" rtlCol="0" anchor="ctr"/>
          <a:lstStyle/>
          <a:p>
            <a:pPr marL="0" indent="0">
              <a:buNone/>
            </a:pPr>
            <a:r>
              <a:rPr lang="en-US" sz="950" b="1" kern="0" spc="140" dirty="0">
                <a:solidFill>
                  <a:srgbClr val="8B8AF0"/>
                </a:solidFill>
                <a:latin typeface="JetBrains Mono" pitchFamily="34" charset="0"/>
                <a:ea typeface="JetBrains Mono" pitchFamily="34" charset="-122"/>
                <a:cs typeface="JetBrains Mono" pitchFamily="34" charset="-120"/>
              </a:rPr>
              <a:t>MOI VOYAGE DEVNET</a:t>
            </a:r>
            <a:endParaRPr lang="en-US" sz="950" dirty="0"/>
          </a:p>
        </p:txBody>
      </p:sp>
      <p:sp>
        <p:nvSpPr>
          <p:cNvPr id="30" name="Text 27"/>
          <p:cNvSpPr/>
          <p:nvPr/>
        </p:nvSpPr>
        <p:spPr>
          <a:xfrm>
            <a:off x="1133856" y="5559552"/>
            <a:ext cx="9921240" cy="274320"/>
          </a:xfrm>
          <a:prstGeom prst="rect">
            <a:avLst/>
          </a:prstGeom>
          <a:noFill/>
          <a:ln/>
        </p:spPr>
        <p:txBody>
          <a:bodyPr wrap="square" lIns="0" tIns="0" rIns="0" bIns="0" rtlCol="0" anchor="ctr"/>
          <a:lstStyle/>
          <a:p>
            <a:pPr marL="0" indent="0">
              <a:buNone/>
            </a:pPr>
            <a:r>
              <a:rPr lang="en-US" sz="1250" b="1" dirty="0">
                <a:solidFill>
                  <a:srgbClr val="FFFFFF"/>
                </a:solidFill>
                <a:latin typeface="Inter" pitchFamily="34" charset="0"/>
                <a:ea typeface="Inter" pitchFamily="34" charset="-122"/>
                <a:cs typeface="Inter" pitchFamily="34" charset="-120"/>
              </a:rPr>
              <a:t>Agent registry</a:t>
            </a:r>
            <a:r>
              <a:rPr lang="en-US" sz="1250" dirty="0">
                <a:solidFill>
                  <a:srgbClr val="B9BECD"/>
                </a:solidFill>
                <a:latin typeface="Inter" pitchFamily="34" charset="0"/>
                <a:ea typeface="Inter" pitchFamily="34" charset="-122"/>
                <a:cs typeface="Inter" pitchFamily="34" charset="-120"/>
              </a:rPr>
              <a:t> — both identities, and the wallet each one registered.   ·   </a:t>
            </a:r>
            <a:r>
              <a:rPr lang="en-US" sz="1250" b="1" dirty="0">
                <a:solidFill>
                  <a:srgbClr val="FFFFFF"/>
                </a:solidFill>
                <a:latin typeface="Inter" pitchFamily="34" charset="0"/>
                <a:ea typeface="Inter" pitchFamily="34" charset="-122"/>
                <a:cs typeface="Inter" pitchFamily="34" charset="-120"/>
              </a:rPr>
              <a:t>Native MAS0 asset</a:t>
            </a:r>
            <a:r>
              <a:rPr lang="en-US" sz="1250" dirty="0">
                <a:solidFill>
                  <a:srgbClr val="B9BECD"/>
                </a:solidFill>
                <a:latin typeface="Inter" pitchFamily="34" charset="0"/>
                <a:ea typeface="Inter" pitchFamily="34" charset="-122"/>
                <a:cs typeface="Inter" pitchFamily="34" charset="-120"/>
              </a:rPr>
              <a:t> — what actually moves.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E1116"/>
        </a:solidFill>
        <a:effectLst/>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marL="0" indent="0">
              <a:buNone/>
            </a:pPr>
            <a:r>
              <a:rPr lang="en-US" sz="1000" b="1" kern="0" spc="140" dirty="0">
                <a:solidFill>
                  <a:srgbClr val="8B8AF0"/>
                </a:solidFill>
                <a:latin typeface="JetBrains Mono" pitchFamily="34" charset="0"/>
                <a:ea typeface="JetBrains Mono" pitchFamily="34" charset="-122"/>
                <a:cs typeface="JetBrains Mono" pitchFamily="34" charset="-120"/>
              </a:rPr>
              <a:t>MOI · BUILD 03</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marL="0" indent="0" algn="r">
              <a:buNone/>
            </a:pP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marL="0" indent="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marL="0" indent="0" algn="r">
              <a:buNone/>
            </a:pPr>
            <a:r>
              <a:rPr lang="en-US" sz="900" dirty="0">
                <a:solidFill>
                  <a:srgbClr val="6B7280"/>
                </a:solidFill>
                <a:latin typeface="JetBrains Mono" pitchFamily="34" charset="0"/>
                <a:ea typeface="JetBrains Mono" pitchFamily="34" charset="-122"/>
                <a:cs typeface="JetBrains Mono" pitchFamily="34" charset="-120"/>
              </a:rPr>
              <a:t>03 / 8</a:t>
            </a:r>
            <a:endParaRPr lang="en-US" sz="900" dirty="0"/>
          </a:p>
        </p:txBody>
      </p:sp>
      <p:sp>
        <p:nvSpPr>
          <p:cNvPr id="7" name="Shape 4"/>
          <p:cNvSpPr/>
          <p:nvPr/>
        </p:nvSpPr>
        <p:spPr>
          <a:xfrm>
            <a:off x="10314432" y="438912"/>
            <a:ext cx="1051560" cy="384048"/>
          </a:xfrm>
          <a:prstGeom prst="roundRect">
            <a:avLst>
              <a:gd name="adj" fmla="val 47619"/>
            </a:avLst>
          </a:prstGeom>
          <a:solidFill>
            <a:srgbClr val="2A1520"/>
          </a:solidFill>
          <a:ln w="12700">
            <a:solidFill>
              <a:srgbClr val="D6336C"/>
            </a:solidFill>
            <a:prstDash val="solid"/>
          </a:ln>
        </p:spPr>
        <p:txBody>
          <a:bodyPr/>
          <a:lstStyle/>
          <a:p>
            <a:endParaRPr lang="en-US"/>
          </a:p>
        </p:txBody>
      </p:sp>
      <p:sp>
        <p:nvSpPr>
          <p:cNvPr id="8" name="Shape 5"/>
          <p:cNvSpPr/>
          <p:nvPr/>
        </p:nvSpPr>
        <p:spPr>
          <a:xfrm>
            <a:off x="10497312" y="580644"/>
            <a:ext cx="100584" cy="100584"/>
          </a:xfrm>
          <a:prstGeom prst="ellipse">
            <a:avLst/>
          </a:prstGeom>
          <a:solidFill>
            <a:srgbClr val="D6336C"/>
          </a:solidFill>
          <a:ln/>
        </p:spPr>
        <p:txBody>
          <a:bodyPr/>
          <a:lstStyle/>
          <a:p>
            <a:endParaRPr lang="en-US"/>
          </a:p>
        </p:txBody>
      </p:sp>
      <p:sp>
        <p:nvSpPr>
          <p:cNvPr id="9" name="Text 6"/>
          <p:cNvSpPr/>
          <p:nvPr/>
        </p:nvSpPr>
        <p:spPr>
          <a:xfrm>
            <a:off x="10652760" y="438912"/>
            <a:ext cx="566928" cy="384048"/>
          </a:xfrm>
          <a:prstGeom prst="rect">
            <a:avLst/>
          </a:prstGeom>
          <a:noFill/>
          <a:ln/>
        </p:spPr>
        <p:txBody>
          <a:bodyPr wrap="square" lIns="0" tIns="0" rIns="0" bIns="0" rtlCol="0" anchor="ctr"/>
          <a:lstStyle/>
          <a:p>
            <a:pPr marL="0" indent="0">
              <a:buNone/>
            </a:pPr>
            <a:r>
              <a:rPr lang="en-US" sz="950" b="1" kern="0" spc="120" dirty="0">
                <a:solidFill>
                  <a:srgbClr val="D6336C"/>
                </a:solidFill>
                <a:latin typeface="JetBrains Mono" pitchFamily="34" charset="0"/>
                <a:ea typeface="JetBrains Mono" pitchFamily="34" charset="-122"/>
                <a:cs typeface="JetBrains Mono" pitchFamily="34" charset="-120"/>
              </a:rPr>
              <a:t>LIVE</a:t>
            </a:r>
            <a:endParaRPr lang="en-US" sz="950" dirty="0"/>
          </a:p>
        </p:txBody>
      </p:sp>
      <p:sp>
        <p:nvSpPr>
          <p:cNvPr id="10" name="Text 7"/>
          <p:cNvSpPr/>
          <p:nvPr/>
        </p:nvSpPr>
        <p:spPr>
          <a:xfrm>
            <a:off x="822960" y="932688"/>
            <a:ext cx="10543032" cy="658368"/>
          </a:xfrm>
          <a:prstGeom prst="rect">
            <a:avLst/>
          </a:prstGeom>
          <a:noFill/>
          <a:ln/>
        </p:spPr>
        <p:txBody>
          <a:bodyPr wrap="square" lIns="0" tIns="0" rIns="0" bIns="0" rtlCol="0" anchor="ctr"/>
          <a:lstStyle/>
          <a:p>
            <a:pPr marL="0" indent="0">
              <a:buNone/>
            </a:pPr>
            <a:r>
              <a:rPr lang="en-US" sz="3800" b="1" dirty="0">
                <a:solidFill>
                  <a:srgbClr val="FFFFFF"/>
                </a:solidFill>
                <a:latin typeface="Inter" pitchFamily="34" charset="0"/>
                <a:ea typeface="Inter" pitchFamily="34" charset="-122"/>
                <a:cs typeface="Inter" pitchFamily="34" charset="-120"/>
              </a:rPr>
              <a:t>Watch it happen</a:t>
            </a:r>
            <a:endParaRPr lang="en-US" sz="3800" dirty="0"/>
          </a:p>
        </p:txBody>
      </p:sp>
      <p:sp>
        <p:nvSpPr>
          <p:cNvPr id="11" name="Text 8"/>
          <p:cNvSpPr/>
          <p:nvPr/>
        </p:nvSpPr>
        <p:spPr>
          <a:xfrm>
            <a:off x="822960" y="1682496"/>
            <a:ext cx="10543032" cy="402336"/>
          </a:xfrm>
          <a:prstGeom prst="rect">
            <a:avLst/>
          </a:prstGeom>
          <a:noFill/>
          <a:ln/>
        </p:spPr>
        <p:txBody>
          <a:bodyPr wrap="square" lIns="0" tIns="0" rIns="0" bIns="0" rtlCol="0" anchor="ctr"/>
          <a:lstStyle/>
          <a:p>
            <a:pPr marL="0" indent="0">
              <a:buNone/>
            </a:pPr>
            <a:r>
              <a:rPr lang="en-US" sz="1450" dirty="0">
                <a:solidFill>
                  <a:srgbClr val="B9BECD"/>
                </a:solidFill>
                <a:latin typeface="Inter" pitchFamily="34" charset="0"/>
                <a:ea typeface="Inter" pitchFamily="34" charset="-122"/>
                <a:cs typeface="Inter" pitchFamily="34" charset="-120"/>
              </a:rPr>
              <a:t>Two agents, one purchase, settled on Voyage devnet — end to end.</a:t>
            </a:r>
            <a:endParaRPr lang="en-US" sz="1450" dirty="0"/>
          </a:p>
        </p:txBody>
      </p:sp>
      <p:sp>
        <p:nvSpPr>
          <p:cNvPr id="12" name="Shape 9"/>
          <p:cNvSpPr/>
          <p:nvPr/>
        </p:nvSpPr>
        <p:spPr>
          <a:xfrm>
            <a:off x="822960" y="2432304"/>
            <a:ext cx="2409444" cy="1975104"/>
          </a:xfrm>
          <a:prstGeom prst="roundRect">
            <a:avLst>
              <a:gd name="adj" fmla="val 2778"/>
            </a:avLst>
          </a:prstGeom>
          <a:solidFill>
            <a:srgbClr val="1C212B"/>
          </a:solidFill>
          <a:ln w="12700">
            <a:solidFill>
              <a:srgbClr val="363C49"/>
            </a:solidFill>
            <a:prstDash val="solid"/>
          </a:ln>
        </p:spPr>
        <p:txBody>
          <a:bodyPr/>
          <a:lstStyle/>
          <a:p>
            <a:endParaRPr lang="en-US"/>
          </a:p>
        </p:txBody>
      </p:sp>
      <p:sp>
        <p:nvSpPr>
          <p:cNvPr id="13" name="Text 10"/>
          <p:cNvSpPr/>
          <p:nvPr/>
        </p:nvSpPr>
        <p:spPr>
          <a:xfrm>
            <a:off x="1097280" y="2688336"/>
            <a:ext cx="1097280" cy="457200"/>
          </a:xfrm>
          <a:prstGeom prst="rect">
            <a:avLst/>
          </a:prstGeom>
          <a:noFill/>
          <a:ln/>
        </p:spPr>
        <p:txBody>
          <a:bodyPr wrap="square" lIns="0" tIns="0" rIns="0" bIns="0" rtlCol="0" anchor="ctr"/>
          <a:lstStyle/>
          <a:p>
            <a:pPr marL="0" indent="0">
              <a:buNone/>
            </a:pPr>
            <a:r>
              <a:rPr lang="en-US" sz="2600" b="1" dirty="0">
                <a:solidFill>
                  <a:srgbClr val="8B8AF0"/>
                </a:solidFill>
                <a:latin typeface="JetBrains Mono" pitchFamily="34" charset="0"/>
                <a:ea typeface="JetBrains Mono" pitchFamily="34" charset="-122"/>
                <a:cs typeface="JetBrains Mono" pitchFamily="34" charset="-120"/>
              </a:rPr>
              <a:t>01</a:t>
            </a:r>
            <a:endParaRPr lang="en-US" sz="2600" dirty="0"/>
          </a:p>
        </p:txBody>
      </p:sp>
      <p:sp>
        <p:nvSpPr>
          <p:cNvPr id="14" name="Text 11"/>
          <p:cNvSpPr/>
          <p:nvPr/>
        </p:nvSpPr>
        <p:spPr>
          <a:xfrm>
            <a:off x="1097280" y="3273552"/>
            <a:ext cx="1860804" cy="91440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Inter" pitchFamily="34" charset="0"/>
                <a:ea typeface="Inter" pitchFamily="34" charset="-122"/>
                <a:cs typeface="Inter" pitchFamily="34" charset="-120"/>
              </a:rPr>
              <a:t>It admits it can't answer, and scans the registry</a:t>
            </a:r>
            <a:endParaRPr lang="en-US" sz="1400" dirty="0"/>
          </a:p>
        </p:txBody>
      </p:sp>
      <p:sp>
        <p:nvSpPr>
          <p:cNvPr id="15" name="Text 12"/>
          <p:cNvSpPr/>
          <p:nvPr/>
        </p:nvSpPr>
        <p:spPr>
          <a:xfrm>
            <a:off x="3250692" y="2706624"/>
            <a:ext cx="265176" cy="365760"/>
          </a:xfrm>
          <a:prstGeom prst="rect">
            <a:avLst/>
          </a:prstGeom>
          <a:noFill/>
          <a:ln/>
        </p:spPr>
        <p:txBody>
          <a:bodyPr wrap="square" lIns="0" tIns="0" rIns="0" bIns="0" rtlCol="0" anchor="ctr"/>
          <a:lstStyle/>
          <a:p>
            <a:pPr marL="0" indent="0" algn="ctr">
              <a:buNone/>
            </a:pPr>
            <a:r>
              <a:rPr lang="en-US" sz="1300" dirty="0">
                <a:solidFill>
                  <a:srgbClr val="4A5162"/>
                </a:solidFill>
                <a:latin typeface="JetBrains Mono" pitchFamily="34" charset="0"/>
                <a:ea typeface="JetBrains Mono" pitchFamily="34" charset="-122"/>
                <a:cs typeface="JetBrains Mono" pitchFamily="34" charset="-120"/>
              </a:rPr>
              <a:t>→</a:t>
            </a:r>
            <a:endParaRPr lang="en-US" sz="1300" dirty="0"/>
          </a:p>
        </p:txBody>
      </p:sp>
      <p:sp>
        <p:nvSpPr>
          <p:cNvPr id="16" name="Shape 13"/>
          <p:cNvSpPr/>
          <p:nvPr/>
        </p:nvSpPr>
        <p:spPr>
          <a:xfrm>
            <a:off x="3534156" y="2432304"/>
            <a:ext cx="2409444" cy="1975104"/>
          </a:xfrm>
          <a:prstGeom prst="roundRect">
            <a:avLst>
              <a:gd name="adj" fmla="val 2778"/>
            </a:avLst>
          </a:prstGeom>
          <a:solidFill>
            <a:srgbClr val="1C212B"/>
          </a:solidFill>
          <a:ln w="12700">
            <a:solidFill>
              <a:srgbClr val="363C49"/>
            </a:solidFill>
            <a:prstDash val="solid"/>
          </a:ln>
        </p:spPr>
        <p:txBody>
          <a:bodyPr/>
          <a:lstStyle/>
          <a:p>
            <a:endParaRPr lang="en-US"/>
          </a:p>
        </p:txBody>
      </p:sp>
      <p:sp>
        <p:nvSpPr>
          <p:cNvPr id="17" name="Text 14"/>
          <p:cNvSpPr/>
          <p:nvPr/>
        </p:nvSpPr>
        <p:spPr>
          <a:xfrm>
            <a:off x="3808476" y="2688336"/>
            <a:ext cx="1097280" cy="457200"/>
          </a:xfrm>
          <a:prstGeom prst="rect">
            <a:avLst/>
          </a:prstGeom>
          <a:noFill/>
          <a:ln/>
        </p:spPr>
        <p:txBody>
          <a:bodyPr wrap="square" lIns="0" tIns="0" rIns="0" bIns="0" rtlCol="0" anchor="ctr"/>
          <a:lstStyle/>
          <a:p>
            <a:pPr marL="0" indent="0">
              <a:buNone/>
            </a:pPr>
            <a:r>
              <a:rPr lang="en-US" sz="2600" b="1" dirty="0">
                <a:solidFill>
                  <a:srgbClr val="8B8AF0"/>
                </a:solidFill>
                <a:latin typeface="JetBrains Mono" pitchFamily="34" charset="0"/>
                <a:ea typeface="JetBrains Mono" pitchFamily="34" charset="-122"/>
                <a:cs typeface="JetBrains Mono" pitchFamily="34" charset="-120"/>
              </a:rPr>
              <a:t>02</a:t>
            </a:r>
            <a:endParaRPr lang="en-US" sz="2600" dirty="0"/>
          </a:p>
        </p:txBody>
      </p:sp>
      <p:sp>
        <p:nvSpPr>
          <p:cNvPr id="18" name="Text 15"/>
          <p:cNvSpPr/>
          <p:nvPr/>
        </p:nvSpPr>
        <p:spPr>
          <a:xfrm>
            <a:off x="3808476" y="3273552"/>
            <a:ext cx="1860804" cy="91440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Inter" pitchFamily="34" charset="0"/>
                <a:ea typeface="Inter" pitchFamily="34" charset="-122"/>
                <a:cs typeface="Inter" pitchFamily="34" charset="-120"/>
              </a:rPr>
              <a:t>It reads the seller's skills, wallet and URL off the chain</a:t>
            </a:r>
            <a:endParaRPr lang="en-US" sz="1400" dirty="0"/>
          </a:p>
        </p:txBody>
      </p:sp>
      <p:sp>
        <p:nvSpPr>
          <p:cNvPr id="19" name="Text 16"/>
          <p:cNvSpPr/>
          <p:nvPr/>
        </p:nvSpPr>
        <p:spPr>
          <a:xfrm>
            <a:off x="5961888" y="2706624"/>
            <a:ext cx="265176" cy="365760"/>
          </a:xfrm>
          <a:prstGeom prst="rect">
            <a:avLst/>
          </a:prstGeom>
          <a:noFill/>
          <a:ln/>
        </p:spPr>
        <p:txBody>
          <a:bodyPr wrap="square" lIns="0" tIns="0" rIns="0" bIns="0" rtlCol="0" anchor="ctr"/>
          <a:lstStyle/>
          <a:p>
            <a:pPr marL="0" indent="0" algn="ctr">
              <a:buNone/>
            </a:pPr>
            <a:r>
              <a:rPr lang="en-US" sz="1300" dirty="0">
                <a:solidFill>
                  <a:srgbClr val="4A5162"/>
                </a:solidFill>
                <a:latin typeface="JetBrains Mono" pitchFamily="34" charset="0"/>
                <a:ea typeface="JetBrains Mono" pitchFamily="34" charset="-122"/>
                <a:cs typeface="JetBrains Mono" pitchFamily="34" charset="-120"/>
              </a:rPr>
              <a:t>→</a:t>
            </a:r>
            <a:endParaRPr lang="en-US" sz="1300" dirty="0"/>
          </a:p>
        </p:txBody>
      </p:sp>
      <p:sp>
        <p:nvSpPr>
          <p:cNvPr id="20" name="Shape 17"/>
          <p:cNvSpPr/>
          <p:nvPr/>
        </p:nvSpPr>
        <p:spPr>
          <a:xfrm>
            <a:off x="6245352" y="2432304"/>
            <a:ext cx="2409444" cy="1975104"/>
          </a:xfrm>
          <a:prstGeom prst="roundRect">
            <a:avLst>
              <a:gd name="adj" fmla="val 2778"/>
            </a:avLst>
          </a:prstGeom>
          <a:solidFill>
            <a:srgbClr val="1C212B"/>
          </a:solidFill>
          <a:ln w="12700">
            <a:solidFill>
              <a:srgbClr val="363C49"/>
            </a:solidFill>
            <a:prstDash val="solid"/>
          </a:ln>
        </p:spPr>
        <p:txBody>
          <a:bodyPr/>
          <a:lstStyle/>
          <a:p>
            <a:endParaRPr lang="en-US"/>
          </a:p>
        </p:txBody>
      </p:sp>
      <p:sp>
        <p:nvSpPr>
          <p:cNvPr id="21" name="Text 18"/>
          <p:cNvSpPr/>
          <p:nvPr/>
        </p:nvSpPr>
        <p:spPr>
          <a:xfrm>
            <a:off x="6519672" y="2688336"/>
            <a:ext cx="1097280" cy="457200"/>
          </a:xfrm>
          <a:prstGeom prst="rect">
            <a:avLst/>
          </a:prstGeom>
          <a:noFill/>
          <a:ln/>
        </p:spPr>
        <p:txBody>
          <a:bodyPr wrap="square" lIns="0" tIns="0" rIns="0" bIns="0" rtlCol="0" anchor="ctr"/>
          <a:lstStyle/>
          <a:p>
            <a:pPr marL="0" indent="0">
              <a:buNone/>
            </a:pPr>
            <a:r>
              <a:rPr lang="en-US" sz="2600" b="1" dirty="0">
                <a:solidFill>
                  <a:srgbClr val="8B8AF0"/>
                </a:solidFill>
                <a:latin typeface="JetBrains Mono" pitchFamily="34" charset="0"/>
                <a:ea typeface="JetBrains Mono" pitchFamily="34" charset="-122"/>
                <a:cs typeface="JetBrains Mono" pitchFamily="34" charset="-120"/>
              </a:rPr>
              <a:t>03</a:t>
            </a:r>
            <a:endParaRPr lang="en-US" sz="2600" dirty="0"/>
          </a:p>
        </p:txBody>
      </p:sp>
      <p:sp>
        <p:nvSpPr>
          <p:cNvPr id="22" name="Text 19"/>
          <p:cNvSpPr/>
          <p:nvPr/>
        </p:nvSpPr>
        <p:spPr>
          <a:xfrm>
            <a:off x="6519672" y="3273552"/>
            <a:ext cx="1860804" cy="91440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Inter" pitchFamily="34" charset="0"/>
                <a:ea typeface="Inter" pitchFamily="34" charset="-122"/>
                <a:cs typeface="Inter" pitchFamily="34" charset="-120"/>
              </a:rPr>
              <a:t>It is quoted a price — and checks who it is about to pay</a:t>
            </a:r>
            <a:endParaRPr lang="en-US" sz="1400" dirty="0"/>
          </a:p>
        </p:txBody>
      </p:sp>
      <p:sp>
        <p:nvSpPr>
          <p:cNvPr id="23" name="Text 20"/>
          <p:cNvSpPr/>
          <p:nvPr/>
        </p:nvSpPr>
        <p:spPr>
          <a:xfrm>
            <a:off x="8673084" y="2706624"/>
            <a:ext cx="265176" cy="365760"/>
          </a:xfrm>
          <a:prstGeom prst="rect">
            <a:avLst/>
          </a:prstGeom>
          <a:noFill/>
          <a:ln/>
        </p:spPr>
        <p:txBody>
          <a:bodyPr wrap="square" lIns="0" tIns="0" rIns="0" bIns="0" rtlCol="0" anchor="ctr"/>
          <a:lstStyle/>
          <a:p>
            <a:pPr marL="0" indent="0" algn="ctr">
              <a:buNone/>
            </a:pPr>
            <a:r>
              <a:rPr lang="en-US" sz="1300" dirty="0">
                <a:solidFill>
                  <a:srgbClr val="4A5162"/>
                </a:solidFill>
                <a:latin typeface="JetBrains Mono" pitchFamily="34" charset="0"/>
                <a:ea typeface="JetBrains Mono" pitchFamily="34" charset="-122"/>
                <a:cs typeface="JetBrains Mono" pitchFamily="34" charset="-120"/>
              </a:rPr>
              <a:t>→</a:t>
            </a:r>
            <a:endParaRPr lang="en-US" sz="1300" dirty="0"/>
          </a:p>
        </p:txBody>
      </p:sp>
      <p:sp>
        <p:nvSpPr>
          <p:cNvPr id="24" name="Shape 21"/>
          <p:cNvSpPr/>
          <p:nvPr/>
        </p:nvSpPr>
        <p:spPr>
          <a:xfrm>
            <a:off x="8956548" y="2432304"/>
            <a:ext cx="2409444" cy="1975104"/>
          </a:xfrm>
          <a:prstGeom prst="roundRect">
            <a:avLst>
              <a:gd name="adj" fmla="val 2778"/>
            </a:avLst>
          </a:prstGeom>
          <a:solidFill>
            <a:srgbClr val="1C212B"/>
          </a:solidFill>
          <a:ln w="12700">
            <a:solidFill>
              <a:srgbClr val="363C49"/>
            </a:solidFill>
            <a:prstDash val="solid"/>
          </a:ln>
        </p:spPr>
        <p:txBody>
          <a:bodyPr/>
          <a:lstStyle/>
          <a:p>
            <a:endParaRPr lang="en-US"/>
          </a:p>
        </p:txBody>
      </p:sp>
      <p:sp>
        <p:nvSpPr>
          <p:cNvPr id="25" name="Text 22"/>
          <p:cNvSpPr/>
          <p:nvPr/>
        </p:nvSpPr>
        <p:spPr>
          <a:xfrm>
            <a:off x="9230868" y="2688336"/>
            <a:ext cx="1097280" cy="457200"/>
          </a:xfrm>
          <a:prstGeom prst="rect">
            <a:avLst/>
          </a:prstGeom>
          <a:noFill/>
          <a:ln/>
        </p:spPr>
        <p:txBody>
          <a:bodyPr wrap="square" lIns="0" tIns="0" rIns="0" bIns="0" rtlCol="0" anchor="ctr"/>
          <a:lstStyle/>
          <a:p>
            <a:pPr marL="0" indent="0">
              <a:buNone/>
            </a:pPr>
            <a:r>
              <a:rPr lang="en-US" sz="2600" b="1" dirty="0">
                <a:solidFill>
                  <a:srgbClr val="8B8AF0"/>
                </a:solidFill>
                <a:latin typeface="JetBrains Mono" pitchFamily="34" charset="0"/>
                <a:ea typeface="JetBrains Mono" pitchFamily="34" charset="-122"/>
                <a:cs typeface="JetBrains Mono" pitchFamily="34" charset="-120"/>
              </a:rPr>
              <a:t>04</a:t>
            </a:r>
            <a:endParaRPr lang="en-US" sz="2600" dirty="0"/>
          </a:p>
        </p:txBody>
      </p:sp>
      <p:sp>
        <p:nvSpPr>
          <p:cNvPr id="26" name="Text 23"/>
          <p:cNvSpPr/>
          <p:nvPr/>
        </p:nvSpPr>
        <p:spPr>
          <a:xfrm>
            <a:off x="9230868" y="3273552"/>
            <a:ext cx="1860804" cy="91440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Inter" pitchFamily="34" charset="0"/>
                <a:ea typeface="Inter" pitchFamily="34" charset="-122"/>
                <a:cs typeface="Inter" pitchFamily="34" charset="-120"/>
              </a:rPr>
              <a:t>It pays, and the seller verifies that itself</a:t>
            </a:r>
            <a:endParaRPr lang="en-US" sz="1400" dirty="0"/>
          </a:p>
        </p:txBody>
      </p:sp>
      <p:sp>
        <p:nvSpPr>
          <p:cNvPr id="27" name="Shape 24"/>
          <p:cNvSpPr/>
          <p:nvPr/>
        </p:nvSpPr>
        <p:spPr>
          <a:xfrm>
            <a:off x="822960" y="4828032"/>
            <a:ext cx="10543032" cy="868680"/>
          </a:xfrm>
          <a:prstGeom prst="roundRect">
            <a:avLst>
              <a:gd name="adj" fmla="val 6316"/>
            </a:avLst>
          </a:prstGeom>
          <a:solidFill>
            <a:srgbClr val="1A1119"/>
          </a:solidFill>
          <a:ln w="12700">
            <a:solidFill>
              <a:srgbClr val="D6336C"/>
            </a:solidFill>
            <a:prstDash val="solid"/>
          </a:ln>
        </p:spPr>
        <p:txBody>
          <a:bodyPr/>
          <a:lstStyle/>
          <a:p>
            <a:endParaRPr lang="en-US"/>
          </a:p>
        </p:txBody>
      </p:sp>
      <p:sp>
        <p:nvSpPr>
          <p:cNvPr id="28" name="Shape 25"/>
          <p:cNvSpPr/>
          <p:nvPr/>
        </p:nvSpPr>
        <p:spPr>
          <a:xfrm>
            <a:off x="1152144" y="5084064"/>
            <a:ext cx="365760" cy="365760"/>
          </a:xfrm>
          <a:prstGeom prst="ellipse">
            <a:avLst/>
          </a:prstGeom>
          <a:solidFill>
            <a:srgbClr val="2A1520"/>
          </a:solidFill>
          <a:ln w="12700">
            <a:solidFill>
              <a:srgbClr val="D6336C"/>
            </a:solidFill>
            <a:prstDash val="solid"/>
          </a:ln>
        </p:spPr>
        <p:txBody>
          <a:bodyPr/>
          <a:lstStyle/>
          <a:p>
            <a:endParaRPr lang="en-US"/>
          </a:p>
        </p:txBody>
      </p:sp>
      <p:sp>
        <p:nvSpPr>
          <p:cNvPr id="29" name="Text 26"/>
          <p:cNvSpPr/>
          <p:nvPr/>
        </p:nvSpPr>
        <p:spPr>
          <a:xfrm>
            <a:off x="1152144" y="5084064"/>
            <a:ext cx="365760" cy="365760"/>
          </a:xfrm>
          <a:prstGeom prst="rect">
            <a:avLst/>
          </a:prstGeom>
          <a:noFill/>
          <a:ln/>
        </p:spPr>
        <p:txBody>
          <a:bodyPr wrap="square" lIns="0" tIns="0" rIns="0" bIns="0" rtlCol="0" anchor="ctr"/>
          <a:lstStyle/>
          <a:p>
            <a:pPr marL="0" indent="0" algn="ctr">
              <a:buNone/>
            </a:pPr>
            <a:r>
              <a:rPr lang="en-US" sz="1200" b="1" dirty="0">
                <a:solidFill>
                  <a:srgbClr val="D6336C"/>
                </a:solidFill>
                <a:latin typeface="Inter" pitchFamily="34" charset="0"/>
                <a:ea typeface="Inter" pitchFamily="34" charset="-122"/>
                <a:cs typeface="Inter" pitchFamily="34" charset="-120"/>
              </a:rPr>
              <a:t>✓</a:t>
            </a:r>
            <a:endParaRPr lang="en-US" sz="1200" dirty="0"/>
          </a:p>
        </p:txBody>
      </p:sp>
      <p:sp>
        <p:nvSpPr>
          <p:cNvPr id="30" name="Text 27"/>
          <p:cNvSpPr/>
          <p:nvPr/>
        </p:nvSpPr>
        <p:spPr>
          <a:xfrm>
            <a:off x="1691640" y="4828032"/>
            <a:ext cx="6400800" cy="868680"/>
          </a:xfrm>
          <a:prstGeom prst="rect">
            <a:avLst/>
          </a:prstGeom>
          <a:noFill/>
          <a:ln/>
        </p:spPr>
        <p:txBody>
          <a:bodyPr wrap="square" lIns="0" tIns="0" rIns="0" bIns="0" rtlCol="0" anchor="ctr"/>
          <a:lstStyle/>
          <a:p>
            <a:pPr marL="0" indent="0">
              <a:buNone/>
            </a:pPr>
            <a:r>
              <a:rPr lang="en-US" sz="1700" b="1" dirty="0">
                <a:solidFill>
                  <a:srgbClr val="D6336C"/>
                </a:solidFill>
                <a:latin typeface="Inter" pitchFamily="34" charset="0"/>
                <a:ea typeface="Inter" pitchFamily="34" charset="-122"/>
                <a:cs typeface="Inter" pitchFamily="34" charset="-120"/>
              </a:rPr>
              <a:t>all of it settles on devnet — every hash is real</a:t>
            </a:r>
            <a:endParaRPr lang="en-US" sz="1700" dirty="0"/>
          </a:p>
        </p:txBody>
      </p:sp>
      <p:sp>
        <p:nvSpPr>
          <p:cNvPr id="31" name="Text 28"/>
          <p:cNvSpPr/>
          <p:nvPr/>
        </p:nvSpPr>
        <p:spPr>
          <a:xfrm>
            <a:off x="7434072" y="4828032"/>
            <a:ext cx="3566160" cy="868680"/>
          </a:xfrm>
          <a:prstGeom prst="rect">
            <a:avLst/>
          </a:prstGeom>
          <a:noFill/>
          <a:ln/>
        </p:spPr>
        <p:txBody>
          <a:bodyPr wrap="square" lIns="0" tIns="0" rIns="0" bIns="0" rtlCol="0" anchor="ctr"/>
          <a:lstStyle/>
          <a:p>
            <a:pPr marL="0" indent="0" algn="r">
              <a:buNone/>
            </a:pPr>
            <a:r>
              <a:rPr lang="en-US" sz="1100" dirty="0">
                <a:solidFill>
                  <a:srgbClr val="9AA0AE"/>
                </a:solidFill>
                <a:latin typeface="JetBrains Mono" pitchFamily="34" charset="0"/>
                <a:ea typeface="JetBrains Mono" pitchFamily="34" charset="-122"/>
                <a:cs typeface="JetBrains Mono" pitchFamily="34" charset="-120"/>
              </a:rPr>
              <a:t>nothing mocked, nothing pre-recorded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E1116"/>
        </a:solidFill>
        <a:effectLst/>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marL="0" indent="0">
              <a:buNone/>
            </a:pPr>
            <a:r>
              <a:rPr lang="en-US" sz="1000" b="1" kern="0" spc="140" dirty="0">
                <a:solidFill>
                  <a:srgbClr val="8B8AF0"/>
                </a:solidFill>
                <a:latin typeface="JetBrains Mono" pitchFamily="34" charset="0"/>
                <a:ea typeface="JetBrains Mono" pitchFamily="34" charset="-122"/>
                <a:cs typeface="JetBrains Mono" pitchFamily="34" charset="-120"/>
              </a:rPr>
              <a:t>MOI · BUILD 04</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marL="0" indent="0" algn="r">
              <a:buNone/>
            </a:pPr>
            <a:r>
              <a:rPr lang="en-US" sz="1000" kern="0" spc="140" dirty="0">
                <a:solidFill>
                  <a:srgbClr val="9AA0AE"/>
                </a:solidFill>
                <a:latin typeface="JetBrains Mono" pitchFamily="34" charset="0"/>
                <a:ea typeface="JetBrains Mono" pitchFamily="34" charset="-122"/>
                <a:cs typeface="JetBrains Mono" pitchFamily="34" charset="-120"/>
              </a:rPr>
              <a:t>THE CODE</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marL="0" indent="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marL="0" indent="0" algn="r">
              <a:buNone/>
            </a:pPr>
            <a:r>
              <a:rPr lang="en-US" sz="900" dirty="0">
                <a:solidFill>
                  <a:srgbClr val="6B7280"/>
                </a:solidFill>
                <a:latin typeface="JetBrains Mono" pitchFamily="34" charset="0"/>
                <a:ea typeface="JetBrains Mono" pitchFamily="34" charset="-122"/>
                <a:cs typeface="JetBrains Mono" pitchFamily="34" charset="-120"/>
              </a:rPr>
              <a:t>04 / 8</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marL="0" indent="0">
              <a:buNone/>
            </a:pPr>
            <a:r>
              <a:rPr lang="en-US" sz="3800" b="1" dirty="0">
                <a:solidFill>
                  <a:srgbClr val="FFFFFF"/>
                </a:solidFill>
                <a:latin typeface="Inter" pitchFamily="34" charset="0"/>
                <a:ea typeface="Inter" pitchFamily="34" charset="-122"/>
                <a:cs typeface="Inter" pitchFamily="34" charset="-120"/>
              </a:rPr>
              <a:t>Two files</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marL="0" indent="0">
              <a:buNone/>
            </a:pPr>
            <a:r>
              <a:rPr lang="en-US" sz="1450" dirty="0">
                <a:solidFill>
                  <a:srgbClr val="B9BECD"/>
                </a:solidFill>
                <a:latin typeface="Inter" pitchFamily="34" charset="0"/>
                <a:ea typeface="Inter" pitchFamily="34" charset="-122"/>
                <a:cs typeface="Inter" pitchFamily="34" charset="-120"/>
              </a:rPr>
              <a:t>Only two pieces of this touch MOI — and we'll read both, line by line.</a:t>
            </a:r>
            <a:endParaRPr lang="en-US" sz="1450" dirty="0"/>
          </a:p>
        </p:txBody>
      </p:sp>
      <p:sp>
        <p:nvSpPr>
          <p:cNvPr id="801" name="card801"/>
          <p:cNvSpPr/>
          <p:nvPr/>
        </p:nvSpPr>
        <p:spPr>
          <a:xfrm>
            <a:off x="822960" y="2240280"/>
            <a:ext cx="5120640" cy="2286000"/>
          </a:xfrm>
          <a:prstGeom prst="roundRect">
            <a:avLst>
              <a:gd name="adj" fmla="val 5000"/>
            </a:avLst>
          </a:prstGeom>
          <a:solidFill>
            <a:srgbClr val="141821"/>
          </a:solidFill>
          <a:ln w="12700">
            <a:solidFill>
              <a:srgbClr val="2A2E37"/>
            </a:solidFill>
          </a:ln>
        </p:spPr>
        <p:txBody>
          <a:bodyPr/>
          <a:lstStyle/>
          <a:p>
            <a:endParaRPr lang="en-US"/>
          </a:p>
        </p:txBody>
      </p:sp>
      <p:sp>
        <p:nvSpPr>
          <p:cNvPr id="802" name="t802"/>
          <p:cNvSpPr txBox="1"/>
          <p:nvPr/>
        </p:nvSpPr>
        <p:spPr>
          <a:xfrm>
            <a:off x="5074920" y="2368296"/>
            <a:ext cx="594360" cy="274320"/>
          </a:xfrm>
          <a:prstGeom prst="rect">
            <a:avLst/>
          </a:prstGeom>
          <a:noFill/>
        </p:spPr>
        <p:txBody>
          <a:bodyPr lIns="0" tIns="0" rIns="0" bIns="0"/>
          <a:lstStyle/>
          <a:p>
            <a:pPr algn="r"/>
            <a:r>
              <a:rPr lang="en-US" sz="1100" dirty="0">
                <a:solidFill>
                  <a:srgbClr val="6B7280"/>
                </a:solidFill>
                <a:latin typeface="JetBrains Mono"/>
              </a:rPr>
              <a:t>01</a:t>
            </a:r>
          </a:p>
        </p:txBody>
      </p:sp>
      <p:sp>
        <p:nvSpPr>
          <p:cNvPr id="803" name="t803"/>
          <p:cNvSpPr txBox="1"/>
          <p:nvPr/>
        </p:nvSpPr>
        <p:spPr>
          <a:xfrm>
            <a:off x="1097280" y="2423160"/>
            <a:ext cx="3886200" cy="329184"/>
          </a:xfrm>
          <a:prstGeom prst="rect">
            <a:avLst/>
          </a:prstGeom>
          <a:noFill/>
        </p:spPr>
        <p:txBody>
          <a:bodyPr lIns="0" tIns="0" rIns="0" bIns="0"/>
          <a:lstStyle/>
          <a:p>
            <a:pPr algn="l"/>
            <a:r>
              <a:rPr lang="en-US" sz="1500" b="1" dirty="0">
                <a:solidFill>
                  <a:srgbClr val="FFFFFF"/>
                </a:solidFill>
                <a:latin typeface="Inter"/>
              </a:rPr>
              <a:t>showcase-discover-all.ts</a:t>
            </a:r>
          </a:p>
        </p:txBody>
      </p:sp>
      <p:sp>
        <p:nvSpPr>
          <p:cNvPr id="804" name="t804"/>
          <p:cNvSpPr txBox="1"/>
          <p:nvPr/>
        </p:nvSpPr>
        <p:spPr>
          <a:xfrm>
            <a:off x="1097280" y="2898648"/>
            <a:ext cx="4572000" cy="1097280"/>
          </a:xfrm>
          <a:prstGeom prst="rect">
            <a:avLst/>
          </a:prstGeom>
          <a:noFill/>
        </p:spPr>
        <p:txBody>
          <a:bodyPr lIns="0" tIns="0" rIns="0" bIns="0"/>
          <a:lstStyle/>
          <a:p>
            <a:pPr algn="l"/>
            <a:r>
              <a:rPr lang="en-US" sz="1100" dirty="0">
                <a:solidFill>
                  <a:srgbClr val="B9BECD"/>
                </a:solidFill>
                <a:latin typeface="Inter"/>
              </a:rPr>
              <a:t>How the buyer finds a seller from nothing but a skill — walk the registry, open each agent's card, keep the tag match. In: a question. Out: an id, a wallet, and a URL.</a:t>
            </a:r>
          </a:p>
        </p:txBody>
      </p:sp>
      <p:sp>
        <p:nvSpPr>
          <p:cNvPr id="805" name="t805"/>
          <p:cNvSpPr txBox="1"/>
          <p:nvPr/>
        </p:nvSpPr>
        <p:spPr>
          <a:xfrm>
            <a:off x="1097280" y="4142232"/>
            <a:ext cx="4572000" cy="256032"/>
          </a:xfrm>
          <a:prstGeom prst="rect">
            <a:avLst/>
          </a:prstGeom>
          <a:noFill/>
        </p:spPr>
        <p:txBody>
          <a:bodyPr lIns="0" tIns="0" rIns="0" bIns="0"/>
          <a:lstStyle/>
          <a:p>
            <a:pPr algn="l"/>
            <a:r>
              <a:rPr lang="en-US" sz="950" dirty="0">
                <a:solidFill>
                  <a:srgbClr val="8B8AF0"/>
                </a:solidFill>
                <a:latin typeface="JetBrains Mono"/>
              </a:rPr>
              <a:t>the discovery walk, line by line</a:t>
            </a:r>
          </a:p>
        </p:txBody>
      </p:sp>
      <p:sp>
        <p:nvSpPr>
          <p:cNvPr id="806" name="card806"/>
          <p:cNvSpPr/>
          <p:nvPr/>
        </p:nvSpPr>
        <p:spPr>
          <a:xfrm>
            <a:off x="6245352" y="2240280"/>
            <a:ext cx="5120640" cy="2286000"/>
          </a:xfrm>
          <a:prstGeom prst="roundRect">
            <a:avLst>
              <a:gd name="adj" fmla="val 5000"/>
            </a:avLst>
          </a:prstGeom>
          <a:solidFill>
            <a:srgbClr val="141821"/>
          </a:solidFill>
          <a:ln w="12700">
            <a:solidFill>
              <a:srgbClr val="2A2E37"/>
            </a:solidFill>
          </a:ln>
        </p:spPr>
        <p:txBody>
          <a:bodyPr/>
          <a:lstStyle/>
          <a:p>
            <a:endParaRPr lang="en-US"/>
          </a:p>
        </p:txBody>
      </p:sp>
      <p:sp>
        <p:nvSpPr>
          <p:cNvPr id="807" name="t807"/>
          <p:cNvSpPr txBox="1"/>
          <p:nvPr/>
        </p:nvSpPr>
        <p:spPr>
          <a:xfrm>
            <a:off x="10497312" y="2368296"/>
            <a:ext cx="594360" cy="274320"/>
          </a:xfrm>
          <a:prstGeom prst="rect">
            <a:avLst/>
          </a:prstGeom>
          <a:noFill/>
        </p:spPr>
        <p:txBody>
          <a:bodyPr lIns="0" tIns="0" rIns="0" bIns="0"/>
          <a:lstStyle/>
          <a:p>
            <a:pPr algn="r"/>
            <a:r>
              <a:rPr lang="en-US" sz="1100" dirty="0">
                <a:solidFill>
                  <a:srgbClr val="6B7280"/>
                </a:solidFill>
                <a:latin typeface="JetBrains Mono"/>
              </a:rPr>
              <a:t>02</a:t>
            </a:r>
          </a:p>
        </p:txBody>
      </p:sp>
      <p:sp>
        <p:nvSpPr>
          <p:cNvPr id="808" name="t808"/>
          <p:cNvSpPr txBox="1"/>
          <p:nvPr/>
        </p:nvSpPr>
        <p:spPr>
          <a:xfrm>
            <a:off x="6519672" y="2423160"/>
            <a:ext cx="3886200" cy="329184"/>
          </a:xfrm>
          <a:prstGeom prst="rect">
            <a:avLst/>
          </a:prstGeom>
          <a:noFill/>
        </p:spPr>
        <p:txBody>
          <a:bodyPr lIns="0" tIns="0" rIns="0" bIns="0"/>
          <a:lstStyle/>
          <a:p>
            <a:pPr algn="l"/>
            <a:r>
              <a:rPr lang="en-US" sz="1500" b="1" dirty="0">
                <a:solidFill>
                  <a:srgbClr val="FFFFFF"/>
                </a:solidFill>
                <a:latin typeface="Inter"/>
              </a:rPr>
              <a:t>pay.ts</a:t>
            </a:r>
          </a:p>
        </p:txBody>
      </p:sp>
      <p:sp>
        <p:nvSpPr>
          <p:cNvPr id="809" name="t809"/>
          <p:cNvSpPr txBox="1"/>
          <p:nvPr/>
        </p:nvSpPr>
        <p:spPr>
          <a:xfrm>
            <a:off x="6519672" y="2898648"/>
            <a:ext cx="4572000" cy="1097280"/>
          </a:xfrm>
          <a:prstGeom prst="rect">
            <a:avLst/>
          </a:prstGeom>
          <a:noFill/>
        </p:spPr>
        <p:txBody>
          <a:bodyPr lIns="0" tIns="0" rIns="0" bIns="0"/>
          <a:lstStyle/>
          <a:p>
            <a:pPr algn="l"/>
            <a:r>
              <a:rPr lang="en-US" sz="1100" dirty="0">
                <a:solidFill>
                  <a:srgbClr val="B9BECD"/>
                </a:solidFill>
                <a:latin typeface="Inter"/>
              </a:rPr>
              <a:t>How an agent hands over money — one signature moves the funds on MOI, and a second one proves that payment belongs to this purchase. The buyer pushes; the seller never pulls.</a:t>
            </a:r>
          </a:p>
        </p:txBody>
      </p:sp>
      <p:sp>
        <p:nvSpPr>
          <p:cNvPr id="810" name="t810"/>
          <p:cNvSpPr txBox="1"/>
          <p:nvPr/>
        </p:nvSpPr>
        <p:spPr>
          <a:xfrm>
            <a:off x="6519672" y="4142232"/>
            <a:ext cx="4572000" cy="256032"/>
          </a:xfrm>
          <a:prstGeom prst="rect">
            <a:avLst/>
          </a:prstGeom>
          <a:noFill/>
        </p:spPr>
        <p:txBody>
          <a:bodyPr lIns="0" tIns="0" rIns="0" bIns="0"/>
          <a:lstStyle/>
          <a:p>
            <a:pPr algn="l"/>
            <a:r>
              <a:rPr lang="en-US" sz="950" dirty="0">
                <a:solidFill>
                  <a:srgbClr val="8B8AF0"/>
                </a:solidFill>
                <a:latin typeface="JetBrains Mono"/>
              </a:rPr>
              <a:t>two signatures, line by line</a:t>
            </a:r>
          </a:p>
        </p:txBody>
      </p:sp>
      <p:sp>
        <p:nvSpPr>
          <p:cNvPr id="811" name="card811"/>
          <p:cNvSpPr/>
          <p:nvPr/>
        </p:nvSpPr>
        <p:spPr>
          <a:xfrm>
            <a:off x="822960" y="4800600"/>
            <a:ext cx="10543032" cy="896112"/>
          </a:xfrm>
          <a:prstGeom prst="roundRect">
            <a:avLst>
              <a:gd name="adj" fmla="val 5000"/>
            </a:avLst>
          </a:prstGeom>
          <a:solidFill>
            <a:srgbClr val="0C0F14"/>
          </a:solidFill>
          <a:ln w="12700">
            <a:solidFill>
              <a:srgbClr val="2A2E37"/>
            </a:solidFill>
          </a:ln>
        </p:spPr>
        <p:txBody>
          <a:bodyPr/>
          <a:lstStyle/>
          <a:p>
            <a:endParaRPr lang="en-US"/>
          </a:p>
        </p:txBody>
      </p:sp>
      <p:sp>
        <p:nvSpPr>
          <p:cNvPr id="812" name="t812"/>
          <p:cNvSpPr txBox="1"/>
          <p:nvPr/>
        </p:nvSpPr>
        <p:spPr>
          <a:xfrm>
            <a:off x="1097280" y="4946904"/>
            <a:ext cx="2194560" cy="237744"/>
          </a:xfrm>
          <a:prstGeom prst="rect">
            <a:avLst/>
          </a:prstGeom>
          <a:noFill/>
        </p:spPr>
        <p:txBody>
          <a:bodyPr lIns="0" tIns="0" rIns="0" bIns="0"/>
          <a:lstStyle/>
          <a:p>
            <a:pPr algn="l"/>
            <a:r>
              <a:rPr lang="en-US" sz="1000" spc="130" dirty="0">
                <a:solidFill>
                  <a:srgbClr val="6B7280"/>
                </a:solidFill>
                <a:latin typeface="JetBrains Mono"/>
              </a:rPr>
              <a:t>THE REST</a:t>
            </a:r>
          </a:p>
        </p:txBody>
      </p:sp>
      <p:sp>
        <p:nvSpPr>
          <p:cNvPr id="813" name="t813"/>
          <p:cNvSpPr txBox="1"/>
          <p:nvPr/>
        </p:nvSpPr>
        <p:spPr>
          <a:xfrm>
            <a:off x="1097280" y="5221224"/>
            <a:ext cx="9994392" cy="365760"/>
          </a:xfrm>
          <a:prstGeom prst="rect">
            <a:avLst/>
          </a:prstGeom>
          <a:noFill/>
        </p:spPr>
        <p:txBody>
          <a:bodyPr lIns="0" tIns="0" rIns="0" bIns="0"/>
          <a:lstStyle/>
          <a:p>
            <a:pPr algn="l"/>
            <a:r>
              <a:rPr lang="en-US" sz="1050" dirty="0">
                <a:solidFill>
                  <a:srgbClr val="B9BECD"/>
                </a:solidFill>
                <a:latin typeface="Inter"/>
              </a:rPr>
              <a:t>Ordinary web code — a small server with a free catalog, a 402 paywall, seven read-only checks, and two model brains that never touch the chain.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marL="0" indent="0">
              <a:buNone/>
            </a:pPr>
            <a:r>
              <a:rPr lang="en-US" sz="1000" b="1" kern="0" spc="140" dirty="0">
                <a:solidFill>
                  <a:srgbClr val="2D2BB6"/>
                </a:solidFill>
                <a:latin typeface="JetBrains Mono" pitchFamily="34" charset="0"/>
                <a:ea typeface="JetBrains Mono" pitchFamily="34" charset="-122"/>
                <a:cs typeface="JetBrains Mono" pitchFamily="34" charset="-120"/>
              </a:rPr>
              <a:t>MOI · BUILD 05</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marL="0" indent="0" algn="r">
              <a:buNone/>
            </a:pPr>
            <a:r>
              <a:rPr lang="en-US" sz="1000" kern="0" spc="140" dirty="0">
                <a:solidFill>
                  <a:srgbClr val="5B6170"/>
                </a:solidFill>
                <a:latin typeface="JetBrains Mono" pitchFamily="34" charset="0"/>
                <a:ea typeface="JetBrains Mono" pitchFamily="34" charset="-122"/>
                <a:cs typeface="JetBrains Mono" pitchFamily="34" charset="-120"/>
              </a:rPr>
              <a:t>WHAT'S MISSING</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marL="0" indent="0">
              <a:buNone/>
            </a:pPr>
            <a:r>
              <a:rPr lang="en-US" sz="900" dirty="0">
                <a:solidFill>
                  <a:srgbClr val="9AA0AE"/>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marL="0" indent="0" algn="r">
              <a:buNone/>
            </a:pPr>
            <a:r>
              <a:rPr lang="en-US" sz="900" dirty="0">
                <a:solidFill>
                  <a:srgbClr val="9AA0AE"/>
                </a:solidFill>
                <a:latin typeface="JetBrains Mono" pitchFamily="34" charset="0"/>
                <a:ea typeface="JetBrains Mono" pitchFamily="34" charset="-122"/>
                <a:cs typeface="JetBrains Mono" pitchFamily="34" charset="-120"/>
              </a:rPr>
              <a:t>05 / 8</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marL="0" indent="0">
              <a:buNone/>
            </a:pPr>
            <a:r>
              <a:rPr lang="en-US" sz="3800" b="1" dirty="0">
                <a:solidFill>
                  <a:srgbClr val="0E1116"/>
                </a:solidFill>
                <a:latin typeface="Inter" pitchFamily="34" charset="0"/>
                <a:ea typeface="Inter" pitchFamily="34" charset="-122"/>
                <a:cs typeface="Inter" pitchFamily="34" charset="-120"/>
              </a:rPr>
              <a:t>Every guardrail here is self-imposed</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marL="0" indent="0">
              <a:buNone/>
            </a:pPr>
            <a:r>
              <a:rPr lang="en-US" sz="1450" dirty="0">
                <a:solidFill>
                  <a:srgbClr val="5B6170"/>
                </a:solidFill>
                <a:latin typeface="Inter" pitchFamily="34" charset="0"/>
                <a:ea typeface="Inter" pitchFamily="34" charset="-122"/>
                <a:cs typeface="Inter" pitchFamily="34" charset="-120"/>
              </a:rPr>
              <a:t>The buyer refuses anything over 6. That limit is a constant in its own source.</a:t>
            </a:r>
            <a:endParaRPr lang="en-US" sz="1450" dirty="0"/>
          </a:p>
        </p:txBody>
      </p:sp>
      <p:sp>
        <p:nvSpPr>
          <p:cNvPr id="9" name="Shape 6"/>
          <p:cNvSpPr/>
          <p:nvPr/>
        </p:nvSpPr>
        <p:spPr>
          <a:xfrm>
            <a:off x="822960" y="2286000"/>
            <a:ext cx="10543032" cy="786384"/>
          </a:xfrm>
          <a:prstGeom prst="roundRect">
            <a:avLst>
              <a:gd name="adj" fmla="val 6977"/>
            </a:avLst>
          </a:prstGeom>
          <a:solidFill>
            <a:srgbClr val="0E1116"/>
          </a:solidFill>
          <a:ln/>
        </p:spPr>
        <p:txBody>
          <a:bodyPr/>
          <a:lstStyle/>
          <a:p>
            <a:endParaRPr lang="en-US"/>
          </a:p>
        </p:txBody>
      </p:sp>
      <p:sp>
        <p:nvSpPr>
          <p:cNvPr id="10" name="Text 7"/>
          <p:cNvSpPr/>
          <p:nvPr/>
        </p:nvSpPr>
        <p:spPr>
          <a:xfrm>
            <a:off x="1152144" y="2286000"/>
            <a:ext cx="9884664" cy="786384"/>
          </a:xfrm>
          <a:prstGeom prst="rect">
            <a:avLst/>
          </a:prstGeom>
          <a:noFill/>
          <a:ln/>
        </p:spPr>
        <p:txBody>
          <a:bodyPr wrap="square" lIns="0" tIns="0" rIns="0" bIns="0" rtlCol="0" anchor="ctr"/>
          <a:lstStyle/>
          <a:p>
            <a:pPr marL="0" indent="0">
              <a:buNone/>
            </a:pPr>
            <a:r>
              <a:rPr lang="en-US" sz="1350" dirty="0">
                <a:solidFill>
                  <a:srgbClr val="9AA0AE"/>
                </a:solidFill>
                <a:latin typeface="JetBrains Mono" pitchFamily="34" charset="0"/>
                <a:ea typeface="JetBrains Mono" pitchFamily="34" charset="-122"/>
                <a:cs typeface="JetBrains Mono" pitchFamily="34" charset="-120"/>
              </a:rPr>
              <a:t>export const </a:t>
            </a:r>
            <a:r>
              <a:rPr lang="en-US" sz="1350" dirty="0">
                <a:solidFill>
                  <a:srgbClr val="3CCB8E"/>
                </a:solidFill>
                <a:latin typeface="JetBrains Mono" pitchFamily="34" charset="0"/>
                <a:ea typeface="JetBrains Mono" pitchFamily="34" charset="-122"/>
                <a:cs typeface="JetBrains Mono" pitchFamily="34" charset="-120"/>
              </a:rPr>
              <a:t>SOFT_LIMIT</a:t>
            </a:r>
            <a:r>
              <a:rPr lang="en-US" sz="1350" dirty="0">
                <a:solidFill>
                  <a:srgbClr val="9AA0AE"/>
                </a:solidFill>
                <a:latin typeface="JetBrains Mono" pitchFamily="34" charset="0"/>
                <a:ea typeface="JetBrains Mono" pitchFamily="34" charset="-122"/>
                <a:cs typeface="JetBrains Mono" pitchFamily="34" charset="-120"/>
              </a:rPr>
              <a:t> = </a:t>
            </a:r>
            <a:r>
              <a:rPr lang="en-US" sz="1350" dirty="0">
                <a:solidFill>
                  <a:srgbClr val="8B8AF0"/>
                </a:solidFill>
                <a:latin typeface="JetBrains Mono" pitchFamily="34" charset="0"/>
                <a:ea typeface="JetBrains Mono" pitchFamily="34" charset="-122"/>
                <a:cs typeface="JetBrains Mono" pitchFamily="34" charset="-120"/>
              </a:rPr>
              <a:t>BigInt</a:t>
            </a:r>
            <a:r>
              <a:rPr lang="en-US" sz="1350" dirty="0">
                <a:solidFill>
                  <a:srgbClr val="B9BECD"/>
                </a:solidFill>
                <a:latin typeface="JetBrains Mono" pitchFamily="34" charset="0"/>
                <a:ea typeface="JetBrains Mono" pitchFamily="34" charset="-122"/>
                <a:cs typeface="JetBrains Mono" pitchFamily="34" charset="-120"/>
              </a:rPr>
              <a:t>(process.env.MAX_PRICE_PER_ANSWER ?? </a:t>
            </a:r>
            <a:r>
              <a:rPr lang="en-US" sz="1350" dirty="0">
                <a:solidFill>
                  <a:srgbClr val="3CCB8E"/>
                </a:solidFill>
                <a:latin typeface="JetBrains Mono" pitchFamily="34" charset="0"/>
                <a:ea typeface="JetBrains Mono" pitchFamily="34" charset="-122"/>
                <a:cs typeface="JetBrains Mono" pitchFamily="34" charset="-120"/>
              </a:rPr>
              <a:t>"6"</a:t>
            </a:r>
            <a:r>
              <a:rPr lang="en-US" sz="1350" dirty="0">
                <a:solidFill>
                  <a:srgbClr val="B9BECD"/>
                </a:solidFill>
                <a:latin typeface="JetBrains Mono" pitchFamily="34" charset="0"/>
                <a:ea typeface="JetBrains Mono" pitchFamily="34" charset="-122"/>
                <a:cs typeface="JetBrains Mono" pitchFamily="34" charset="-120"/>
              </a:rPr>
              <a:t>);</a:t>
            </a:r>
            <a:endParaRPr lang="en-US" sz="1350" dirty="0"/>
          </a:p>
        </p:txBody>
      </p:sp>
      <p:sp>
        <p:nvSpPr>
          <p:cNvPr id="11" name="Shape 8"/>
          <p:cNvSpPr/>
          <p:nvPr/>
        </p:nvSpPr>
        <p:spPr>
          <a:xfrm>
            <a:off x="822960" y="3291840"/>
            <a:ext cx="5042916" cy="1828800"/>
          </a:xfrm>
          <a:prstGeom prst="roundRect">
            <a:avLst>
              <a:gd name="adj" fmla="val 3000"/>
            </a:avLst>
          </a:prstGeom>
          <a:solidFill>
            <a:srgbClr val="F4F4F8"/>
          </a:solidFill>
          <a:ln w="12700">
            <a:solidFill>
              <a:srgbClr val="E4E5EC"/>
            </a:solidFill>
            <a:prstDash val="solid"/>
          </a:ln>
        </p:spPr>
        <p:txBody>
          <a:bodyPr/>
          <a:lstStyle/>
          <a:p>
            <a:endParaRPr lang="en-US"/>
          </a:p>
        </p:txBody>
      </p:sp>
      <p:sp>
        <p:nvSpPr>
          <p:cNvPr id="12" name="Text 9"/>
          <p:cNvSpPr/>
          <p:nvPr/>
        </p:nvSpPr>
        <p:spPr>
          <a:xfrm>
            <a:off x="1133856" y="3474720"/>
            <a:ext cx="2743200" cy="219456"/>
          </a:xfrm>
          <a:prstGeom prst="rect">
            <a:avLst/>
          </a:prstGeom>
          <a:noFill/>
          <a:ln/>
        </p:spPr>
        <p:txBody>
          <a:bodyPr wrap="square" lIns="0" tIns="0" rIns="0" bIns="0" rtlCol="0" anchor="ctr"/>
          <a:lstStyle/>
          <a:p>
            <a:pPr marL="0" indent="0">
              <a:buNone/>
            </a:pPr>
            <a:r>
              <a:rPr lang="en-US" sz="950" b="1" kern="0" spc="140" dirty="0">
                <a:solidFill>
                  <a:srgbClr val="5B6170"/>
                </a:solidFill>
                <a:latin typeface="JetBrains Mono" pitchFamily="34" charset="0"/>
                <a:ea typeface="JetBrains Mono" pitchFamily="34" charset="-122"/>
                <a:cs typeface="JetBrains Mono" pitchFamily="34" charset="-120"/>
              </a:rPr>
              <a:t>THE REAL PROBLEM</a:t>
            </a:r>
            <a:endParaRPr lang="en-US" sz="950" dirty="0"/>
          </a:p>
        </p:txBody>
      </p:sp>
      <p:sp>
        <p:nvSpPr>
          <p:cNvPr id="13" name="Text 10"/>
          <p:cNvSpPr/>
          <p:nvPr/>
        </p:nvSpPr>
        <p:spPr>
          <a:xfrm>
            <a:off x="1133856" y="3730752"/>
            <a:ext cx="4421124" cy="347472"/>
          </a:xfrm>
          <a:prstGeom prst="rect">
            <a:avLst/>
          </a:prstGeom>
          <a:noFill/>
          <a:ln/>
        </p:spPr>
        <p:txBody>
          <a:bodyPr wrap="square" lIns="0" tIns="0" rIns="0" bIns="0" rtlCol="0" anchor="ctr"/>
          <a:lstStyle/>
          <a:p>
            <a:pPr marL="0" indent="0">
              <a:buNone/>
            </a:pPr>
            <a:r>
              <a:rPr lang="en-US" sz="1800" b="1" dirty="0">
                <a:solidFill>
                  <a:srgbClr val="0E1116"/>
                </a:solidFill>
                <a:latin typeface="Inter" pitchFamily="34" charset="0"/>
                <a:ea typeface="Inter" pitchFamily="34" charset="-122"/>
                <a:cs typeface="Inter" pitchFamily="34" charset="-120"/>
              </a:rPr>
              <a:t>The lock is inside the house</a:t>
            </a:r>
            <a:endParaRPr lang="en-US" sz="1800" dirty="0"/>
          </a:p>
        </p:txBody>
      </p:sp>
      <p:sp>
        <p:nvSpPr>
          <p:cNvPr id="14" name="Text 11"/>
          <p:cNvSpPr/>
          <p:nvPr/>
        </p:nvSpPr>
        <p:spPr>
          <a:xfrm>
            <a:off x="1133856" y="4151376"/>
            <a:ext cx="4421124" cy="914400"/>
          </a:xfrm>
          <a:prstGeom prst="rect">
            <a:avLst/>
          </a:prstGeom>
          <a:noFill/>
          <a:ln/>
        </p:spPr>
        <p:txBody>
          <a:bodyPr wrap="square" lIns="0" tIns="0" rIns="0" bIns="0" rtlCol="0" anchor="ctr"/>
          <a:lstStyle/>
          <a:p>
            <a:pPr marL="0" indent="0">
              <a:lnSpc>
                <a:spcPts val="1900"/>
              </a:lnSpc>
              <a:buNone/>
            </a:pPr>
            <a:r>
              <a:rPr lang="en-US" sz="1300" dirty="0">
                <a:solidFill>
                  <a:srgbClr val="5B6170"/>
                </a:solidFill>
                <a:latin typeface="Inter" pitchFamily="34" charset="0"/>
                <a:ea typeface="Inter" pitchFamily="34" charset="-122"/>
                <a:cs typeface="Inter" pitchFamily="34" charset="-120"/>
              </a:rPr>
              <a:t>One env var removes the limit; the model's second opinion is a prompt the operator owns. If the agent is compromised, its guardrails go with it — and nobody outside can even see what they were.</a:t>
            </a:r>
            <a:endParaRPr lang="en-US" sz="1300" dirty="0"/>
          </a:p>
        </p:txBody>
      </p:sp>
      <p:sp>
        <p:nvSpPr>
          <p:cNvPr id="15" name="Shape 12"/>
          <p:cNvSpPr/>
          <p:nvPr/>
        </p:nvSpPr>
        <p:spPr>
          <a:xfrm>
            <a:off x="6323076" y="3291840"/>
            <a:ext cx="5042916" cy="1828800"/>
          </a:xfrm>
          <a:prstGeom prst="roundRect">
            <a:avLst>
              <a:gd name="adj" fmla="val 3000"/>
            </a:avLst>
          </a:prstGeom>
          <a:solidFill>
            <a:srgbClr val="EEF0FB"/>
          </a:solidFill>
          <a:ln w="12700">
            <a:solidFill>
              <a:srgbClr val="C9CBF0"/>
            </a:solidFill>
            <a:prstDash val="solid"/>
          </a:ln>
        </p:spPr>
        <p:txBody>
          <a:bodyPr/>
          <a:lstStyle/>
          <a:p>
            <a:endParaRPr lang="en-US"/>
          </a:p>
        </p:txBody>
      </p:sp>
      <p:sp>
        <p:nvSpPr>
          <p:cNvPr id="16" name="Text 13"/>
          <p:cNvSpPr/>
          <p:nvPr/>
        </p:nvSpPr>
        <p:spPr>
          <a:xfrm>
            <a:off x="6633972" y="3474720"/>
            <a:ext cx="2743200" cy="219456"/>
          </a:xfrm>
          <a:prstGeom prst="rect">
            <a:avLst/>
          </a:prstGeom>
          <a:noFill/>
          <a:ln/>
        </p:spPr>
        <p:txBody>
          <a:bodyPr wrap="square" lIns="0" tIns="0" rIns="0" bIns="0" rtlCol="0" anchor="ctr"/>
          <a:lstStyle/>
          <a:p>
            <a:pPr marL="0" indent="0">
              <a:buNone/>
            </a:pPr>
            <a:r>
              <a:rPr lang="en-US" sz="950" b="1" kern="0" spc="140" dirty="0">
                <a:solidFill>
                  <a:srgbClr val="2D2BB6"/>
                </a:solidFill>
                <a:latin typeface="JetBrains Mono" pitchFamily="34" charset="0"/>
                <a:ea typeface="JetBrains Mono" pitchFamily="34" charset="-122"/>
                <a:cs typeface="JetBrains Mono" pitchFamily="34" charset="-120"/>
              </a:rPr>
              <a:t>EVEN WHEN IT HOLDS</a:t>
            </a:r>
            <a:endParaRPr lang="en-US" sz="950" dirty="0"/>
          </a:p>
        </p:txBody>
      </p:sp>
      <p:sp>
        <p:nvSpPr>
          <p:cNvPr id="17" name="Text 14"/>
          <p:cNvSpPr/>
          <p:nvPr/>
        </p:nvSpPr>
        <p:spPr>
          <a:xfrm>
            <a:off x="6633972" y="3730752"/>
            <a:ext cx="4421124" cy="347472"/>
          </a:xfrm>
          <a:prstGeom prst="rect">
            <a:avLst/>
          </a:prstGeom>
          <a:noFill/>
          <a:ln/>
        </p:spPr>
        <p:txBody>
          <a:bodyPr wrap="square" lIns="0" tIns="0" rIns="0" bIns="0" rtlCol="0" anchor="ctr"/>
          <a:lstStyle/>
          <a:p>
            <a:pPr marL="0" indent="0">
              <a:buNone/>
            </a:pPr>
            <a:r>
              <a:rPr lang="en-US" sz="1800" b="1" dirty="0">
                <a:solidFill>
                  <a:srgbClr val="0E1116"/>
                </a:solidFill>
                <a:latin typeface="Inter" pitchFamily="34" charset="0"/>
                <a:ea typeface="Inter" pitchFamily="34" charset="-122"/>
                <a:cs typeface="Inter" pitchFamily="34" charset="-120"/>
              </a:rPr>
              <a:t>It caps the purchase, not the wallet</a:t>
            </a:r>
            <a:endParaRPr lang="en-US" sz="1800" dirty="0"/>
          </a:p>
        </p:txBody>
      </p:sp>
      <p:sp>
        <p:nvSpPr>
          <p:cNvPr id="18" name="Text 15"/>
          <p:cNvSpPr/>
          <p:nvPr/>
        </p:nvSpPr>
        <p:spPr>
          <a:xfrm>
            <a:off x="6633972" y="4151376"/>
            <a:ext cx="4421124" cy="914400"/>
          </a:xfrm>
          <a:prstGeom prst="rect">
            <a:avLst/>
          </a:prstGeom>
          <a:noFill/>
          <a:ln/>
        </p:spPr>
        <p:txBody>
          <a:bodyPr wrap="square" lIns="0" tIns="0" rIns="0" bIns="0" rtlCol="0" anchor="ctr"/>
          <a:lstStyle/>
          <a:p>
            <a:pPr marL="0" indent="0">
              <a:lnSpc>
                <a:spcPts val="1900"/>
              </a:lnSpc>
              <a:buNone/>
            </a:pPr>
            <a:r>
              <a:rPr lang="en-US" sz="1300" dirty="0">
                <a:solidFill>
                  <a:srgbClr val="5B6170"/>
                </a:solidFill>
                <a:latin typeface="Inter" pitchFamily="34" charset="0"/>
                <a:ea typeface="Inter" pitchFamily="34" charset="-122"/>
                <a:cs typeface="Inter" pitchFamily="34" charset="-120"/>
              </a:rPr>
              <a:t>Nothing tracks the total. A 6-unit limit with a 99,000 balance drains the wallet six at a time — every purchase compliant. The wallet still empties.</a:t>
            </a:r>
            <a:endParaRPr lang="en-US" sz="1300" dirty="0"/>
          </a:p>
        </p:txBody>
      </p:sp>
      <p:sp>
        <p:nvSpPr>
          <p:cNvPr id="19" name="Text 16"/>
          <p:cNvSpPr/>
          <p:nvPr/>
        </p:nvSpPr>
        <p:spPr>
          <a:xfrm>
            <a:off x="822960" y="5358384"/>
            <a:ext cx="10543032" cy="548640"/>
          </a:xfrm>
          <a:prstGeom prst="rect">
            <a:avLst/>
          </a:prstGeom>
          <a:noFill/>
          <a:ln/>
        </p:spPr>
        <p:txBody>
          <a:bodyPr wrap="square" lIns="0" tIns="0" rIns="0" bIns="0" rtlCol="0" anchor="ctr"/>
          <a:lstStyle/>
          <a:p>
            <a:pPr marL="0" indent="0">
              <a:buNone/>
            </a:pPr>
            <a:r>
              <a:rPr lang="en-US" sz="1700" b="1" dirty="0">
                <a:solidFill>
                  <a:srgbClr val="5B6170"/>
                </a:solidFill>
                <a:latin typeface="Inter" pitchFamily="34" charset="0"/>
                <a:ea typeface="Inter" pitchFamily="34" charset="-122"/>
                <a:cs typeface="Inter" pitchFamily="34" charset="-120"/>
              </a:rPr>
              <a:t>A limit the agent consults is a preference. </a:t>
            </a:r>
            <a:r>
              <a:rPr lang="en-US" sz="1700" b="1" dirty="0">
                <a:solidFill>
                  <a:srgbClr val="2D2BB6"/>
                </a:solidFill>
                <a:latin typeface="Inter" pitchFamily="34" charset="0"/>
                <a:ea typeface="Inter" pitchFamily="34" charset="-122"/>
                <a:cs typeface="Inter" pitchFamily="34" charset="-120"/>
              </a:rPr>
              <a:t>A limit the chain applies is authority.</a:t>
            </a:r>
            <a:br/>
            <a:r>
              <a:rPr lang="en-US" sz="1700" b="1" dirty="0">
                <a:solidFill>
                  <a:srgbClr val="2D2BB6"/>
                </a:solidFill>
                <a:latin typeface="Inter" pitchFamily="34" charset="0"/>
                <a:ea typeface="Inter" pitchFamily="34" charset="-122"/>
                <a:cs typeface="Inter" pitchFamily="34" charset="-120"/>
              </a:rPr>
              <a:t>MOI is that authority layer — a scope the agent inherits, on chain.  →  Session 8</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E1116"/>
        </a:solidFill>
        <a:effectLst/>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marL="0" indent="0">
              <a:buNone/>
            </a:pPr>
            <a:r>
              <a:rPr lang="en-US" sz="1000" b="1" kern="0" spc="140" dirty="0">
                <a:solidFill>
                  <a:srgbClr val="8B8AF0"/>
                </a:solidFill>
                <a:latin typeface="JetBrains Mono" pitchFamily="34" charset="0"/>
                <a:ea typeface="JetBrains Mono" pitchFamily="34" charset="-122"/>
                <a:cs typeface="JetBrains Mono" pitchFamily="34" charset="-120"/>
              </a:rPr>
              <a:t>MOI · BUILD 06</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marL="0" indent="0" algn="r">
              <a:buNone/>
            </a:pPr>
            <a:r>
              <a:rPr lang="en-US" sz="1000" kern="0" spc="140" dirty="0">
                <a:solidFill>
                  <a:srgbClr val="9AA0AE"/>
                </a:solidFill>
                <a:latin typeface="JetBrains Mono" pitchFamily="34" charset="0"/>
                <a:ea typeface="JetBrains Mono" pitchFamily="34" charset="-122"/>
                <a:cs typeface="JetBrains Mono" pitchFamily="34" charset="-120"/>
              </a:rPr>
              <a:t>WHERE THIS GOES</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marL="0" indent="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marL="0" indent="0" algn="r">
              <a:buNone/>
            </a:pPr>
            <a:r>
              <a:rPr lang="en-US" sz="900" dirty="0">
                <a:solidFill>
                  <a:srgbClr val="6B7280"/>
                </a:solidFill>
                <a:latin typeface="JetBrains Mono" pitchFamily="34" charset="0"/>
                <a:ea typeface="JetBrains Mono" pitchFamily="34" charset="-122"/>
                <a:cs typeface="JetBrains Mono" pitchFamily="34" charset="-120"/>
              </a:rPr>
              <a:t>06 / 8</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marL="0" indent="0">
              <a:buNone/>
            </a:pPr>
            <a:r>
              <a:rPr lang="en-US" sz="3800" b="1" dirty="0">
                <a:solidFill>
                  <a:srgbClr val="FFFFFF"/>
                </a:solidFill>
                <a:latin typeface="Inter" pitchFamily="34" charset="0"/>
                <a:ea typeface="Inter" pitchFamily="34" charset="-122"/>
                <a:cs typeface="Inter" pitchFamily="34" charset="-120"/>
              </a:rPr>
              <a:t>Three questions, three sessions</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marL="0" indent="0">
              <a:buNone/>
            </a:pPr>
            <a:r>
              <a:rPr lang="en-US" sz="1450" dirty="0">
                <a:solidFill>
                  <a:srgbClr val="B9BECD"/>
                </a:solidFill>
                <a:latin typeface="Inter" pitchFamily="34" charset="0"/>
                <a:ea typeface="Inter" pitchFamily="34" charset="-122"/>
                <a:cs typeface="Inter" pitchFamily="34" charset="-120"/>
              </a:rPr>
              <a:t>Today answered one of them.</a:t>
            </a:r>
            <a:endParaRPr lang="en-US" sz="1450" dirty="0"/>
          </a:p>
        </p:txBody>
      </p:sp>
      <p:sp>
        <p:nvSpPr>
          <p:cNvPr id="9" name="Shape 6"/>
          <p:cNvSpPr/>
          <p:nvPr/>
        </p:nvSpPr>
        <p:spPr>
          <a:xfrm>
            <a:off x="822960" y="2395728"/>
            <a:ext cx="10543032" cy="1060704"/>
          </a:xfrm>
          <a:prstGeom prst="roundRect">
            <a:avLst>
              <a:gd name="adj" fmla="val 5172"/>
            </a:avLst>
          </a:prstGeom>
          <a:solidFill>
            <a:srgbClr val="10221B"/>
          </a:solidFill>
          <a:ln w="15875">
            <a:solidFill>
              <a:srgbClr val="3CCB8E"/>
            </a:solidFill>
            <a:prstDash val="solid"/>
          </a:ln>
        </p:spPr>
        <p:txBody>
          <a:bodyPr/>
          <a:lstStyle/>
          <a:p>
            <a:endParaRPr lang="en-US"/>
          </a:p>
        </p:txBody>
      </p:sp>
      <p:sp>
        <p:nvSpPr>
          <p:cNvPr id="10" name="Text 7"/>
          <p:cNvSpPr/>
          <p:nvPr/>
        </p:nvSpPr>
        <p:spPr>
          <a:xfrm>
            <a:off x="1133856" y="2395728"/>
            <a:ext cx="1005840" cy="1060704"/>
          </a:xfrm>
          <a:prstGeom prst="rect">
            <a:avLst/>
          </a:prstGeom>
          <a:noFill/>
          <a:ln/>
        </p:spPr>
        <p:txBody>
          <a:bodyPr wrap="square" lIns="0" tIns="0" rIns="0" bIns="0" rtlCol="0" anchor="ctr"/>
          <a:lstStyle/>
          <a:p>
            <a:pPr marL="0" indent="0">
              <a:buNone/>
            </a:pPr>
            <a:r>
              <a:rPr lang="en-US" sz="2600" b="1" dirty="0">
                <a:solidFill>
                  <a:srgbClr val="3CCB8E"/>
                </a:solidFill>
                <a:latin typeface="JetBrains Mono" pitchFamily="34" charset="0"/>
                <a:ea typeface="JetBrains Mono" pitchFamily="34" charset="-122"/>
                <a:cs typeface="JetBrains Mono" pitchFamily="34" charset="-120"/>
              </a:rPr>
              <a:t>07</a:t>
            </a:r>
            <a:endParaRPr lang="en-US" sz="2600" dirty="0"/>
          </a:p>
        </p:txBody>
      </p:sp>
      <p:sp>
        <p:nvSpPr>
          <p:cNvPr id="11" name="Text 8"/>
          <p:cNvSpPr/>
          <p:nvPr/>
        </p:nvSpPr>
        <p:spPr>
          <a:xfrm>
            <a:off x="2240280" y="2596896"/>
            <a:ext cx="6766560" cy="347472"/>
          </a:xfrm>
          <a:prstGeom prst="rect">
            <a:avLst/>
          </a:prstGeom>
          <a:noFill/>
          <a:ln/>
        </p:spPr>
        <p:txBody>
          <a:bodyPr wrap="square" lIns="0" tIns="0" rIns="0" bIns="0" rtlCol="0" anchor="ctr"/>
          <a:lstStyle/>
          <a:p>
            <a:pPr marL="0" indent="0">
              <a:buNone/>
            </a:pPr>
            <a:r>
              <a:rPr lang="en-US" sz="1900" b="1" dirty="0">
                <a:solidFill>
                  <a:srgbClr val="FFFFFF"/>
                </a:solidFill>
                <a:latin typeface="Inter" pitchFamily="34" charset="0"/>
                <a:ea typeface="Inter" pitchFamily="34" charset="-122"/>
                <a:cs typeface="Inter" pitchFamily="34" charset="-120"/>
              </a:rPr>
              <a:t>Who am I paying?</a:t>
            </a:r>
            <a:endParaRPr lang="en-US" sz="1900" dirty="0"/>
          </a:p>
        </p:txBody>
      </p:sp>
      <p:sp>
        <p:nvSpPr>
          <p:cNvPr id="12" name="Text 9"/>
          <p:cNvSpPr/>
          <p:nvPr/>
        </p:nvSpPr>
        <p:spPr>
          <a:xfrm>
            <a:off x="2240280" y="2971800"/>
            <a:ext cx="7863840" cy="310896"/>
          </a:xfrm>
          <a:prstGeom prst="rect">
            <a:avLst/>
          </a:prstGeom>
          <a:noFill/>
          <a:ln/>
        </p:spPr>
        <p:txBody>
          <a:bodyPr wrap="square" lIns="0" tIns="0" rIns="0" bIns="0" rtlCol="0" anchor="ctr"/>
          <a:lstStyle/>
          <a:p>
            <a:pPr marL="0" indent="0">
              <a:buNone/>
            </a:pPr>
            <a:r>
              <a:rPr lang="en-US" sz="1350" dirty="0">
                <a:solidFill>
                  <a:srgbClr val="B9BECD"/>
                </a:solidFill>
                <a:latin typeface="Inter" pitchFamily="34" charset="0"/>
                <a:ea typeface="Inter" pitchFamily="34" charset="-122"/>
                <a:cs typeface="Inter" pitchFamily="34" charset="-120"/>
              </a:rPr>
              <a:t>The registry, checked before any money moves.</a:t>
            </a:r>
            <a:endParaRPr lang="en-US" sz="1350" dirty="0"/>
          </a:p>
        </p:txBody>
      </p:sp>
      <p:sp>
        <p:nvSpPr>
          <p:cNvPr id="13" name="Text 10"/>
          <p:cNvSpPr/>
          <p:nvPr/>
        </p:nvSpPr>
        <p:spPr>
          <a:xfrm>
            <a:off x="9445752" y="2395728"/>
            <a:ext cx="1554480" cy="1060704"/>
          </a:xfrm>
          <a:prstGeom prst="rect">
            <a:avLst/>
          </a:prstGeom>
          <a:noFill/>
          <a:ln/>
        </p:spPr>
        <p:txBody>
          <a:bodyPr wrap="square" lIns="0" tIns="0" rIns="0" bIns="0" rtlCol="0" anchor="ctr"/>
          <a:lstStyle/>
          <a:p>
            <a:pPr marL="0" indent="0" algn="r">
              <a:buNone/>
            </a:pPr>
            <a:r>
              <a:rPr lang="en-US" sz="1050" b="1" kern="0" spc="140" dirty="0">
                <a:solidFill>
                  <a:srgbClr val="3CCB8E"/>
                </a:solidFill>
                <a:latin typeface="JetBrains Mono" pitchFamily="34" charset="0"/>
                <a:ea typeface="JetBrains Mono" pitchFamily="34" charset="-122"/>
                <a:cs typeface="JetBrains Mono" pitchFamily="34" charset="-120"/>
              </a:rPr>
              <a:t>DONE</a:t>
            </a:r>
            <a:endParaRPr lang="en-US" sz="1050" dirty="0"/>
          </a:p>
        </p:txBody>
      </p:sp>
      <p:sp>
        <p:nvSpPr>
          <p:cNvPr id="14" name="Shape 11"/>
          <p:cNvSpPr/>
          <p:nvPr/>
        </p:nvSpPr>
        <p:spPr>
          <a:xfrm>
            <a:off x="822960" y="3694176"/>
            <a:ext cx="10543032" cy="1060704"/>
          </a:xfrm>
          <a:prstGeom prst="roundRect">
            <a:avLst>
              <a:gd name="adj" fmla="val 5172"/>
            </a:avLst>
          </a:prstGeom>
          <a:solidFill>
            <a:srgbClr val="1C212B"/>
          </a:solidFill>
          <a:ln w="12700">
            <a:solidFill>
              <a:srgbClr val="363C49"/>
            </a:solidFill>
            <a:prstDash val="solid"/>
          </a:ln>
        </p:spPr>
        <p:txBody>
          <a:bodyPr/>
          <a:lstStyle/>
          <a:p>
            <a:endParaRPr lang="en-US"/>
          </a:p>
        </p:txBody>
      </p:sp>
      <p:sp>
        <p:nvSpPr>
          <p:cNvPr id="15" name="Text 12"/>
          <p:cNvSpPr/>
          <p:nvPr/>
        </p:nvSpPr>
        <p:spPr>
          <a:xfrm>
            <a:off x="1133856" y="3694176"/>
            <a:ext cx="1005840" cy="1060704"/>
          </a:xfrm>
          <a:prstGeom prst="rect">
            <a:avLst/>
          </a:prstGeom>
          <a:noFill/>
          <a:ln/>
        </p:spPr>
        <p:txBody>
          <a:bodyPr wrap="square" lIns="0" tIns="0" rIns="0" bIns="0" rtlCol="0" anchor="ctr"/>
          <a:lstStyle/>
          <a:p>
            <a:pPr marL="0" indent="0">
              <a:buNone/>
            </a:pPr>
            <a:r>
              <a:rPr lang="en-US" sz="2600" b="1" dirty="0">
                <a:solidFill>
                  <a:srgbClr val="8B8AF0"/>
                </a:solidFill>
                <a:latin typeface="JetBrains Mono" pitchFamily="34" charset="0"/>
                <a:ea typeface="JetBrains Mono" pitchFamily="34" charset="-122"/>
                <a:cs typeface="JetBrains Mono" pitchFamily="34" charset="-120"/>
              </a:rPr>
              <a:t>08</a:t>
            </a:r>
            <a:endParaRPr lang="en-US" sz="2600" dirty="0"/>
          </a:p>
        </p:txBody>
      </p:sp>
      <p:sp>
        <p:nvSpPr>
          <p:cNvPr id="16" name="Text 13"/>
          <p:cNvSpPr/>
          <p:nvPr/>
        </p:nvSpPr>
        <p:spPr>
          <a:xfrm>
            <a:off x="2240280" y="3895344"/>
            <a:ext cx="6766560" cy="347472"/>
          </a:xfrm>
          <a:prstGeom prst="rect">
            <a:avLst/>
          </a:prstGeom>
          <a:noFill/>
          <a:ln/>
        </p:spPr>
        <p:txBody>
          <a:bodyPr wrap="square" lIns="0" tIns="0" rIns="0" bIns="0" rtlCol="0" anchor="ctr"/>
          <a:lstStyle/>
          <a:p>
            <a:pPr marL="0" indent="0">
              <a:buNone/>
            </a:pPr>
            <a:r>
              <a:rPr lang="en-US" sz="1900" b="1" dirty="0">
                <a:solidFill>
                  <a:srgbClr val="FFFFFF"/>
                </a:solidFill>
                <a:latin typeface="Inter" pitchFamily="34" charset="0"/>
                <a:ea typeface="Inter" pitchFamily="34" charset="-122"/>
                <a:cs typeface="Inter" pitchFamily="34" charset="-120"/>
              </a:rPr>
              <a:t>What may I spend?</a:t>
            </a:r>
            <a:endParaRPr lang="en-US" sz="1900" dirty="0"/>
          </a:p>
        </p:txBody>
      </p:sp>
      <p:sp>
        <p:nvSpPr>
          <p:cNvPr id="17" name="Text 14"/>
          <p:cNvSpPr/>
          <p:nvPr/>
        </p:nvSpPr>
        <p:spPr>
          <a:xfrm>
            <a:off x="2240280" y="4270248"/>
            <a:ext cx="7863840" cy="310896"/>
          </a:xfrm>
          <a:prstGeom prst="rect">
            <a:avLst/>
          </a:prstGeom>
          <a:noFill/>
          <a:ln/>
        </p:spPr>
        <p:txBody>
          <a:bodyPr wrap="square" lIns="0" tIns="0" rIns="0" bIns="0" rtlCol="0" anchor="ctr"/>
          <a:lstStyle/>
          <a:p>
            <a:pPr marL="0" indent="0">
              <a:buNone/>
            </a:pPr>
            <a:r>
              <a:rPr lang="en-US" sz="1350" dirty="0">
                <a:solidFill>
                  <a:srgbClr val="B9BECD"/>
                </a:solidFill>
                <a:latin typeface="Inter" pitchFamily="34" charset="0"/>
                <a:ea typeface="Inter" pitchFamily="34" charset="-122"/>
                <a:cs typeface="Inter" pitchFamily="34" charset="-120"/>
              </a:rPr>
              <a:t>7 + context inheritance — a cap the chain enforces, authority the agent inherits.</a:t>
            </a:r>
            <a:endParaRPr lang="en-US" sz="1350" dirty="0"/>
          </a:p>
        </p:txBody>
      </p:sp>
      <p:sp>
        <p:nvSpPr>
          <p:cNvPr id="18" name="Text 15"/>
          <p:cNvSpPr/>
          <p:nvPr/>
        </p:nvSpPr>
        <p:spPr>
          <a:xfrm>
            <a:off x="9445752" y="3694176"/>
            <a:ext cx="1554480" cy="1060704"/>
          </a:xfrm>
          <a:prstGeom prst="rect">
            <a:avLst/>
          </a:prstGeom>
          <a:noFill/>
          <a:ln/>
        </p:spPr>
        <p:txBody>
          <a:bodyPr wrap="square" lIns="0" tIns="0" rIns="0" bIns="0" rtlCol="0" anchor="ctr"/>
          <a:lstStyle/>
          <a:p>
            <a:pPr marL="0" indent="0" algn="r">
              <a:buNone/>
            </a:pPr>
            <a:r>
              <a:rPr lang="en-US" sz="1050" b="1" kern="0" spc="140" dirty="0">
                <a:solidFill>
                  <a:srgbClr val="8B8AF0"/>
                </a:solidFill>
                <a:latin typeface="JetBrains Mono" pitchFamily="34" charset="0"/>
                <a:ea typeface="JetBrains Mono" pitchFamily="34" charset="-122"/>
                <a:cs typeface="JetBrains Mono" pitchFamily="34" charset="-120"/>
              </a:rPr>
              <a:t>NEXT</a:t>
            </a:r>
            <a:endParaRPr lang="en-US" sz="1050" dirty="0"/>
          </a:p>
        </p:txBody>
      </p:sp>
      <p:sp>
        <p:nvSpPr>
          <p:cNvPr id="19" name="Shape 16"/>
          <p:cNvSpPr/>
          <p:nvPr/>
        </p:nvSpPr>
        <p:spPr>
          <a:xfrm>
            <a:off x="822960" y="4992624"/>
            <a:ext cx="10543032" cy="1060704"/>
          </a:xfrm>
          <a:prstGeom prst="roundRect">
            <a:avLst>
              <a:gd name="adj" fmla="val 5172"/>
            </a:avLst>
          </a:prstGeom>
          <a:solidFill>
            <a:srgbClr val="1C212B"/>
          </a:solidFill>
          <a:ln w="12700">
            <a:solidFill>
              <a:srgbClr val="363C49"/>
            </a:solidFill>
            <a:prstDash val="solid"/>
          </a:ln>
        </p:spPr>
        <p:txBody>
          <a:bodyPr/>
          <a:lstStyle/>
          <a:p>
            <a:endParaRPr lang="en-US"/>
          </a:p>
        </p:txBody>
      </p:sp>
      <p:sp>
        <p:nvSpPr>
          <p:cNvPr id="20" name="Text 17"/>
          <p:cNvSpPr/>
          <p:nvPr/>
        </p:nvSpPr>
        <p:spPr>
          <a:xfrm>
            <a:off x="1133856" y="4992624"/>
            <a:ext cx="1005840" cy="1060704"/>
          </a:xfrm>
          <a:prstGeom prst="rect">
            <a:avLst/>
          </a:prstGeom>
          <a:noFill/>
          <a:ln/>
        </p:spPr>
        <p:txBody>
          <a:bodyPr wrap="square" lIns="0" tIns="0" rIns="0" bIns="0" rtlCol="0" anchor="ctr"/>
          <a:lstStyle/>
          <a:p>
            <a:pPr marL="0" indent="0">
              <a:buNone/>
            </a:pPr>
            <a:r>
              <a:rPr lang="en-US" sz="2600" b="1" dirty="0">
                <a:solidFill>
                  <a:srgbClr val="6B7280"/>
                </a:solidFill>
                <a:latin typeface="JetBrains Mono" pitchFamily="34" charset="0"/>
                <a:ea typeface="JetBrains Mono" pitchFamily="34" charset="-122"/>
                <a:cs typeface="JetBrains Mono" pitchFamily="34" charset="-120"/>
              </a:rPr>
              <a:t>09</a:t>
            </a:r>
            <a:endParaRPr lang="en-US" sz="2600" dirty="0"/>
          </a:p>
        </p:txBody>
      </p:sp>
      <p:sp>
        <p:nvSpPr>
          <p:cNvPr id="21" name="Text 18"/>
          <p:cNvSpPr/>
          <p:nvPr/>
        </p:nvSpPr>
        <p:spPr>
          <a:xfrm>
            <a:off x="2240280" y="5193792"/>
            <a:ext cx="6766560" cy="347472"/>
          </a:xfrm>
          <a:prstGeom prst="rect">
            <a:avLst/>
          </a:prstGeom>
          <a:noFill/>
          <a:ln/>
        </p:spPr>
        <p:txBody>
          <a:bodyPr wrap="square" lIns="0" tIns="0" rIns="0" bIns="0" rtlCol="0" anchor="ctr"/>
          <a:lstStyle/>
          <a:p>
            <a:pPr marL="0" indent="0">
              <a:buNone/>
            </a:pPr>
            <a:r>
              <a:rPr lang="en-US" sz="1900" b="1" dirty="0">
                <a:solidFill>
                  <a:srgbClr val="FFFFFF"/>
                </a:solidFill>
                <a:latin typeface="Inter" pitchFamily="34" charset="0"/>
                <a:ea typeface="Inter" pitchFamily="34" charset="-122"/>
                <a:cs typeface="Inter" pitchFamily="34" charset="-120"/>
              </a:rPr>
              <a:t>Who else can I trade with?</a:t>
            </a:r>
            <a:endParaRPr lang="en-US" sz="1900" dirty="0"/>
          </a:p>
        </p:txBody>
      </p:sp>
      <p:sp>
        <p:nvSpPr>
          <p:cNvPr id="22" name="Text 19"/>
          <p:cNvSpPr/>
          <p:nvPr/>
        </p:nvSpPr>
        <p:spPr>
          <a:xfrm>
            <a:off x="2240280" y="5568696"/>
            <a:ext cx="7863840" cy="310896"/>
          </a:xfrm>
          <a:prstGeom prst="rect">
            <a:avLst/>
          </a:prstGeom>
          <a:noFill/>
          <a:ln/>
        </p:spPr>
        <p:txBody>
          <a:bodyPr wrap="square" lIns="0" tIns="0" rIns="0" bIns="0" rtlCol="0" anchor="ctr"/>
          <a:lstStyle/>
          <a:p>
            <a:pPr marL="0" indent="0">
              <a:buNone/>
            </a:pPr>
            <a:r>
              <a:rPr lang="en-US" sz="1350" dirty="0">
                <a:solidFill>
                  <a:srgbClr val="B9BECD"/>
                </a:solidFill>
                <a:latin typeface="Inter" pitchFamily="34" charset="0"/>
                <a:ea typeface="Inter" pitchFamily="34" charset="-122"/>
                <a:cs typeface="Inter" pitchFamily="34" charset="-120"/>
              </a:rPr>
              <a:t>8 + x402 — the open standard, so any agent can pay ours.</a:t>
            </a:r>
            <a:endParaRPr lang="en-US" sz="1350" dirty="0"/>
          </a:p>
        </p:txBody>
      </p:sp>
      <p:sp>
        <p:nvSpPr>
          <p:cNvPr id="23" name="Text 20"/>
          <p:cNvSpPr/>
          <p:nvPr/>
        </p:nvSpPr>
        <p:spPr>
          <a:xfrm>
            <a:off x="9445752" y="4992624"/>
            <a:ext cx="1554480" cy="1060704"/>
          </a:xfrm>
          <a:prstGeom prst="rect">
            <a:avLst/>
          </a:prstGeom>
          <a:noFill/>
          <a:ln/>
        </p:spPr>
        <p:txBody>
          <a:bodyPr wrap="square" lIns="0" tIns="0" rIns="0" bIns="0" rtlCol="0" anchor="ctr"/>
          <a:lstStyle/>
          <a:p>
            <a:pPr marL="0" indent="0" algn="r">
              <a:buNone/>
            </a:pPr>
            <a:r>
              <a:rPr lang="en-US" sz="1050" b="1" kern="0" spc="140" dirty="0">
                <a:solidFill>
                  <a:srgbClr val="6B7280"/>
                </a:solidFill>
                <a:latin typeface="JetBrains Mono" pitchFamily="34" charset="0"/>
                <a:ea typeface="JetBrains Mono" pitchFamily="34" charset="-122"/>
                <a:cs typeface="JetBrains Mono" pitchFamily="34" charset="-120"/>
              </a:rPr>
              <a:t>AFTER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E1116"/>
        </a:solidFill>
        <a:effectLst/>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marL="0" indent="0">
              <a:buNone/>
            </a:pPr>
            <a:r>
              <a:rPr lang="en-US" sz="1000" b="1" kern="0" spc="140" dirty="0">
                <a:solidFill>
                  <a:srgbClr val="8B8AF0"/>
                </a:solidFill>
                <a:latin typeface="JetBrains Mono" pitchFamily="34" charset="0"/>
                <a:ea typeface="JetBrains Mono" pitchFamily="34" charset="-122"/>
                <a:cs typeface="JetBrains Mono" pitchFamily="34" charset="-120"/>
              </a:rPr>
              <a:t>MOI · BUILD 08</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marL="0" indent="0" algn="r">
              <a:buNone/>
            </a:pPr>
            <a:r>
              <a:rPr lang="en-US" sz="1000" kern="0" spc="140" dirty="0">
                <a:solidFill>
                  <a:srgbClr val="9AA0AE"/>
                </a:solidFill>
                <a:latin typeface="JetBrains Mono" pitchFamily="34" charset="0"/>
                <a:ea typeface="JetBrains Mono" pitchFamily="34" charset="-122"/>
                <a:cs typeface="JetBrains Mono" pitchFamily="34" charset="-120"/>
              </a:rPr>
              <a:t>GO BUILD</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marL="0" indent="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marL="0" indent="0" algn="r">
              <a:buNone/>
            </a:pPr>
            <a:r>
              <a:rPr lang="en-US" sz="900" dirty="0">
                <a:solidFill>
                  <a:srgbClr val="6B7280"/>
                </a:solidFill>
                <a:latin typeface="JetBrains Mono" pitchFamily="34" charset="0"/>
                <a:ea typeface="JetBrains Mono" pitchFamily="34" charset="-122"/>
                <a:cs typeface="JetBrains Mono" pitchFamily="34" charset="-120"/>
              </a:rPr>
              <a:t>08 / 8</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marL="0" indent="0">
              <a:buNone/>
            </a:pPr>
            <a:r>
              <a:rPr lang="en-US" sz="3800" b="1" dirty="0">
                <a:solidFill>
                  <a:srgbClr val="FFFFFF"/>
                </a:solidFill>
                <a:latin typeface="Inter" pitchFamily="34" charset="0"/>
                <a:ea typeface="Inter" pitchFamily="34" charset="-122"/>
                <a:cs typeface="Inter" pitchFamily="34" charset="-120"/>
              </a:rPr>
              <a:t>Run it yourself</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marL="0" indent="0">
              <a:buNone/>
            </a:pPr>
            <a:r>
              <a:rPr lang="en-US" sz="1450" dirty="0">
                <a:solidFill>
                  <a:srgbClr val="B9BECD"/>
                </a:solidFill>
                <a:latin typeface="Inter" pitchFamily="34" charset="0"/>
                <a:ea typeface="Inter" pitchFamily="34" charset="-122"/>
                <a:cs typeface="Inter" pitchFamily="34" charset="-120"/>
              </a:rPr>
              <a:t>One funded devnet wallet covers the whole thing. The seller never needs gas — it only receives.</a:t>
            </a:r>
            <a:endParaRPr lang="en-US" sz="1450" dirty="0"/>
          </a:p>
        </p:txBody>
      </p:sp>
      <p:sp>
        <p:nvSpPr>
          <p:cNvPr id="9" name="Shape 6"/>
          <p:cNvSpPr/>
          <p:nvPr/>
        </p:nvSpPr>
        <p:spPr>
          <a:xfrm>
            <a:off x="822960" y="2377440"/>
            <a:ext cx="6035040" cy="2670048"/>
          </a:xfrm>
          <a:prstGeom prst="roundRect">
            <a:avLst>
              <a:gd name="adj" fmla="val 2055"/>
            </a:avLst>
          </a:prstGeom>
          <a:solidFill>
            <a:srgbClr val="1C212B"/>
          </a:solidFill>
          <a:ln w="12700">
            <a:solidFill>
              <a:srgbClr val="363C49"/>
            </a:solidFill>
            <a:prstDash val="solid"/>
          </a:ln>
        </p:spPr>
        <p:txBody>
          <a:bodyPr/>
          <a:lstStyle/>
          <a:p>
            <a:endParaRPr lang="en-US"/>
          </a:p>
        </p:txBody>
      </p:sp>
      <p:sp>
        <p:nvSpPr>
          <p:cNvPr id="10" name="Text 7"/>
          <p:cNvSpPr/>
          <p:nvPr/>
        </p:nvSpPr>
        <p:spPr>
          <a:xfrm>
            <a:off x="1152144" y="2578608"/>
            <a:ext cx="2834640" cy="310896"/>
          </a:xfrm>
          <a:prstGeom prst="rect">
            <a:avLst/>
          </a:prstGeom>
          <a:noFill/>
          <a:ln/>
        </p:spPr>
        <p:txBody>
          <a:bodyPr wrap="square" lIns="0" tIns="0" rIns="0" bIns="0" rtlCol="0" anchor="ctr"/>
          <a:lstStyle/>
          <a:p>
            <a:pPr marL="0" indent="0">
              <a:buNone/>
            </a:pPr>
            <a:r>
              <a:rPr lang="en-US" sz="1250" dirty="0">
                <a:solidFill>
                  <a:srgbClr val="8B8AF0"/>
                </a:solidFill>
                <a:latin typeface="JetBrains Mono" pitchFamily="34" charset="0"/>
                <a:ea typeface="JetBrains Mono" pitchFamily="34" charset="-122"/>
                <a:cs typeface="JetBrains Mono" pitchFamily="34" charset="-120"/>
              </a:rPr>
              <a:t>npm install</a:t>
            </a:r>
            <a:endParaRPr lang="en-US" sz="1250" dirty="0"/>
          </a:p>
        </p:txBody>
      </p:sp>
      <p:sp>
        <p:nvSpPr>
          <p:cNvPr id="11" name="Text 8"/>
          <p:cNvSpPr/>
          <p:nvPr/>
        </p:nvSpPr>
        <p:spPr>
          <a:xfrm>
            <a:off x="1152144" y="3035808"/>
            <a:ext cx="2834640" cy="310896"/>
          </a:xfrm>
          <a:prstGeom prst="rect">
            <a:avLst/>
          </a:prstGeom>
          <a:noFill/>
          <a:ln/>
        </p:spPr>
        <p:txBody>
          <a:bodyPr wrap="square" lIns="0" tIns="0" rIns="0" bIns="0" rtlCol="0" anchor="ctr"/>
          <a:lstStyle/>
          <a:p>
            <a:pPr marL="0" indent="0">
              <a:buNone/>
            </a:pPr>
            <a:r>
              <a:rPr lang="en-US" sz="1250" dirty="0">
                <a:solidFill>
                  <a:srgbClr val="8B8AF0"/>
                </a:solidFill>
                <a:latin typeface="JetBrains Mono" pitchFamily="34" charset="0"/>
                <a:ea typeface="JetBrains Mono" pitchFamily="34" charset="-122"/>
                <a:cs typeface="JetBrains Mono" pitchFamily="34" charset="-120"/>
              </a:rPr>
              <a:t>cp .env.example .env</a:t>
            </a:r>
            <a:endParaRPr lang="en-US" sz="1250" dirty="0"/>
          </a:p>
        </p:txBody>
      </p:sp>
      <p:sp>
        <p:nvSpPr>
          <p:cNvPr id="12" name="Text 9"/>
          <p:cNvSpPr/>
          <p:nvPr/>
        </p:nvSpPr>
        <p:spPr>
          <a:xfrm>
            <a:off x="4023360" y="3035808"/>
            <a:ext cx="2505456" cy="310896"/>
          </a:xfrm>
          <a:prstGeom prst="rect">
            <a:avLst/>
          </a:prstGeom>
          <a:noFill/>
          <a:ln/>
        </p:spPr>
        <p:txBody>
          <a:bodyPr wrap="square" lIns="0" tIns="0" rIns="0" bIns="0" rtlCol="0" anchor="ctr"/>
          <a:lstStyle/>
          <a:p>
            <a:pPr marL="0" indent="0">
              <a:buNone/>
            </a:pPr>
            <a:r>
              <a:rPr lang="en-US" sz="1050" dirty="0">
                <a:solidFill>
                  <a:srgbClr val="6B7280"/>
                </a:solidFill>
                <a:latin typeface="JetBrains Mono" pitchFamily="34" charset="0"/>
                <a:ea typeface="JetBrains Mono" pitchFamily="34" charset="-122"/>
                <a:cs typeface="JetBrains Mono" pitchFamily="34" charset="-120"/>
              </a:rPr>
              <a:t>paste a funded mnemonic</a:t>
            </a:r>
            <a:endParaRPr lang="en-US" sz="1050" dirty="0"/>
          </a:p>
        </p:txBody>
      </p:sp>
      <p:sp>
        <p:nvSpPr>
          <p:cNvPr id="13" name="Text 10"/>
          <p:cNvSpPr/>
          <p:nvPr/>
        </p:nvSpPr>
        <p:spPr>
          <a:xfrm>
            <a:off x="1152144" y="3493008"/>
            <a:ext cx="2834640" cy="310896"/>
          </a:xfrm>
          <a:prstGeom prst="rect">
            <a:avLst/>
          </a:prstGeom>
          <a:noFill/>
          <a:ln/>
        </p:spPr>
        <p:txBody>
          <a:bodyPr wrap="square" lIns="0" tIns="0" rIns="0" bIns="0" rtlCol="0" anchor="ctr"/>
          <a:lstStyle/>
          <a:p>
            <a:pPr marL="0" indent="0">
              <a:buNone/>
            </a:pPr>
            <a:r>
              <a:rPr lang="en-US" sz="1250" dirty="0">
                <a:solidFill>
                  <a:srgbClr val="8B8AF0"/>
                </a:solidFill>
                <a:latin typeface="JetBrains Mono" pitchFamily="34" charset="0"/>
                <a:ea typeface="JetBrains Mono" pitchFamily="34" charset="-122"/>
                <a:cs typeface="JetBrains Mono" pitchFamily="34" charset="-120"/>
              </a:rPr>
              <a:t>npm run setup:asset</a:t>
            </a:r>
            <a:endParaRPr lang="en-US" sz="1250" dirty="0"/>
          </a:p>
        </p:txBody>
      </p:sp>
      <p:sp>
        <p:nvSpPr>
          <p:cNvPr id="14" name="Text 11"/>
          <p:cNvSpPr/>
          <p:nvPr/>
        </p:nvSpPr>
        <p:spPr>
          <a:xfrm>
            <a:off x="4023360" y="3493008"/>
            <a:ext cx="2505456" cy="310896"/>
          </a:xfrm>
          <a:prstGeom prst="rect">
            <a:avLst/>
          </a:prstGeom>
          <a:noFill/>
          <a:ln/>
        </p:spPr>
        <p:txBody>
          <a:bodyPr wrap="square" lIns="0" tIns="0" rIns="0" bIns="0" rtlCol="0" anchor="ctr"/>
          <a:lstStyle/>
          <a:p>
            <a:pPr marL="0" indent="0">
              <a:buNone/>
            </a:pPr>
            <a:r>
              <a:rPr lang="en-US" sz="1050" dirty="0">
                <a:solidFill>
                  <a:srgbClr val="6B7280"/>
                </a:solidFill>
                <a:latin typeface="JetBrains Mono" pitchFamily="34" charset="0"/>
                <a:ea typeface="JetBrains Mono" pitchFamily="34" charset="-122"/>
                <a:cs typeface="JetBrains Mono" pitchFamily="34" charset="-120"/>
              </a:rPr>
              <a:t>mint the settlement asset</a:t>
            </a:r>
            <a:endParaRPr lang="en-US" sz="1050" dirty="0"/>
          </a:p>
        </p:txBody>
      </p:sp>
      <p:sp>
        <p:nvSpPr>
          <p:cNvPr id="15" name="Text 12"/>
          <p:cNvSpPr/>
          <p:nvPr/>
        </p:nvSpPr>
        <p:spPr>
          <a:xfrm>
            <a:off x="1152144" y="3950208"/>
            <a:ext cx="2834640" cy="310896"/>
          </a:xfrm>
          <a:prstGeom prst="rect">
            <a:avLst/>
          </a:prstGeom>
          <a:noFill/>
          <a:ln/>
        </p:spPr>
        <p:txBody>
          <a:bodyPr wrap="square" lIns="0" tIns="0" rIns="0" bIns="0" rtlCol="0" anchor="ctr"/>
          <a:lstStyle/>
          <a:p>
            <a:pPr marL="0" indent="0">
              <a:buNone/>
            </a:pPr>
            <a:r>
              <a:rPr lang="en-US" sz="1250" dirty="0">
                <a:solidFill>
                  <a:srgbClr val="8B8AF0"/>
                </a:solidFill>
                <a:latin typeface="JetBrains Mono" pitchFamily="34" charset="0"/>
                <a:ea typeface="JetBrains Mono" pitchFamily="34" charset="-122"/>
                <a:cs typeface="JetBrains Mono" pitchFamily="34" charset="-120"/>
              </a:rPr>
              <a:t>npm run setup:registry</a:t>
            </a:r>
            <a:endParaRPr lang="en-US" sz="1250" dirty="0"/>
          </a:p>
        </p:txBody>
      </p:sp>
      <p:sp>
        <p:nvSpPr>
          <p:cNvPr id="16" name="Text 13"/>
          <p:cNvSpPr/>
          <p:nvPr/>
        </p:nvSpPr>
        <p:spPr>
          <a:xfrm>
            <a:off x="4023360" y="3950208"/>
            <a:ext cx="2505456" cy="310896"/>
          </a:xfrm>
          <a:prstGeom prst="rect">
            <a:avLst/>
          </a:prstGeom>
          <a:noFill/>
          <a:ln/>
        </p:spPr>
        <p:txBody>
          <a:bodyPr wrap="square" lIns="0" tIns="0" rIns="0" bIns="0" rtlCol="0" anchor="ctr"/>
          <a:lstStyle/>
          <a:p>
            <a:pPr marL="0" indent="0">
              <a:buNone/>
            </a:pPr>
            <a:r>
              <a:rPr lang="en-US" sz="1050" dirty="0">
                <a:solidFill>
                  <a:srgbClr val="6B7280"/>
                </a:solidFill>
                <a:latin typeface="JetBrains Mono" pitchFamily="34" charset="0"/>
                <a:ea typeface="JetBrains Mono" pitchFamily="34" charset="-122"/>
                <a:cs typeface="JetBrains Mono" pitchFamily="34" charset="-120"/>
              </a:rPr>
              <a:t>put both agents on chain</a:t>
            </a:r>
            <a:endParaRPr lang="en-US" sz="1050" dirty="0"/>
          </a:p>
        </p:txBody>
      </p:sp>
      <p:sp>
        <p:nvSpPr>
          <p:cNvPr id="17" name="Text 14"/>
          <p:cNvSpPr/>
          <p:nvPr/>
        </p:nvSpPr>
        <p:spPr>
          <a:xfrm>
            <a:off x="1152144" y="4407408"/>
            <a:ext cx="2834640" cy="310896"/>
          </a:xfrm>
          <a:prstGeom prst="rect">
            <a:avLst/>
          </a:prstGeom>
          <a:noFill/>
          <a:ln/>
        </p:spPr>
        <p:txBody>
          <a:bodyPr wrap="square" lIns="0" tIns="0" rIns="0" bIns="0" rtlCol="0" anchor="ctr"/>
          <a:lstStyle/>
          <a:p>
            <a:pPr marL="0" indent="0">
              <a:buNone/>
            </a:pPr>
            <a:r>
              <a:rPr lang="en-US" sz="1250" dirty="0">
                <a:solidFill>
                  <a:srgbClr val="8B8AF0"/>
                </a:solidFill>
                <a:latin typeface="JetBrains Mono" pitchFamily="34" charset="0"/>
                <a:ea typeface="JetBrains Mono" pitchFamily="34" charset="-122"/>
                <a:cs typeface="JetBrains Mono" pitchFamily="34" charset="-120"/>
              </a:rPr>
              <a:t>npm run ui</a:t>
            </a:r>
            <a:endParaRPr lang="en-US" sz="1250" dirty="0"/>
          </a:p>
        </p:txBody>
      </p:sp>
      <p:sp>
        <p:nvSpPr>
          <p:cNvPr id="18" name="Text 15"/>
          <p:cNvSpPr/>
          <p:nvPr/>
        </p:nvSpPr>
        <p:spPr>
          <a:xfrm>
            <a:off x="4023360" y="4407408"/>
            <a:ext cx="2505456" cy="310896"/>
          </a:xfrm>
          <a:prstGeom prst="rect">
            <a:avLst/>
          </a:prstGeom>
          <a:noFill/>
          <a:ln/>
        </p:spPr>
        <p:txBody>
          <a:bodyPr wrap="square" lIns="0" tIns="0" rIns="0" bIns="0" rtlCol="0" anchor="ctr"/>
          <a:lstStyle/>
          <a:p>
            <a:pPr marL="0" indent="0">
              <a:buNone/>
            </a:pPr>
            <a:r>
              <a:rPr lang="en-US" sz="1050" dirty="0">
                <a:solidFill>
                  <a:srgbClr val="6B7280"/>
                </a:solidFill>
                <a:latin typeface="JetBrains Mono" pitchFamily="34" charset="0"/>
                <a:ea typeface="JetBrains Mono" pitchFamily="34" charset="-122"/>
                <a:cs typeface="JetBrains Mono" pitchFamily="34" charset="-120"/>
              </a:rPr>
              <a:t>the agent console</a:t>
            </a:r>
            <a:endParaRPr lang="en-US" sz="1050" dirty="0"/>
          </a:p>
        </p:txBody>
      </p:sp>
      <p:sp>
        <p:nvSpPr>
          <p:cNvPr id="19" name="Shape 16"/>
          <p:cNvSpPr/>
          <p:nvPr/>
        </p:nvSpPr>
        <p:spPr>
          <a:xfrm>
            <a:off x="7315200" y="2377440"/>
            <a:ext cx="4050792" cy="1261872"/>
          </a:xfrm>
          <a:prstGeom prst="roundRect">
            <a:avLst>
              <a:gd name="adj" fmla="val 4348"/>
            </a:avLst>
          </a:prstGeom>
          <a:solidFill>
            <a:srgbClr val="1C212B"/>
          </a:solidFill>
          <a:ln w="12700">
            <a:solidFill>
              <a:srgbClr val="363C49"/>
            </a:solidFill>
            <a:prstDash val="solid"/>
          </a:ln>
        </p:spPr>
        <p:txBody>
          <a:bodyPr/>
          <a:lstStyle/>
          <a:p>
            <a:endParaRPr lang="en-US"/>
          </a:p>
        </p:txBody>
      </p:sp>
      <p:sp>
        <p:nvSpPr>
          <p:cNvPr id="20" name="Text 17"/>
          <p:cNvSpPr/>
          <p:nvPr/>
        </p:nvSpPr>
        <p:spPr>
          <a:xfrm>
            <a:off x="7626096" y="2651760"/>
            <a:ext cx="3429000" cy="219456"/>
          </a:xfrm>
          <a:prstGeom prst="rect">
            <a:avLst/>
          </a:prstGeom>
          <a:noFill/>
          <a:ln/>
        </p:spPr>
        <p:txBody>
          <a:bodyPr wrap="square" lIns="0" tIns="0" rIns="0" bIns="0" rtlCol="0" anchor="ctr"/>
          <a:lstStyle/>
          <a:p>
            <a:pPr marL="0" indent="0">
              <a:buNone/>
            </a:pPr>
            <a:r>
              <a:rPr lang="en-US" sz="950" b="1" kern="0" spc="140" dirty="0">
                <a:solidFill>
                  <a:srgbClr val="8B8AF0"/>
                </a:solidFill>
                <a:latin typeface="JetBrains Mono" pitchFamily="34" charset="0"/>
                <a:ea typeface="JetBrains Mono" pitchFamily="34" charset="-122"/>
                <a:cs typeface="JetBrains Mono" pitchFamily="34" charset="-120"/>
              </a:rPr>
              <a:t>FAUCET · ONE WALLET</a:t>
            </a:r>
            <a:endParaRPr lang="en-US" sz="950" dirty="0"/>
          </a:p>
        </p:txBody>
      </p:sp>
      <p:sp>
        <p:nvSpPr>
          <p:cNvPr id="21" name="Text 18"/>
          <p:cNvSpPr/>
          <p:nvPr/>
        </p:nvSpPr>
        <p:spPr>
          <a:xfrm>
            <a:off x="7626096" y="2971800"/>
            <a:ext cx="3429000" cy="384048"/>
          </a:xfrm>
          <a:prstGeom prst="rect">
            <a:avLst/>
          </a:prstGeom>
          <a:noFill/>
          <a:ln/>
        </p:spPr>
        <p:txBody>
          <a:bodyPr wrap="square" lIns="0" tIns="0" rIns="0" bIns="0" rtlCol="0" anchor="ctr"/>
          <a:lstStyle/>
          <a:p>
            <a:pPr marL="0" indent="0">
              <a:buNone/>
            </a:pPr>
            <a:r>
              <a:rPr lang="en-US" sz="1900" b="1" dirty="0">
                <a:solidFill>
                  <a:srgbClr val="FFFFFF"/>
                </a:solidFill>
                <a:latin typeface="Inter" pitchFamily="34" charset="0"/>
                <a:ea typeface="Inter" pitchFamily="34" charset="-122"/>
                <a:cs typeface="Inter" pitchFamily="34" charset="-120"/>
              </a:rPr>
              <a:t>voyage.moi.technology</a:t>
            </a:r>
            <a:endParaRPr lang="en-US" sz="1900" dirty="0"/>
          </a:p>
        </p:txBody>
      </p:sp>
      <p:sp>
        <p:nvSpPr>
          <p:cNvPr id="22" name="Shape 19"/>
          <p:cNvSpPr/>
          <p:nvPr/>
        </p:nvSpPr>
        <p:spPr>
          <a:xfrm>
            <a:off x="7315200" y="3785616"/>
            <a:ext cx="4050792" cy="1261872"/>
          </a:xfrm>
          <a:prstGeom prst="roundRect">
            <a:avLst>
              <a:gd name="adj" fmla="val 4348"/>
            </a:avLst>
          </a:prstGeom>
          <a:solidFill>
            <a:srgbClr val="1C212B"/>
          </a:solidFill>
          <a:ln w="12700">
            <a:solidFill>
              <a:srgbClr val="363C49"/>
            </a:solidFill>
            <a:prstDash val="solid"/>
          </a:ln>
        </p:spPr>
        <p:txBody>
          <a:bodyPr/>
          <a:lstStyle/>
          <a:p>
            <a:endParaRPr lang="en-US"/>
          </a:p>
        </p:txBody>
      </p:sp>
      <p:sp>
        <p:nvSpPr>
          <p:cNvPr id="23" name="Text 20"/>
          <p:cNvSpPr/>
          <p:nvPr/>
        </p:nvSpPr>
        <p:spPr>
          <a:xfrm>
            <a:off x="7626096" y="4059936"/>
            <a:ext cx="3429000" cy="219456"/>
          </a:xfrm>
          <a:prstGeom prst="rect">
            <a:avLst/>
          </a:prstGeom>
          <a:noFill/>
          <a:ln/>
        </p:spPr>
        <p:txBody>
          <a:bodyPr wrap="square" lIns="0" tIns="0" rIns="0" bIns="0" rtlCol="0" anchor="ctr"/>
          <a:lstStyle/>
          <a:p>
            <a:pPr marL="0" indent="0">
              <a:buNone/>
            </a:pPr>
            <a:r>
              <a:rPr lang="en-US" sz="950" b="1" kern="0" spc="140" dirty="0">
                <a:solidFill>
                  <a:srgbClr val="3CCB8E"/>
                </a:solidFill>
                <a:latin typeface="JetBrains Mono" pitchFamily="34" charset="0"/>
                <a:ea typeface="JetBrains Mono" pitchFamily="34" charset="-122"/>
                <a:cs typeface="JetBrains Mono" pitchFamily="34" charset="-120"/>
              </a:rPr>
              <a:t>NEXT</a:t>
            </a:r>
            <a:endParaRPr lang="en-US" sz="950" dirty="0"/>
          </a:p>
        </p:txBody>
      </p:sp>
      <p:sp>
        <p:nvSpPr>
          <p:cNvPr id="24" name="Text 21"/>
          <p:cNvSpPr/>
          <p:nvPr/>
        </p:nvSpPr>
        <p:spPr>
          <a:xfrm>
            <a:off x="7626096" y="4379976"/>
            <a:ext cx="3429000" cy="384048"/>
          </a:xfrm>
          <a:prstGeom prst="rect">
            <a:avLst/>
          </a:prstGeom>
          <a:noFill/>
          <a:ln/>
        </p:spPr>
        <p:txBody>
          <a:bodyPr wrap="square" lIns="0" tIns="0" rIns="0" bIns="0" rtlCol="0" anchor="ctr"/>
          <a:lstStyle/>
          <a:p>
            <a:pPr marL="0" indent="0">
              <a:buNone/>
            </a:pPr>
            <a:r>
              <a:rPr lang="en-US" sz="1900" b="1" dirty="0">
                <a:solidFill>
                  <a:srgbClr val="FFFFFF"/>
                </a:solidFill>
                <a:latin typeface="Inter" pitchFamily="34" charset="0"/>
                <a:ea typeface="Inter" pitchFamily="34" charset="-122"/>
                <a:cs typeface="Inter" pitchFamily="34" charset="-120"/>
              </a:rPr>
              <a:t>Session 8 — authority</a:t>
            </a:r>
            <a:endParaRPr lang="en-US" sz="1900" dirty="0"/>
          </a:p>
        </p:txBody>
      </p:sp>
      <p:sp>
        <p:nvSpPr>
          <p:cNvPr id="25" name="Text 22"/>
          <p:cNvSpPr/>
          <p:nvPr/>
        </p:nvSpPr>
        <p:spPr>
          <a:xfrm>
            <a:off x="822960" y="5303520"/>
            <a:ext cx="10543032" cy="548640"/>
          </a:xfrm>
          <a:prstGeom prst="rect">
            <a:avLst/>
          </a:prstGeom>
          <a:noFill/>
          <a:ln/>
        </p:spPr>
        <p:txBody>
          <a:bodyPr wrap="square" lIns="0" tIns="0" rIns="0" bIns="0" rtlCol="0" anchor="ctr"/>
          <a:lstStyle/>
          <a:p>
            <a:pPr marL="0" indent="0">
              <a:buNone/>
            </a:pPr>
            <a:r>
              <a:rPr lang="en-US" sz="1750" b="1" dirty="0">
                <a:solidFill>
                  <a:srgbClr val="B9BECD"/>
                </a:solidFill>
                <a:latin typeface="Inter" pitchFamily="34" charset="0"/>
                <a:ea typeface="Inter" pitchFamily="34" charset="-122"/>
                <a:cs typeface="Inter" pitchFamily="34" charset="-120"/>
              </a:rPr>
              <a:t>The payment was the easy half. </a:t>
            </a:r>
            <a:r>
              <a:rPr lang="en-US" sz="1750" b="1" dirty="0">
                <a:solidFill>
                  <a:srgbClr val="FFFFFF"/>
                </a:solidFill>
                <a:latin typeface="Inter" pitchFamily="34" charset="0"/>
                <a:ea typeface="Inter" pitchFamily="34" charset="-122"/>
                <a:cs typeface="Inter" pitchFamily="34" charset="-120"/>
              </a:rPr>
              <a:t>Knowing who you're paying is what makes it safe.</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E1116"/>
        </a:solidFill>
        <a:effectLst/>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marL="0" indent="0">
              <a:buNone/>
            </a:pPr>
            <a:r>
              <a:rPr lang="en-US" sz="1000" b="1" kern="0" spc="140" dirty="0">
                <a:solidFill>
                  <a:srgbClr val="8B8AF0"/>
                </a:solidFill>
                <a:latin typeface="JetBrains Mono" pitchFamily="34" charset="0"/>
                <a:ea typeface="JetBrains Mono" pitchFamily="34" charset="-122"/>
                <a:cs typeface="JetBrains Mono" pitchFamily="34" charset="-120"/>
              </a:rPr>
              <a:t>MOI · BUILD 07</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marL="0" indent="0" algn="r">
              <a:buNone/>
            </a:pPr>
            <a:r>
              <a:rPr lang="en-US" sz="1000" kern="0" spc="140" dirty="0">
                <a:solidFill>
                  <a:srgbClr val="9AA0AE"/>
                </a:solidFill>
                <a:latin typeface="JetBrains Mono" pitchFamily="34" charset="0"/>
                <a:ea typeface="JetBrains Mono" pitchFamily="34" charset="-122"/>
                <a:cs typeface="JetBrains Mono" pitchFamily="34" charset="-120"/>
              </a:rPr>
              <a:t>BOUNTY</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marL="0" indent="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marL="0" indent="0" algn="r">
              <a:buNone/>
            </a:pPr>
            <a:r>
              <a:rPr lang="en-US" sz="900" dirty="0">
                <a:solidFill>
                  <a:srgbClr val="6B7280"/>
                </a:solidFill>
                <a:latin typeface="JetBrains Mono" pitchFamily="34" charset="0"/>
                <a:ea typeface="JetBrains Mono" pitchFamily="34" charset="-122"/>
                <a:cs typeface="JetBrains Mono" pitchFamily="34" charset="-120"/>
              </a:rPr>
              <a:t>07 / 8</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marL="0" indent="0">
              <a:buNone/>
            </a:pPr>
            <a:r>
              <a:rPr lang="en-US" sz="3800" b="1" dirty="0">
                <a:solidFill>
                  <a:srgbClr val="FFFFFF"/>
                </a:solidFill>
                <a:latin typeface="Inter" pitchFamily="34" charset="0"/>
                <a:ea typeface="Inter" pitchFamily="34" charset="-122"/>
                <a:cs typeface="Inter" pitchFamily="34" charset="-120"/>
              </a:rPr>
              <a:t>Rebuild this. Get paid.</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marL="0" indent="0">
              <a:buNone/>
            </a:pPr>
            <a:r>
              <a:rPr lang="en-US" sz="1450" dirty="0">
                <a:solidFill>
                  <a:srgbClr val="B9BECD"/>
                </a:solidFill>
                <a:latin typeface="Inter" pitchFamily="34" charset="0"/>
                <a:ea typeface="Inter" pitchFamily="34" charset="-122"/>
                <a:cs typeface="Inter" pitchFamily="34" charset="-120"/>
              </a:rPr>
              <a:t>Recreate today's demo end to end — two agents, one real payment, settled on Voyage devnet.</a:t>
            </a:r>
            <a:endParaRPr lang="en-US" sz="1450" dirty="0"/>
          </a:p>
        </p:txBody>
      </p:sp>
      <p:sp>
        <p:nvSpPr>
          <p:cNvPr id="9" name="Shape 6"/>
          <p:cNvSpPr/>
          <p:nvPr/>
        </p:nvSpPr>
        <p:spPr>
          <a:xfrm>
            <a:off x="822960" y="2395728"/>
            <a:ext cx="10543032" cy="1060704"/>
          </a:xfrm>
          <a:prstGeom prst="roundRect">
            <a:avLst>
              <a:gd name="adj" fmla="val 5172"/>
            </a:avLst>
          </a:prstGeom>
          <a:solidFill>
            <a:srgbClr val="10221B"/>
          </a:solidFill>
          <a:ln w="15875">
            <a:solidFill>
              <a:srgbClr val="3CCB8E"/>
            </a:solidFill>
            <a:prstDash val="solid"/>
          </a:ln>
        </p:spPr>
        <p:txBody>
          <a:bodyPr/>
          <a:lstStyle/>
          <a:p>
            <a:endParaRPr lang="en-US"/>
          </a:p>
        </p:txBody>
      </p:sp>
      <p:sp>
        <p:nvSpPr>
          <p:cNvPr id="10" name="Text 7"/>
          <p:cNvSpPr/>
          <p:nvPr/>
        </p:nvSpPr>
        <p:spPr>
          <a:xfrm>
            <a:off x="1133856" y="2395728"/>
            <a:ext cx="1005840" cy="1060704"/>
          </a:xfrm>
          <a:prstGeom prst="rect">
            <a:avLst/>
          </a:prstGeom>
          <a:noFill/>
          <a:ln/>
        </p:spPr>
        <p:txBody>
          <a:bodyPr wrap="square" lIns="0" tIns="0" rIns="0" bIns="0" rtlCol="0" anchor="ctr"/>
          <a:lstStyle/>
          <a:p>
            <a:pPr marL="0" indent="0">
              <a:buNone/>
            </a:pPr>
            <a:r>
              <a:rPr lang="en-US" sz="2600" b="1" dirty="0">
                <a:solidFill>
                  <a:srgbClr val="3CCB8E"/>
                </a:solidFill>
                <a:latin typeface="JetBrains Mono" pitchFamily="34" charset="0"/>
                <a:ea typeface="JetBrains Mono" pitchFamily="34" charset="-122"/>
                <a:cs typeface="JetBrains Mono" pitchFamily="34" charset="-120"/>
              </a:rPr>
              <a:t>01</a:t>
            </a:r>
            <a:endParaRPr lang="en-US" sz="2600" dirty="0"/>
          </a:p>
        </p:txBody>
      </p:sp>
      <p:sp>
        <p:nvSpPr>
          <p:cNvPr id="11" name="Text 8"/>
          <p:cNvSpPr/>
          <p:nvPr/>
        </p:nvSpPr>
        <p:spPr>
          <a:xfrm>
            <a:off x="2240280" y="2596896"/>
            <a:ext cx="6766560" cy="347472"/>
          </a:xfrm>
          <a:prstGeom prst="rect">
            <a:avLst/>
          </a:prstGeom>
          <a:noFill/>
          <a:ln/>
        </p:spPr>
        <p:txBody>
          <a:bodyPr wrap="square" lIns="0" tIns="0" rIns="0" bIns="0" rtlCol="0" anchor="ctr"/>
          <a:lstStyle/>
          <a:p>
            <a:pPr marL="0" indent="0">
              <a:buNone/>
            </a:pPr>
            <a:r>
              <a:rPr lang="en-US" sz="1900" b="1" dirty="0">
                <a:solidFill>
                  <a:srgbClr val="FFFFFF"/>
                </a:solidFill>
                <a:latin typeface="Inter" pitchFamily="34" charset="0"/>
                <a:ea typeface="Inter" pitchFamily="34" charset="-122"/>
                <a:cs typeface="Inter" pitchFamily="34" charset="-120"/>
              </a:rPr>
              <a:t>What counts</a:t>
            </a:r>
            <a:endParaRPr lang="en-US" sz="1900" dirty="0"/>
          </a:p>
        </p:txBody>
      </p:sp>
      <p:sp>
        <p:nvSpPr>
          <p:cNvPr id="12" name="Text 9"/>
          <p:cNvSpPr/>
          <p:nvPr/>
        </p:nvSpPr>
        <p:spPr>
          <a:xfrm>
            <a:off x="2240280" y="2971800"/>
            <a:ext cx="7863840" cy="310896"/>
          </a:xfrm>
          <a:prstGeom prst="rect">
            <a:avLst/>
          </a:prstGeom>
          <a:noFill/>
          <a:ln/>
        </p:spPr>
        <p:txBody>
          <a:bodyPr wrap="square" lIns="0" tIns="0" rIns="0" bIns="0" rtlCol="0" anchor="ctr"/>
          <a:lstStyle/>
          <a:p>
            <a:pPr marL="0" indent="0">
              <a:buNone/>
            </a:pPr>
            <a:r>
              <a:rPr lang="en-US" sz="1350" dirty="0">
                <a:solidFill>
                  <a:srgbClr val="B9BECD"/>
                </a:solidFill>
                <a:latin typeface="Inter" pitchFamily="34" charset="0"/>
                <a:ea typeface="Inter" pitchFamily="34" charset="-122"/>
                <a:cs typeface="Inter" pitchFamily="34" charset="-120"/>
              </a:rPr>
              <a:t>Both agents registered on MOI · a 402 quote · the identity check before paying · a real transfer hash.</a:t>
            </a:r>
            <a:endParaRPr lang="en-US" sz="1350" dirty="0"/>
          </a:p>
        </p:txBody>
      </p:sp>
      <p:sp>
        <p:nvSpPr>
          <p:cNvPr id="13" name="Text 10"/>
          <p:cNvSpPr/>
          <p:nvPr/>
        </p:nvSpPr>
        <p:spPr>
          <a:xfrm>
            <a:off x="9445752" y="2395728"/>
            <a:ext cx="1554480" cy="1060704"/>
          </a:xfrm>
          <a:prstGeom prst="rect">
            <a:avLst/>
          </a:prstGeom>
          <a:noFill/>
          <a:ln/>
        </p:spPr>
        <p:txBody>
          <a:bodyPr wrap="square" lIns="0" tIns="0" rIns="0" bIns="0" rtlCol="0" anchor="ctr"/>
          <a:lstStyle/>
          <a:p>
            <a:pPr marL="0" indent="0" algn="r">
              <a:buNone/>
            </a:pPr>
            <a:r>
              <a:rPr lang="en-US" sz="1050" b="1" kern="0" spc="140" dirty="0">
                <a:solidFill>
                  <a:srgbClr val="3CCB8E"/>
                </a:solidFill>
                <a:latin typeface="JetBrains Mono" pitchFamily="34" charset="0"/>
                <a:ea typeface="JetBrains Mono" pitchFamily="34" charset="-122"/>
                <a:cs typeface="JetBrains Mono" pitchFamily="34" charset="-120"/>
              </a:rPr>
              <a:t>BUILD</a:t>
            </a:r>
            <a:endParaRPr lang="en-US" sz="1050" dirty="0"/>
          </a:p>
        </p:txBody>
      </p:sp>
      <p:sp>
        <p:nvSpPr>
          <p:cNvPr id="14" name="Shape 11"/>
          <p:cNvSpPr/>
          <p:nvPr/>
        </p:nvSpPr>
        <p:spPr>
          <a:xfrm>
            <a:off x="822960" y="3694176"/>
            <a:ext cx="10543032" cy="1060704"/>
          </a:xfrm>
          <a:prstGeom prst="roundRect">
            <a:avLst>
              <a:gd name="adj" fmla="val 5172"/>
            </a:avLst>
          </a:prstGeom>
          <a:solidFill>
            <a:srgbClr val="1C212B"/>
          </a:solidFill>
          <a:ln w="12700">
            <a:solidFill>
              <a:srgbClr val="363C49"/>
            </a:solidFill>
            <a:prstDash val="solid"/>
          </a:ln>
        </p:spPr>
        <p:txBody>
          <a:bodyPr/>
          <a:lstStyle/>
          <a:p>
            <a:endParaRPr lang="en-US"/>
          </a:p>
        </p:txBody>
      </p:sp>
      <p:sp>
        <p:nvSpPr>
          <p:cNvPr id="15" name="Text 12"/>
          <p:cNvSpPr/>
          <p:nvPr/>
        </p:nvSpPr>
        <p:spPr>
          <a:xfrm>
            <a:off x="1133856" y="3694176"/>
            <a:ext cx="1005840" cy="1060704"/>
          </a:xfrm>
          <a:prstGeom prst="rect">
            <a:avLst/>
          </a:prstGeom>
          <a:noFill/>
          <a:ln/>
        </p:spPr>
        <p:txBody>
          <a:bodyPr wrap="square" lIns="0" tIns="0" rIns="0" bIns="0" rtlCol="0" anchor="ctr"/>
          <a:lstStyle/>
          <a:p>
            <a:pPr marL="0" indent="0">
              <a:buNone/>
            </a:pPr>
            <a:r>
              <a:rPr lang="en-US" sz="2600" b="1" dirty="0">
                <a:solidFill>
                  <a:srgbClr val="8B8AF0"/>
                </a:solidFill>
                <a:latin typeface="JetBrains Mono" pitchFamily="34" charset="0"/>
                <a:ea typeface="JetBrains Mono" pitchFamily="34" charset="-122"/>
                <a:cs typeface="JetBrains Mono" pitchFamily="34" charset="-120"/>
              </a:rPr>
              <a:t>02</a:t>
            </a:r>
            <a:endParaRPr lang="en-US" sz="2600" dirty="0"/>
          </a:p>
        </p:txBody>
      </p:sp>
      <p:sp>
        <p:nvSpPr>
          <p:cNvPr id="16" name="Text 13"/>
          <p:cNvSpPr/>
          <p:nvPr/>
        </p:nvSpPr>
        <p:spPr>
          <a:xfrm>
            <a:off x="2240280" y="3895344"/>
            <a:ext cx="6766560" cy="347472"/>
          </a:xfrm>
          <a:prstGeom prst="rect">
            <a:avLst/>
          </a:prstGeom>
          <a:noFill/>
          <a:ln/>
        </p:spPr>
        <p:txBody>
          <a:bodyPr wrap="square" lIns="0" tIns="0" rIns="0" bIns="0" rtlCol="0" anchor="ctr"/>
          <a:lstStyle/>
          <a:p>
            <a:pPr marL="0" indent="0">
              <a:buNone/>
            </a:pPr>
            <a:r>
              <a:rPr lang="en-US" sz="1900" b="1" dirty="0">
                <a:solidFill>
                  <a:srgbClr val="FFFFFF"/>
                </a:solidFill>
                <a:latin typeface="Inter" pitchFamily="34" charset="0"/>
                <a:ea typeface="Inter" pitchFamily="34" charset="-122"/>
                <a:cs typeface="Inter" pitchFamily="34" charset="-120"/>
              </a:rPr>
              <a:t>Sell anything you like</a:t>
            </a:r>
            <a:endParaRPr lang="en-US" sz="1900" dirty="0"/>
          </a:p>
        </p:txBody>
      </p:sp>
      <p:sp>
        <p:nvSpPr>
          <p:cNvPr id="17" name="Text 14"/>
          <p:cNvSpPr/>
          <p:nvPr/>
        </p:nvSpPr>
        <p:spPr>
          <a:xfrm>
            <a:off x="2240280" y="4270248"/>
            <a:ext cx="7863840" cy="310896"/>
          </a:xfrm>
          <a:prstGeom prst="rect">
            <a:avLst/>
          </a:prstGeom>
          <a:noFill/>
          <a:ln/>
        </p:spPr>
        <p:txBody>
          <a:bodyPr wrap="square" lIns="0" tIns="0" rIns="0" bIns="0" rtlCol="0" anchor="ctr"/>
          <a:lstStyle/>
          <a:p>
            <a:pPr marL="0" indent="0">
              <a:buNone/>
            </a:pPr>
            <a:r>
              <a:rPr lang="en-US" sz="1350" dirty="0">
                <a:solidFill>
                  <a:srgbClr val="B9BECD"/>
                </a:solidFill>
                <a:latin typeface="Inter" pitchFamily="34" charset="0"/>
                <a:ea typeface="Inter" pitchFamily="34" charset="-122"/>
                <a:cs typeface="Inter" pitchFamily="34" charset="-120"/>
              </a:rPr>
              <a:t>Summaries, jokes, weather — the payment rails are the assignment, not the product.</a:t>
            </a:r>
            <a:endParaRPr lang="en-US" sz="1350" dirty="0"/>
          </a:p>
        </p:txBody>
      </p:sp>
      <p:sp>
        <p:nvSpPr>
          <p:cNvPr id="18" name="Text 15"/>
          <p:cNvSpPr/>
          <p:nvPr/>
        </p:nvSpPr>
        <p:spPr>
          <a:xfrm>
            <a:off x="9445752" y="3694176"/>
            <a:ext cx="1554480" cy="1060704"/>
          </a:xfrm>
          <a:prstGeom prst="rect">
            <a:avLst/>
          </a:prstGeom>
          <a:noFill/>
          <a:ln/>
        </p:spPr>
        <p:txBody>
          <a:bodyPr wrap="square" lIns="0" tIns="0" rIns="0" bIns="0" rtlCol="0" anchor="ctr"/>
          <a:lstStyle/>
          <a:p>
            <a:pPr marL="0" indent="0" algn="r">
              <a:buNone/>
            </a:pPr>
            <a:r>
              <a:rPr lang="en-US" sz="1050" b="1" kern="0" spc="140" dirty="0">
                <a:solidFill>
                  <a:srgbClr val="8B8AF0"/>
                </a:solidFill>
                <a:latin typeface="JetBrains Mono" pitchFamily="34" charset="0"/>
                <a:ea typeface="JetBrains Mono" pitchFamily="34" charset="-122"/>
                <a:cs typeface="JetBrains Mono" pitchFamily="34" charset="-120"/>
              </a:rPr>
              <a:t>SHIP</a:t>
            </a:r>
            <a:endParaRPr lang="en-US" sz="1050" dirty="0"/>
          </a:p>
        </p:txBody>
      </p:sp>
      <p:sp>
        <p:nvSpPr>
          <p:cNvPr id="19" name="Shape 16"/>
          <p:cNvSpPr/>
          <p:nvPr/>
        </p:nvSpPr>
        <p:spPr>
          <a:xfrm>
            <a:off x="822960" y="4992624"/>
            <a:ext cx="10543032" cy="1060704"/>
          </a:xfrm>
          <a:prstGeom prst="roundRect">
            <a:avLst>
              <a:gd name="adj" fmla="val 5172"/>
            </a:avLst>
          </a:prstGeom>
          <a:solidFill>
            <a:srgbClr val="1C212B"/>
          </a:solidFill>
          <a:ln w="12700">
            <a:solidFill>
              <a:srgbClr val="363C49"/>
            </a:solidFill>
            <a:prstDash val="solid"/>
          </a:ln>
        </p:spPr>
        <p:txBody>
          <a:bodyPr/>
          <a:lstStyle/>
          <a:p>
            <a:endParaRPr lang="en-US"/>
          </a:p>
        </p:txBody>
      </p:sp>
      <p:sp>
        <p:nvSpPr>
          <p:cNvPr id="20" name="Text 17"/>
          <p:cNvSpPr/>
          <p:nvPr/>
        </p:nvSpPr>
        <p:spPr>
          <a:xfrm>
            <a:off x="1133856" y="4992624"/>
            <a:ext cx="1005840" cy="1060704"/>
          </a:xfrm>
          <a:prstGeom prst="rect">
            <a:avLst/>
          </a:prstGeom>
          <a:noFill/>
          <a:ln/>
        </p:spPr>
        <p:txBody>
          <a:bodyPr wrap="square" lIns="0" tIns="0" rIns="0" bIns="0" rtlCol="0" anchor="ctr"/>
          <a:lstStyle/>
          <a:p>
            <a:pPr marL="0" indent="0">
              <a:buNone/>
            </a:pPr>
            <a:r>
              <a:rPr lang="en-US" sz="2600" b="1" dirty="0">
                <a:solidFill>
                  <a:srgbClr val="6B7280"/>
                </a:solidFill>
                <a:latin typeface="JetBrains Mono" pitchFamily="34" charset="0"/>
                <a:ea typeface="JetBrains Mono" pitchFamily="34" charset="-122"/>
                <a:cs typeface="JetBrains Mono" pitchFamily="34" charset="-120"/>
              </a:rPr>
              <a:t>03</a:t>
            </a:r>
            <a:endParaRPr lang="en-US" sz="2600" dirty="0"/>
          </a:p>
        </p:txBody>
      </p:sp>
      <p:sp>
        <p:nvSpPr>
          <p:cNvPr id="21" name="Text 18"/>
          <p:cNvSpPr/>
          <p:nvPr/>
        </p:nvSpPr>
        <p:spPr>
          <a:xfrm>
            <a:off x="2240280" y="5193792"/>
            <a:ext cx="6766560" cy="347472"/>
          </a:xfrm>
          <a:prstGeom prst="rect">
            <a:avLst/>
          </a:prstGeom>
          <a:noFill/>
          <a:ln/>
        </p:spPr>
        <p:txBody>
          <a:bodyPr wrap="square" lIns="0" tIns="0" rIns="0" bIns="0" rtlCol="0" anchor="ctr"/>
          <a:lstStyle/>
          <a:p>
            <a:pPr marL="0" indent="0">
              <a:buNone/>
            </a:pPr>
            <a:r>
              <a:rPr lang="en-US" sz="1900" b="1" dirty="0">
                <a:solidFill>
                  <a:srgbClr val="FFFFFF"/>
                </a:solidFill>
                <a:latin typeface="Inter" pitchFamily="34" charset="0"/>
                <a:ea typeface="Inter" pitchFamily="34" charset="-122"/>
                <a:cs typeface="Inter" pitchFamily="34" charset="-120"/>
              </a:rPr>
              <a:t>Submit — three fields</a:t>
            </a:r>
            <a:endParaRPr lang="en-US" sz="1900" dirty="0"/>
          </a:p>
        </p:txBody>
      </p:sp>
      <p:sp>
        <p:nvSpPr>
          <p:cNvPr id="22" name="Text 19"/>
          <p:cNvSpPr/>
          <p:nvPr/>
        </p:nvSpPr>
        <p:spPr>
          <a:xfrm>
            <a:off x="2240280" y="5568696"/>
            <a:ext cx="7863840" cy="310896"/>
          </a:xfrm>
          <a:prstGeom prst="rect">
            <a:avLst/>
          </a:prstGeom>
          <a:noFill/>
          <a:ln/>
        </p:spPr>
        <p:txBody>
          <a:bodyPr wrap="square" lIns="0" tIns="0" rIns="0" bIns="0" rtlCol="0" anchor="ctr"/>
          <a:lstStyle/>
          <a:p>
            <a:pPr marL="0" indent="0">
              <a:buNone/>
            </a:pPr>
            <a:r>
              <a:rPr lang="en-US" sz="1350" dirty="0">
                <a:solidFill>
                  <a:srgbClr val="B9BECD"/>
                </a:solidFill>
                <a:latin typeface="Inter" pitchFamily="34" charset="0"/>
                <a:ea typeface="Inter" pitchFamily="34" charset="-122"/>
                <a:cs typeface="Inter" pitchFamily="34" charset="-120"/>
              </a:rPr>
              <a:t>Your wallet · your email · your repo link  →  forms.gle/NToEMG47QHro9SiB8</a:t>
            </a:r>
            <a:endParaRPr lang="en-US" sz="1350" dirty="0"/>
          </a:p>
        </p:txBody>
      </p:sp>
      <p:sp>
        <p:nvSpPr>
          <p:cNvPr id="23" name="Text 20"/>
          <p:cNvSpPr/>
          <p:nvPr/>
        </p:nvSpPr>
        <p:spPr>
          <a:xfrm>
            <a:off x="9445752" y="4992624"/>
            <a:ext cx="1554480" cy="1060704"/>
          </a:xfrm>
          <a:prstGeom prst="rect">
            <a:avLst/>
          </a:prstGeom>
          <a:noFill/>
          <a:ln/>
        </p:spPr>
        <p:txBody>
          <a:bodyPr wrap="square" lIns="0" tIns="0" rIns="0" bIns="0" rtlCol="0" anchor="ctr"/>
          <a:lstStyle/>
          <a:p>
            <a:pPr marL="0" indent="0" algn="r">
              <a:buNone/>
            </a:pPr>
            <a:r>
              <a:rPr lang="en-US" sz="1050" b="1" kern="0" spc="140" dirty="0">
                <a:solidFill>
                  <a:srgbClr val="6B7280"/>
                </a:solidFill>
                <a:latin typeface="JetBrains Mono" pitchFamily="34" charset="0"/>
                <a:ea typeface="JetBrains Mono" pitchFamily="34" charset="-122"/>
                <a:cs typeface="JetBrains Mono" pitchFamily="34" charset="-120"/>
              </a:rPr>
              <a:t>WIN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4343</Words>
  <Application>Microsoft Macintosh PowerPoint</Application>
  <PresentationFormat>Widescreen</PresentationFormat>
  <Paragraphs>169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MOI Builders · Session 07 — Agentic Payments</dc:title>
  <dc:subject>PptxGenJS Presentation</dc:subject>
  <dc:creator>Sarva Labs</dc:creator>
  <cp:lastModifiedBy>Adithya Ganesh</cp:lastModifiedBy>
  <cp:revision>2</cp:revision>
  <dcterms:created xsi:type="dcterms:W3CDTF">2026-08-05T19:59:07Z</dcterms:created>
  <dcterms:modified xsi:type="dcterms:W3CDTF">2026-08-07T12:33:05Z</dcterms:modified>
</cp:coreProperties>
</file>