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Open cold. Don't read the slide.
"Two programs. One sells probability estimates on bitcoin. The other needs one.
They have never met — no account, no API key, no contract. Watch them do business."
Then straight to slide 2 and talk over the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Stay here. This is the whole setup — nothing to click.
"I've got two programs running. I'm going to call them agents, and I want to be precise,
because the word gets used loosely.
The first is a Signal Desk. It sells probability estimates on bitcoin — will BTC draw down
more than 20% this quarter, will it close higher next week. Two things make it an agent
rather than an API: it decides what to charge for each answer, and it can decline.
The second is a Risk Agent. It's the buyer. It has a question and it doesn't know the answer.
It decides which market answers its question, and whether the price is worth paying.
Here's the important part — they have never met. No account, no API key, no contract.
The buyer doesn't have the seller's address, doesn't have its URL, doesn't know it exists.
The one thing they share is the bottom of this slide: both are registered on MOI, and the
asset they settle in is native to it."
DON'T say "two AI agents transacting autonomously" beyond what's on the slide — the seller's
product is a stub and someone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"The hard part isn't moving money — chains have done that for fifteen years.
The hard part is that when you pay a stranger, a human does three things without thinking.
Glances at whether the shop is real. Knows roughly what they're willing to spend. Assumes
there's recourse if nothing arrives.
Take the human out and none of those happen by default. And you have to take the human out,
because you can't approve a fraction-of-a-cent purchase by hand — the approval costs more
than the thing.
So each of those instincts has to become something a machine can check. Today is the first
one: how do you know who you're paying?"
&gt;&gt;&gt; SWITCH TO BROWSER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&gt;&gt;&gt; SWITCH TO TERMINAL / BROWSER — http://localhost:4000
Leave this slide up while you switch.
HAPPY PATH — type: should i be worried about a crash
  step 1  "admits it can't answer" — scans for the skill tag sells-signals
  step 2  agent id, registered wallet, service URL, advertised skills — ALL off chain.
          "I never gave it that URL."
  step 3  catalog is free — questions public, answers paid
  step 4  check "decided by" shows the model. "crash" isn't in the catalog; it says "draw down"
  step 5  HTTP 402 — reserved since 1997. Seller says WHY it charges this.
  step 6  ** SLOW DOWN ** the identity check. payTo is 32 bytes: it says WHERE, not WHOSE.
  step 7  real interaction hash — CLICK IT to copy, paste into voyage.moi.technology
  step 8  seven checks, all read-only, seller reads the chain itself
  step 9  answer appears, balance drops
SAY OUT LOUD: the probabilities are made up. No model, no market data.
REFUSAL — tick "Simulate a compromised listing", ask again.
  Stops at step 6. "Money moved: none" is literal — no transaction was ever built.
  The party with something to lose is the one that checked.
If the happy path refuses: you Ctrl-C'd a tamper run. Rerun --tamper and let it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&gt;&gt;&gt; SWITCH TO EDITOR
payment-proof.ts — "Two messages. The seller sends a Quote: price, asset, where to pay, and its
agent id. The buyer sends back a Claim: I sent this much, to you, in this transaction, for this
thing, signed." Point at payToAgentId — without it, payTo is anonymous bytes.
identity-check.ts — WHOLE FILE ON SCREEN, 39 lines, don't scroll. Point at ONE line:
  if (normalizeAddress(registryWallet) !== normalizeAddress(quote.payTo))
"Read the registered wallet off the chain. Compare it to the invoice. Refuse if they disagree.
No payment protocol can answer that on its own — it needs an identity both parties can check."
Then: it runs BEFORE the transfer. No escrow, nothing to claw back.
verify-proof.ts — show two of seven.
  check 3 key_binds_to_payer: "transfers are public. what stops someone quoting MY hash and
  collecting the answer I paid for? this."
  check 6 transfer_landed_on_chain: "the seller reads the interaction itself and decodes it."
  Optional: npm run attack-test — 11 forgeries, each rejected for the RIGHT reason.
pricing.ts + worth.ts — "the seller decides what to charge, the buyer decides if it's worth it.
Both are model calls. But the price bounds are arithmetic, the buyer's hard ceiling is checked
BEFORE the model is asked — the seller's pitch is untrusted text — and nothing about whether a
payment is VALID touches a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 but run the command in the terminal first.
&gt;&gt;&gt; TERMINAL:  MAX_PRICE_PER_ANSWER=999999 npm run ask -- "should i be worried about a crash"
"The buyer has a spending limit. It refuses anything over six. Let me show you what that's worth.
I didn't touch the code — I set an environment variable and the hard limit is gone.
Now, it still won't pay something absurd, because there's a second check: the model's own
judgment about whether a markup is reasonable. But look where that lives. It's ALSO inside the
agent. A prompt I wrote, in a file I control, in a process I'm running.
That's the point. Every guardrail here is self-imposed."
Then the right-hand card — this is the one that surprises people:
"And it's worse than that. That limit is per purchase. Nothing tracks the total. An agent with
a six-unit limit and a ninety-nine-thousand balance can spend all of it, six at a time, without
ever violating its limit once.
Nothing on the chain caps this wallet. It spent three because it decided to."
DON'T claim the env var makes it pay anything — tested, the model still refuses. Say the honest
version: both guardrails are inside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"Really three separate questions, and today only answered the first.
Who am I paying? Answered — the registry, checked before any money moves.
What am I allowed to spend? Not answered. That's session eight: a cap the chain itself
enforces, that the agent can't raise by editing a variable, because it doesn't own the
authority — it inherits it.
What if they don't deliver? Also not answered. Today it's fire-and-forget: pay, and hope.
Session nine makes it pay-on-delivery with MOI's native lockup and release."
If asked what happens today when a seller takes the money and vanishes: you lose it. Same as
cash across a counter. Don't dress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 — DECK ]  Close here, then Q&amp;A.
"Everything you saw settled on MOI devnet. The interaction hashes are real — you can look them
up. The repo's linked; one funded wallet runs the whole thing.
The payment was the easy half. What makes it safe to pay a stranger is knowing who they are —
and next time, bounding what your agent can do on your behalf."
LIKELY QUESTIONS
 · "seller takes the money and doesn't deliver?" — you lose it. Session 9.
 · "are these really two separate agents?" — two wallets, two on-chain identities, but one
   machine and one mnemonic today. The chain doesn't care; the transfer is real either way.
 · "why not x402?" — we built that first, it's on a branch. Buys interoperability, costs about
   twice the code and a second service. The identity check is identical in both.
 · "what stops a replayed payment?" — the transfer hash is burned. Honest caveat: that set is
   in memory, so restarting the seller resets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2" name="Image 0" descr="/Users/adithyaganesh/MOI-Webinars/.claude/worktrees/relaxed-mccarthy-368dbc/session-7/deck/assets/moi-mark.png">    </p:cNvPr>
          <p:cNvPicPr>
            <a:picLocks noChangeAspect="1"/>
          </p:cNvPicPr>
          <p:nvPr/>
        </p:nvPicPr>
        <p:blipFill>
          <a:blip r:embed="rId1"/>
          <a:stretch>
            <a:fillRect/>
          </a:stretch>
        </p:blipFill>
        <p:spPr>
          <a:xfrm>
            <a:off x="822960" y="1417320"/>
            <a:ext cx="566928" cy="566928"/>
          </a:xfrm>
          <a:prstGeom prst="rect">
            <a:avLst/>
          </a:prstGeom>
        </p:spPr>
      </p:pic>
      <p:sp>
        <p:nvSpPr>
          <p:cNvPr id="3" name="Text 0"/>
          <p:cNvSpPr/>
          <p:nvPr/>
        </p:nvSpPr>
        <p:spPr>
          <a:xfrm>
            <a:off x="822960" y="2212848"/>
            <a:ext cx="7315200" cy="274320"/>
          </a:xfrm>
          <a:prstGeom prst="rect">
            <a:avLst/>
          </a:prstGeom>
          <a:noFill/>
          <a:ln/>
        </p:spPr>
        <p:txBody>
          <a:bodyPr wrap="square" lIns="0" tIns="0" rIns="0" bIns="0" rtlCol="0" anchor="ctr"/>
          <a:lstStyle/>
          <a:p>
            <a:pPr indent="0" marL="0">
              <a:buNone/>
            </a:pPr>
            <a:r>
              <a:rPr lang="en-US" sz="1200" b="1" spc="220" kern="0" dirty="0">
                <a:solidFill>
                  <a:srgbClr val="8B8AF0"/>
                </a:solidFill>
                <a:latin typeface="JetBrains Mono" pitchFamily="34" charset="0"/>
                <a:ea typeface="JetBrains Mono" pitchFamily="34" charset="-122"/>
                <a:cs typeface="JetBrains Mono" pitchFamily="34" charset="-120"/>
              </a:rPr>
              <a:t>MOI BUILDERS · SESSION 07</a:t>
            </a:r>
            <a:endParaRPr lang="en-US" sz="1200" dirty="0"/>
          </a:p>
        </p:txBody>
      </p:sp>
      <p:sp>
        <p:nvSpPr>
          <p:cNvPr id="4" name="Text 1"/>
          <p:cNvSpPr/>
          <p:nvPr/>
        </p:nvSpPr>
        <p:spPr>
          <a:xfrm>
            <a:off x="822960" y="2670048"/>
            <a:ext cx="8229600" cy="1737360"/>
          </a:xfrm>
          <a:prstGeom prst="rect">
            <a:avLst/>
          </a:prstGeom>
          <a:noFill/>
          <a:ln/>
        </p:spPr>
        <p:txBody>
          <a:bodyPr wrap="square" lIns="0" tIns="0" rIns="0" bIns="0" rtlCol="0" anchor="ctr"/>
          <a:lstStyle/>
          <a:p>
            <a:pPr indent="0" marL="0">
              <a:lnSpc>
                <a:spcPct val="98000"/>
              </a:lnSpc>
              <a:buNone/>
            </a:pPr>
            <a:r>
              <a:rPr lang="en-US" sz="6000" b="1" dirty="0">
                <a:solidFill>
                  <a:srgbClr val="FFFFFF"/>
                </a:solidFill>
                <a:latin typeface="Inter" pitchFamily="34" charset="0"/>
                <a:ea typeface="Inter" pitchFamily="34" charset="-122"/>
                <a:cs typeface="Inter" pitchFamily="34" charset="-120"/>
              </a:rPr>
              <a:t>Agentic</a:t>
            </a:r>
            <a:endParaRPr lang="en-US" sz="6000" dirty="0"/>
          </a:p>
          <a:p>
            <a:pPr indent="0" marL="0">
              <a:lnSpc>
                <a:spcPct val="98000"/>
              </a:lnSpc>
              <a:buNone/>
            </a:pPr>
            <a:r>
              <a:rPr lang="en-US" sz="6000" b="1" dirty="0">
                <a:solidFill>
                  <a:srgbClr val="FFFFFF"/>
                </a:solidFill>
                <a:latin typeface="Inter" pitchFamily="34" charset="0"/>
                <a:ea typeface="Inter" pitchFamily="34" charset="-122"/>
                <a:cs typeface="Inter" pitchFamily="34" charset="-120"/>
              </a:rPr>
              <a:t>Payments</a:t>
            </a:r>
            <a:endParaRPr lang="en-US" sz="6000" dirty="0"/>
          </a:p>
        </p:txBody>
      </p:sp>
      <p:sp>
        <p:nvSpPr>
          <p:cNvPr id="5" name="Text 2"/>
          <p:cNvSpPr/>
          <p:nvPr/>
        </p:nvSpPr>
        <p:spPr>
          <a:xfrm>
            <a:off x="822960" y="4553712"/>
            <a:ext cx="7863840" cy="786384"/>
          </a:xfrm>
          <a:prstGeom prst="rect">
            <a:avLst/>
          </a:prstGeom>
          <a:noFill/>
          <a:ln/>
        </p:spPr>
        <p:txBody>
          <a:bodyPr wrap="square" lIns="0" tIns="0" rIns="0" bIns="0" rtlCol="0" anchor="ctr"/>
          <a:lstStyle/>
          <a:p>
            <a:pPr indent="0" marL="0">
              <a:lnSpc>
                <a:spcPct val="140000"/>
              </a:lnSpc>
              <a:buNone/>
            </a:pPr>
            <a:r>
              <a:rPr lang="en-US" sz="1500" dirty="0">
                <a:solidFill>
                  <a:srgbClr val="B9BECD"/>
                </a:solidFill>
                <a:latin typeface="Inter" pitchFamily="34" charset="0"/>
                <a:ea typeface="Inter" pitchFamily="34" charset="-122"/>
                <a:cs typeface="Inter" pitchFamily="34" charset="-120"/>
              </a:rPr>
              <a:t>An agent finds another agent on MOI — and pays it.</a:t>
            </a:r>
            <a:endParaRPr lang="en-US" sz="1500" dirty="0"/>
          </a:p>
          <a:p>
            <a:pPr indent="0" marL="0">
              <a:lnSpc>
                <a:spcPct val="140000"/>
              </a:lnSpc>
              <a:buNone/>
            </a:pPr>
            <a:r>
              <a:rPr lang="en-US" sz="1500" dirty="0">
                <a:solidFill>
                  <a:srgbClr val="B9BECD"/>
                </a:solidFill>
                <a:latin typeface="Inter" pitchFamily="34" charset="0"/>
                <a:ea typeface="Inter" pitchFamily="34" charset="-122"/>
                <a:cs typeface="Inter" pitchFamily="34" charset="-120"/>
              </a:rPr>
              <a:t>No human, no account, no API key.</a:t>
            </a:r>
            <a:endParaRPr lang="en-US" sz="1500" dirty="0"/>
          </a:p>
        </p:txBody>
      </p:sp>
      <p:sp>
        <p:nvSpPr>
          <p:cNvPr id="6" name="Text 3"/>
          <p:cNvSpPr/>
          <p:nvPr/>
        </p:nvSpPr>
        <p:spPr>
          <a:xfrm>
            <a:off x="822960" y="5532120"/>
            <a:ext cx="5486400" cy="256032"/>
          </a:xfrm>
          <a:prstGeom prst="rect">
            <a:avLst/>
          </a:prstGeom>
          <a:noFill/>
          <a:ln/>
        </p:spPr>
        <p:txBody>
          <a:bodyPr wrap="square" lIns="0" tIns="0" rIns="0" bIns="0" rtlCol="0" anchor="ctr"/>
          <a:lstStyle/>
          <a:p>
            <a:pPr indent="0" marL="0">
              <a:buNone/>
            </a:pPr>
            <a:r>
              <a:rPr lang="en-US" sz="1050" spc="160" kern="0" dirty="0">
                <a:solidFill>
                  <a:srgbClr val="6B7280"/>
                </a:solidFill>
                <a:latin typeface="JetBrains Mono" pitchFamily="34" charset="0"/>
                <a:ea typeface="JetBrains Mono" pitchFamily="34" charset="-122"/>
                <a:cs typeface="JetBrains Mono" pitchFamily="34" charset="-120"/>
              </a:rPr>
              <a:t>PART 1 OF 3 · IDENTITY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02</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THE SETUP</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02 / 8</a:t>
            </a:r>
            <a:endParaRPr lang="en-US" sz="850" dirty="0"/>
          </a:p>
        </p:txBody>
      </p:sp>
      <p:sp>
        <p:nvSpPr>
          <p:cNvPr id="6" name="Text 4"/>
          <p:cNvSpPr/>
          <p:nvPr/>
        </p:nvSpPr>
        <p:spPr>
          <a:xfrm>
            <a:off x="822960" y="932688"/>
            <a:ext cx="10543032" cy="731520"/>
          </a:xfrm>
          <a:prstGeom prst="rect">
            <a:avLst/>
          </a:prstGeom>
          <a:noFill/>
          <a:ln/>
        </p:spPr>
        <p:txBody>
          <a:bodyPr wrap="square" lIns="0" tIns="0" rIns="0" bIns="0" rtlCol="0" anchor="ctr"/>
          <a:lstStyle/>
          <a:p>
            <a:pPr indent="0" marL="0">
              <a:lnSpc>
                <a:spcPct val="108000"/>
              </a:lnSpc>
              <a:buNone/>
            </a:pPr>
            <a:r>
              <a:rPr lang="en-US" sz="3300" b="1" dirty="0">
                <a:solidFill>
                  <a:srgbClr val="0E1116"/>
                </a:solidFill>
                <a:latin typeface="Inter" pitchFamily="34" charset="0"/>
                <a:ea typeface="Inter" pitchFamily="34" charset="-122"/>
                <a:cs typeface="Inter" pitchFamily="34" charset="-120"/>
              </a:rPr>
              <a:t>Two agents that have never met</a:t>
            </a:r>
            <a:endParaRPr lang="en-US" sz="3300" dirty="0"/>
          </a:p>
        </p:txBody>
      </p:sp>
      <p:sp>
        <p:nvSpPr>
          <p:cNvPr id="7" name="Text 5"/>
          <p:cNvSpPr/>
          <p:nvPr/>
        </p:nvSpPr>
        <p:spPr>
          <a:xfrm>
            <a:off x="822960" y="1719072"/>
            <a:ext cx="9875520" cy="676656"/>
          </a:xfrm>
          <a:prstGeom prst="rect">
            <a:avLst/>
          </a:prstGeom>
          <a:noFill/>
          <a:ln/>
        </p:spPr>
        <p:txBody>
          <a:bodyPr wrap="square" lIns="0" tIns="0" rIns="0" bIns="0" rtlCol="0" anchor="ctr"/>
          <a:lstStyle/>
          <a:p>
            <a:pPr indent="0" marL="0">
              <a:lnSpc>
                <a:spcPct val="142000"/>
              </a:lnSpc>
              <a:buNone/>
            </a:pPr>
            <a:r>
              <a:rPr lang="en-US" sz="1350" dirty="0">
                <a:solidFill>
                  <a:srgbClr val="5B6170"/>
                </a:solidFill>
                <a:latin typeface="Inter" pitchFamily="34" charset="0"/>
                <a:ea typeface="Inter" pitchFamily="34" charset="-122"/>
                <a:cs typeface="Inter" pitchFamily="34" charset="-120"/>
              </a:rPr>
              <a:t>One needs an answer. One sells them. Neither was told the other exists.</a:t>
            </a:r>
            <a:endParaRPr lang="en-US" sz="1350" dirty="0"/>
          </a:p>
        </p:txBody>
      </p:sp>
      <p:sp>
        <p:nvSpPr>
          <p:cNvPr id="8" name="Shape 6"/>
          <p:cNvSpPr/>
          <p:nvPr/>
        </p:nvSpPr>
        <p:spPr>
          <a:xfrm>
            <a:off x="822960" y="2560320"/>
            <a:ext cx="4160520" cy="2212848"/>
          </a:xfrm>
          <a:prstGeom prst="roundRect">
            <a:avLst>
              <a:gd name="adj" fmla="val 2066"/>
            </a:avLst>
          </a:prstGeom>
          <a:solidFill>
            <a:srgbClr val="EEF0FB"/>
          </a:solidFill>
          <a:ln w="12700">
            <a:solidFill>
              <a:srgbClr val="C9CBF0"/>
            </a:solidFill>
            <a:prstDash val="solid"/>
          </a:ln>
        </p:spPr>
      </p:sp>
      <p:sp>
        <p:nvSpPr>
          <p:cNvPr id="9" name="Text 7"/>
          <p:cNvSpPr/>
          <p:nvPr/>
        </p:nvSpPr>
        <p:spPr>
          <a:xfrm>
            <a:off x="1133856" y="2779776"/>
            <a:ext cx="1828800"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BUYER</a:t>
            </a:r>
            <a:endParaRPr lang="en-US" sz="1000" dirty="0"/>
          </a:p>
        </p:txBody>
      </p:sp>
      <p:sp>
        <p:nvSpPr>
          <p:cNvPr id="10" name="Text 8"/>
          <p:cNvSpPr/>
          <p:nvPr/>
        </p:nvSpPr>
        <p:spPr>
          <a:xfrm>
            <a:off x="1133856" y="3054096"/>
            <a:ext cx="3538728" cy="365760"/>
          </a:xfrm>
          <a:prstGeom prst="rect">
            <a:avLst/>
          </a:prstGeom>
          <a:noFill/>
          <a:ln/>
        </p:spPr>
        <p:txBody>
          <a:bodyPr wrap="square" lIns="0" tIns="0" rIns="0" bIns="0" rtlCol="0" anchor="ctr"/>
          <a:lstStyle/>
          <a:p>
            <a:pPr indent="0" marL="0">
              <a:buNone/>
            </a:pPr>
            <a:r>
              <a:rPr lang="en-US" sz="2000" b="1" dirty="0">
                <a:solidFill>
                  <a:srgbClr val="0E1116"/>
                </a:solidFill>
                <a:latin typeface="Inter" pitchFamily="34" charset="0"/>
                <a:ea typeface="Inter" pitchFamily="34" charset="-122"/>
                <a:cs typeface="Inter" pitchFamily="34" charset="-120"/>
              </a:rPr>
              <a:t>Risk Agent</a:t>
            </a:r>
            <a:endParaRPr lang="en-US" sz="2000" dirty="0"/>
          </a:p>
        </p:txBody>
      </p:sp>
      <p:sp>
        <p:nvSpPr>
          <p:cNvPr id="11" name="Text 9"/>
          <p:cNvSpPr/>
          <p:nvPr/>
        </p:nvSpPr>
        <p:spPr>
          <a:xfrm>
            <a:off x="1133856" y="3474720"/>
            <a:ext cx="3538728" cy="859536"/>
          </a:xfrm>
          <a:prstGeom prst="rect">
            <a:avLst/>
          </a:prstGeom>
          <a:noFill/>
          <a:ln/>
        </p:spPr>
        <p:txBody>
          <a:bodyPr wrap="square" lIns="0" tIns="0" rIns="0" bIns="0" rtlCol="0" anchor="ctr"/>
          <a:lstStyle/>
          <a:p>
            <a:pPr indent="0" marL="0">
              <a:lnSpc>
                <a:spcPct val="130000"/>
              </a:lnSpc>
              <a:spcAft>
                <a:spcPts val="300"/>
              </a:spcAft>
              <a:buNone/>
            </a:pPr>
            <a:r>
              <a:rPr lang="en-US" sz="1150" dirty="0">
                <a:solidFill>
                  <a:srgbClr val="5B6170"/>
                </a:solidFill>
                <a:latin typeface="Inter" pitchFamily="34" charset="0"/>
                <a:ea typeface="Inter" pitchFamily="34" charset="-122"/>
                <a:cs typeface="Inter" pitchFamily="34" charset="-120"/>
              </a:rPr>
              <a:t>Has a question it cannot answer itself.</a:t>
            </a:r>
            <a:endParaRPr lang="en-US" sz="1150" dirty="0"/>
          </a:p>
          <a:p>
            <a:pPr marL="342900" indent="-342900">
              <a:lnSpc>
                <a:spcPct val="130000"/>
              </a:lnSpc>
              <a:spcAft>
                <a:spcPts val="300"/>
              </a:spcAft>
              <a:buSzPct val="100000"/>
              <a:buChar char="•"/>
            </a:pPr>
            <a:r>
              <a:rPr lang="en-US" sz="1150" dirty="0">
                <a:solidFill>
                  <a:srgbClr val="5B6170"/>
                </a:solidFill>
                <a:latin typeface="Inter" pitchFamily="34" charset="0"/>
                <a:ea typeface="Inter" pitchFamily="34" charset="-122"/>
                <a:cs typeface="Inter" pitchFamily="34" charset="-120"/>
              </a:rPr>
              <a:t>Decides which market answers it</a:t>
            </a:r>
            <a:endParaRPr lang="en-US" sz="1150" dirty="0"/>
          </a:p>
          <a:p>
            <a:pPr marL="342900" indent="-342900">
              <a:lnSpc>
                <a:spcPct val="130000"/>
              </a:lnSpc>
              <a:spcAft>
                <a:spcPts val="300"/>
              </a:spcAft>
              <a:buSzPct val="100000"/>
              <a:buChar char="•"/>
            </a:pPr>
            <a:r>
              <a:rPr lang="en-US" sz="1150" dirty="0">
                <a:solidFill>
                  <a:srgbClr val="5B6170"/>
                </a:solidFill>
                <a:latin typeface="Inter" pitchFamily="34" charset="0"/>
                <a:ea typeface="Inter" pitchFamily="34" charset="-122"/>
                <a:cs typeface="Inter" pitchFamily="34" charset="-120"/>
              </a:rPr>
              <a:t>Decides whether the price is worth paying</a:t>
            </a:r>
            <a:endParaRPr lang="en-US" sz="1150" dirty="0"/>
          </a:p>
        </p:txBody>
      </p:sp>
      <p:sp>
        <p:nvSpPr>
          <p:cNvPr id="12" name="Text 10"/>
          <p:cNvSpPr/>
          <p:nvPr/>
        </p:nvSpPr>
        <p:spPr>
          <a:xfrm>
            <a:off x="1133856" y="4407408"/>
            <a:ext cx="3538728" cy="256032"/>
          </a:xfrm>
          <a:prstGeom prst="rect">
            <a:avLst/>
          </a:prstGeom>
          <a:noFill/>
          <a:ln/>
        </p:spPr>
        <p:txBody>
          <a:bodyPr wrap="square" lIns="0" tIns="0" rIns="0" bIns="0" rtlCol="0" anchor="ctr"/>
          <a:lstStyle/>
          <a:p>
            <a:pPr indent="0" marL="0">
              <a:buNone/>
            </a:pPr>
            <a:r>
              <a:rPr lang="en-US" sz="950" dirty="0">
                <a:solidFill>
                  <a:srgbClr val="9AA0AE"/>
                </a:solidFill>
                <a:latin typeface="JetBrains Mono" pitchFamily="34" charset="0"/>
                <a:ea typeface="JetBrains Mono" pitchFamily="34" charset="-122"/>
                <a:cs typeface="JetBrains Mono" pitchFamily="34" charset="-120"/>
              </a:rPr>
              <a:t>0x…8ef2c197…   holds the funds</a:t>
            </a:r>
            <a:endParaRPr lang="en-US" sz="950" dirty="0"/>
          </a:p>
        </p:txBody>
      </p:sp>
      <p:sp>
        <p:nvSpPr>
          <p:cNvPr id="13" name="Shape 11"/>
          <p:cNvSpPr/>
          <p:nvPr/>
        </p:nvSpPr>
        <p:spPr>
          <a:xfrm>
            <a:off x="7205472" y="2560320"/>
            <a:ext cx="4160520" cy="2212848"/>
          </a:xfrm>
          <a:prstGeom prst="roundRect">
            <a:avLst>
              <a:gd name="adj" fmla="val 2066"/>
            </a:avLst>
          </a:prstGeom>
          <a:solidFill>
            <a:srgbClr val="F4F4F8"/>
          </a:solidFill>
          <a:ln w="12700">
            <a:solidFill>
              <a:srgbClr val="E4E5EC"/>
            </a:solidFill>
            <a:prstDash val="solid"/>
          </a:ln>
        </p:spPr>
      </p:sp>
      <p:sp>
        <p:nvSpPr>
          <p:cNvPr id="14" name="Text 12"/>
          <p:cNvSpPr/>
          <p:nvPr/>
        </p:nvSpPr>
        <p:spPr>
          <a:xfrm>
            <a:off x="7516368" y="2779776"/>
            <a:ext cx="1828800"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SELLER</a:t>
            </a:r>
            <a:endParaRPr lang="en-US" sz="1000" dirty="0"/>
          </a:p>
        </p:txBody>
      </p:sp>
      <p:sp>
        <p:nvSpPr>
          <p:cNvPr id="15" name="Text 13"/>
          <p:cNvSpPr/>
          <p:nvPr/>
        </p:nvSpPr>
        <p:spPr>
          <a:xfrm>
            <a:off x="7516368" y="3054096"/>
            <a:ext cx="3538728" cy="365760"/>
          </a:xfrm>
          <a:prstGeom prst="rect">
            <a:avLst/>
          </a:prstGeom>
          <a:noFill/>
          <a:ln/>
        </p:spPr>
        <p:txBody>
          <a:bodyPr wrap="square" lIns="0" tIns="0" rIns="0" bIns="0" rtlCol="0" anchor="ctr"/>
          <a:lstStyle/>
          <a:p>
            <a:pPr indent="0" marL="0">
              <a:buNone/>
            </a:pPr>
            <a:r>
              <a:rPr lang="en-US" sz="2000" b="1" dirty="0">
                <a:solidFill>
                  <a:srgbClr val="0E1116"/>
                </a:solidFill>
                <a:latin typeface="Inter" pitchFamily="34" charset="0"/>
                <a:ea typeface="Inter" pitchFamily="34" charset="-122"/>
                <a:cs typeface="Inter" pitchFamily="34" charset="-120"/>
              </a:rPr>
              <a:t>Signal Desk</a:t>
            </a:r>
            <a:endParaRPr lang="en-US" sz="2000" dirty="0"/>
          </a:p>
        </p:txBody>
      </p:sp>
      <p:sp>
        <p:nvSpPr>
          <p:cNvPr id="16" name="Text 14"/>
          <p:cNvSpPr/>
          <p:nvPr/>
        </p:nvSpPr>
        <p:spPr>
          <a:xfrm>
            <a:off x="7516368" y="3474720"/>
            <a:ext cx="3538728" cy="859536"/>
          </a:xfrm>
          <a:prstGeom prst="rect">
            <a:avLst/>
          </a:prstGeom>
          <a:noFill/>
          <a:ln/>
        </p:spPr>
        <p:txBody>
          <a:bodyPr wrap="square" lIns="0" tIns="0" rIns="0" bIns="0" rtlCol="0" anchor="ctr"/>
          <a:lstStyle/>
          <a:p>
            <a:pPr indent="0" marL="0">
              <a:lnSpc>
                <a:spcPct val="130000"/>
              </a:lnSpc>
              <a:spcAft>
                <a:spcPts val="300"/>
              </a:spcAft>
              <a:buNone/>
            </a:pPr>
            <a:r>
              <a:rPr lang="en-US" sz="1150" dirty="0">
                <a:solidFill>
                  <a:srgbClr val="5B6170"/>
                </a:solidFill>
                <a:latin typeface="Inter" pitchFamily="34" charset="0"/>
                <a:ea typeface="Inter" pitchFamily="34" charset="-122"/>
                <a:cs typeface="Inter" pitchFamily="34" charset="-120"/>
              </a:rPr>
              <a:t>Sells probability estimates on bitcoin.</a:t>
            </a:r>
            <a:endParaRPr lang="en-US" sz="1150" dirty="0"/>
          </a:p>
          <a:p>
            <a:pPr marL="342900" indent="-342900">
              <a:lnSpc>
                <a:spcPct val="130000"/>
              </a:lnSpc>
              <a:spcAft>
                <a:spcPts val="300"/>
              </a:spcAft>
              <a:buSzPct val="100000"/>
              <a:buChar char="•"/>
            </a:pPr>
            <a:r>
              <a:rPr lang="en-US" sz="1150" dirty="0">
                <a:solidFill>
                  <a:srgbClr val="5B6170"/>
                </a:solidFill>
                <a:latin typeface="Inter" pitchFamily="34" charset="0"/>
                <a:ea typeface="Inter" pitchFamily="34" charset="-122"/>
                <a:cs typeface="Inter" pitchFamily="34" charset="-120"/>
              </a:rPr>
              <a:t>Decides what to charge, per request</a:t>
            </a:r>
            <a:endParaRPr lang="en-US" sz="1150" dirty="0"/>
          </a:p>
          <a:p>
            <a:pPr marL="342900" indent="-342900">
              <a:lnSpc>
                <a:spcPct val="130000"/>
              </a:lnSpc>
              <a:spcAft>
                <a:spcPts val="300"/>
              </a:spcAft>
              <a:buSzPct val="100000"/>
              <a:buChar char="•"/>
            </a:pPr>
            <a:r>
              <a:rPr lang="en-US" sz="1150" dirty="0">
                <a:solidFill>
                  <a:srgbClr val="5B6170"/>
                </a:solidFill>
                <a:latin typeface="Inter" pitchFamily="34" charset="0"/>
                <a:ea typeface="Inter" pitchFamily="34" charset="-122"/>
                <a:cs typeface="Inter" pitchFamily="34" charset="-120"/>
              </a:rPr>
              <a:t>Can decline the sale</a:t>
            </a:r>
            <a:endParaRPr lang="en-US" sz="1150" dirty="0"/>
          </a:p>
        </p:txBody>
      </p:sp>
      <p:sp>
        <p:nvSpPr>
          <p:cNvPr id="17" name="Text 15"/>
          <p:cNvSpPr/>
          <p:nvPr/>
        </p:nvSpPr>
        <p:spPr>
          <a:xfrm>
            <a:off x="7516368" y="4407408"/>
            <a:ext cx="3538728" cy="256032"/>
          </a:xfrm>
          <a:prstGeom prst="rect">
            <a:avLst/>
          </a:prstGeom>
          <a:noFill/>
          <a:ln/>
        </p:spPr>
        <p:txBody>
          <a:bodyPr wrap="square" lIns="0" tIns="0" rIns="0" bIns="0" rtlCol="0" anchor="ctr"/>
          <a:lstStyle/>
          <a:p>
            <a:pPr indent="0" marL="0">
              <a:buNone/>
            </a:pPr>
            <a:r>
              <a:rPr lang="en-US" sz="950" dirty="0">
                <a:solidFill>
                  <a:srgbClr val="9AA0AE"/>
                </a:solidFill>
                <a:latin typeface="JetBrains Mono" pitchFamily="34" charset="0"/>
                <a:ea typeface="JetBrains Mono" pitchFamily="34" charset="-122"/>
                <a:cs typeface="JetBrains Mono" pitchFamily="34" charset="-120"/>
              </a:rPr>
              <a:t>0x…1d2f8c28…   receive-only</a:t>
            </a:r>
            <a:endParaRPr lang="en-US" sz="950" dirty="0"/>
          </a:p>
        </p:txBody>
      </p:sp>
      <p:sp>
        <p:nvSpPr>
          <p:cNvPr id="18" name="Shape 16"/>
          <p:cNvSpPr/>
          <p:nvPr/>
        </p:nvSpPr>
        <p:spPr>
          <a:xfrm>
            <a:off x="5148072" y="3438144"/>
            <a:ext cx="1892808" cy="0"/>
          </a:xfrm>
          <a:prstGeom prst="line">
            <a:avLst/>
          </a:prstGeom>
          <a:noFill/>
          <a:ln w="19050">
            <a:solidFill>
              <a:srgbClr val="C9CBF0"/>
            </a:solidFill>
            <a:prstDash val="dash"/>
          </a:ln>
        </p:spPr>
      </p:sp>
      <p:sp>
        <p:nvSpPr>
          <p:cNvPr id="19" name="Text 17"/>
          <p:cNvSpPr/>
          <p:nvPr/>
        </p:nvSpPr>
        <p:spPr>
          <a:xfrm>
            <a:off x="4983480" y="3108960"/>
            <a:ext cx="2221992" cy="384048"/>
          </a:xfrm>
          <a:prstGeom prst="rect">
            <a:avLst/>
          </a:prstGeom>
          <a:noFill/>
          <a:ln/>
        </p:spPr>
        <p:txBody>
          <a:bodyPr wrap="square" lIns="0" tIns="0" rIns="0" bIns="0" rtlCol="0" anchor="ctr"/>
          <a:lstStyle/>
          <a:p>
            <a:pPr algn="ctr" indent="0" marL="0">
              <a:buNone/>
            </a:pPr>
            <a:r>
              <a:rPr lang="en-US" sz="1900" b="1" dirty="0">
                <a:solidFill>
                  <a:srgbClr val="D6336C"/>
                </a:solidFill>
                <a:latin typeface="Inter" pitchFamily="34" charset="0"/>
                <a:ea typeface="Inter" pitchFamily="34" charset="-122"/>
                <a:cs typeface="Inter" pitchFamily="34" charset="-120"/>
              </a:rPr>
              <a:t>✕</a:t>
            </a:r>
            <a:endParaRPr lang="en-US" sz="1900" dirty="0"/>
          </a:p>
        </p:txBody>
      </p:sp>
      <p:sp>
        <p:nvSpPr>
          <p:cNvPr id="20" name="Text 18"/>
          <p:cNvSpPr/>
          <p:nvPr/>
        </p:nvSpPr>
        <p:spPr>
          <a:xfrm>
            <a:off x="4892040" y="3639312"/>
            <a:ext cx="2404872" cy="786384"/>
          </a:xfrm>
          <a:prstGeom prst="rect">
            <a:avLst/>
          </a:prstGeom>
          <a:noFill/>
          <a:ln/>
        </p:spPr>
        <p:txBody>
          <a:bodyPr wrap="square" lIns="0" tIns="0" rIns="0" bIns="0" rtlCol="0" anchor="ctr"/>
          <a:lstStyle/>
          <a:p>
            <a:pPr algn="ctr" indent="0" marL="0">
              <a:lnSpc>
                <a:spcPct val="134000"/>
              </a:lnSpc>
              <a:buNone/>
            </a:pPr>
            <a:r>
              <a:rPr lang="en-US" sz="950" dirty="0">
                <a:solidFill>
                  <a:srgbClr val="9AA0AE"/>
                </a:solidFill>
                <a:latin typeface="JetBrains Mono" pitchFamily="34" charset="0"/>
                <a:ea typeface="JetBrains Mono" pitchFamily="34" charset="-122"/>
                <a:cs typeface="JetBrains Mono" pitchFamily="34" charset="-120"/>
              </a:rPr>
              <a:t>no account</a:t>
            </a:r>
            <a:endParaRPr lang="en-US" sz="950" dirty="0"/>
          </a:p>
          <a:p>
            <a:pPr algn="ctr" indent="0" marL="0">
              <a:lnSpc>
                <a:spcPct val="134000"/>
              </a:lnSpc>
              <a:buNone/>
            </a:pPr>
            <a:r>
              <a:rPr lang="en-US" sz="950" dirty="0">
                <a:solidFill>
                  <a:srgbClr val="9AA0AE"/>
                </a:solidFill>
                <a:latin typeface="JetBrains Mono" pitchFamily="34" charset="0"/>
                <a:ea typeface="JetBrains Mono" pitchFamily="34" charset="-122"/>
                <a:cs typeface="JetBrains Mono" pitchFamily="34" charset="-120"/>
              </a:rPr>
              <a:t>no API key</a:t>
            </a:r>
            <a:endParaRPr lang="en-US" sz="950" dirty="0"/>
          </a:p>
          <a:p>
            <a:pPr algn="ctr" indent="0" marL="0">
              <a:lnSpc>
                <a:spcPct val="134000"/>
              </a:lnSpc>
              <a:buNone/>
            </a:pPr>
            <a:r>
              <a:rPr lang="en-US" sz="950" dirty="0">
                <a:solidFill>
                  <a:srgbClr val="9AA0AE"/>
                </a:solidFill>
                <a:latin typeface="JetBrains Mono" pitchFamily="34" charset="0"/>
                <a:ea typeface="JetBrains Mono" pitchFamily="34" charset="-122"/>
                <a:cs typeface="JetBrains Mono" pitchFamily="34" charset="-120"/>
              </a:rPr>
              <a:t>no prior contact</a:t>
            </a:r>
            <a:endParaRPr lang="en-US" sz="950" dirty="0"/>
          </a:p>
        </p:txBody>
      </p:sp>
      <p:sp>
        <p:nvSpPr>
          <p:cNvPr id="21" name="Shape 19"/>
          <p:cNvSpPr/>
          <p:nvPr/>
        </p:nvSpPr>
        <p:spPr>
          <a:xfrm>
            <a:off x="822960" y="5084064"/>
            <a:ext cx="10543032" cy="969264"/>
          </a:xfrm>
          <a:prstGeom prst="roundRect">
            <a:avLst>
              <a:gd name="adj" fmla="val 4717"/>
            </a:avLst>
          </a:prstGeom>
          <a:solidFill>
            <a:srgbClr val="0E1116"/>
          </a:solidFill>
          <a:ln w="12700">
            <a:solidFill>
              <a:srgbClr val="0E1116"/>
            </a:solidFill>
            <a:prstDash val="solid"/>
          </a:ln>
        </p:spPr>
      </p:sp>
      <p:sp>
        <p:nvSpPr>
          <p:cNvPr id="22" name="Text 20"/>
          <p:cNvSpPr/>
          <p:nvPr/>
        </p:nvSpPr>
        <p:spPr>
          <a:xfrm>
            <a:off x="1152144" y="5285232"/>
            <a:ext cx="3657600" cy="237744"/>
          </a:xfrm>
          <a:prstGeom prst="rect">
            <a:avLst/>
          </a:prstGeom>
          <a:noFill/>
          <a:ln/>
        </p:spPr>
        <p:txBody>
          <a:bodyPr wrap="square" lIns="0" tIns="0" rIns="0" bIns="0" rtlCol="0" anchor="ctr"/>
          <a:lstStyle/>
          <a:p>
            <a:pPr indent="0" marL="0">
              <a:buNone/>
            </a:pPr>
            <a:r>
              <a:rPr lang="en-US" sz="1000" spc="130" kern="0" dirty="0">
                <a:solidFill>
                  <a:srgbClr val="8B8AF0"/>
                </a:solidFill>
                <a:latin typeface="JetBrains Mono" pitchFamily="34" charset="0"/>
                <a:ea typeface="JetBrains Mono" pitchFamily="34" charset="-122"/>
                <a:cs typeface="JetBrains Mono" pitchFamily="34" charset="-120"/>
              </a:rPr>
              <a:t>MOI VOYAGE DEVNET</a:t>
            </a:r>
            <a:endParaRPr lang="en-US" sz="1000" dirty="0"/>
          </a:p>
        </p:txBody>
      </p:sp>
      <p:sp>
        <p:nvSpPr>
          <p:cNvPr id="23" name="Text 21"/>
          <p:cNvSpPr/>
          <p:nvPr/>
        </p:nvSpPr>
        <p:spPr>
          <a:xfrm>
            <a:off x="1152144" y="5596128"/>
            <a:ext cx="9884664" cy="310896"/>
          </a:xfrm>
          <a:prstGeom prst="rect">
            <a:avLst/>
          </a:prstGeom>
          <a:noFill/>
          <a:ln/>
        </p:spPr>
        <p:txBody>
          <a:bodyPr wrap="square" lIns="0" tIns="0" rIns="0" bIns="0" rtlCol="0" anchor="ctr"/>
          <a:lstStyle/>
          <a:p>
            <a:pPr indent="0" marL="0">
              <a:buNone/>
            </a:pPr>
            <a:r>
              <a:rPr lang="en-US" sz="1200" dirty="0">
                <a:solidFill>
                  <a:srgbClr val="B9BECD"/>
                </a:solidFill>
                <a:latin typeface="Inter" pitchFamily="34" charset="0"/>
                <a:ea typeface="Inter" pitchFamily="34" charset="-122"/>
                <a:cs typeface="Inter" pitchFamily="34" charset="-120"/>
              </a:rPr>
              <a:t>Agent registry — both identities, and the wallet each one registered.   ·   Native MAS0 asset — what actually moves.</a:t>
            </a:r>
            <a:endParaRPr lang="en-US" sz="1200" dirty="0"/>
          </a:p>
        </p:txBody>
      </p:sp>
      <p:sp>
        <p:nvSpPr>
          <p:cNvPr id="24" name="Shape 22"/>
          <p:cNvSpPr/>
          <p:nvPr/>
        </p:nvSpPr>
        <p:spPr>
          <a:xfrm>
            <a:off x="2903220" y="4791456"/>
            <a:ext cx="0" cy="274320"/>
          </a:xfrm>
          <a:prstGeom prst="line">
            <a:avLst/>
          </a:prstGeom>
          <a:noFill/>
          <a:ln w="19050">
            <a:solidFill>
              <a:srgbClr val="C9CBF0"/>
            </a:solidFill>
            <a:prstDash val="solid"/>
            <a:tailEnd type="triangle"/>
          </a:ln>
        </p:spPr>
      </p:sp>
      <p:sp>
        <p:nvSpPr>
          <p:cNvPr id="25" name="Shape 23"/>
          <p:cNvSpPr/>
          <p:nvPr/>
        </p:nvSpPr>
        <p:spPr>
          <a:xfrm>
            <a:off x="9285732" y="4791456"/>
            <a:ext cx="0" cy="274320"/>
          </a:xfrm>
          <a:prstGeom prst="line">
            <a:avLst/>
          </a:prstGeom>
          <a:noFill/>
          <a:ln w="19050">
            <a:solidFill>
              <a:srgbClr val="C9CBF0"/>
            </a:solidFill>
            <a:prstDash val="solid"/>
            <a:tailEnd type="triangle"/>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03</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THE PROBLEM</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03 / 8</a:t>
            </a:r>
            <a:endParaRPr lang="en-US" sz="850" dirty="0"/>
          </a:p>
        </p:txBody>
      </p:sp>
      <p:sp>
        <p:nvSpPr>
          <p:cNvPr id="6" name="Text 4"/>
          <p:cNvSpPr/>
          <p:nvPr/>
        </p:nvSpPr>
        <p:spPr>
          <a:xfrm>
            <a:off x="822960" y="932688"/>
            <a:ext cx="10543032" cy="731520"/>
          </a:xfrm>
          <a:prstGeom prst="rect">
            <a:avLst/>
          </a:prstGeom>
          <a:noFill/>
          <a:ln/>
        </p:spPr>
        <p:txBody>
          <a:bodyPr wrap="square" lIns="0" tIns="0" rIns="0" bIns="0" rtlCol="0" anchor="ctr"/>
          <a:lstStyle/>
          <a:p>
            <a:pPr indent="0" marL="0">
              <a:lnSpc>
                <a:spcPct val="108000"/>
              </a:lnSpc>
              <a:buNone/>
            </a:pPr>
            <a:r>
              <a:rPr lang="en-US" sz="3300" b="1" dirty="0">
                <a:solidFill>
                  <a:srgbClr val="0E1116"/>
                </a:solidFill>
                <a:latin typeface="Inter" pitchFamily="34" charset="0"/>
                <a:ea typeface="Inter" pitchFamily="34" charset="-122"/>
                <a:cs typeface="Inter" pitchFamily="34" charset="-120"/>
              </a:rPr>
              <a:t>Paying a stranger</a:t>
            </a:r>
            <a:endParaRPr lang="en-US" sz="3300" dirty="0"/>
          </a:p>
        </p:txBody>
      </p:sp>
      <p:sp>
        <p:nvSpPr>
          <p:cNvPr id="7" name="Text 5"/>
          <p:cNvSpPr/>
          <p:nvPr/>
        </p:nvSpPr>
        <p:spPr>
          <a:xfrm>
            <a:off x="822960" y="1719072"/>
            <a:ext cx="9875520" cy="676656"/>
          </a:xfrm>
          <a:prstGeom prst="rect">
            <a:avLst/>
          </a:prstGeom>
          <a:noFill/>
          <a:ln/>
        </p:spPr>
        <p:txBody>
          <a:bodyPr wrap="square" lIns="0" tIns="0" rIns="0" bIns="0" rtlCol="0" anchor="ctr"/>
          <a:lstStyle/>
          <a:p>
            <a:pPr indent="0" marL="0">
              <a:lnSpc>
                <a:spcPct val="142000"/>
              </a:lnSpc>
              <a:buNone/>
            </a:pPr>
            <a:r>
              <a:rPr lang="en-US" sz="1350" dirty="0">
                <a:solidFill>
                  <a:srgbClr val="5B6170"/>
                </a:solidFill>
                <a:latin typeface="Inter" pitchFamily="34" charset="0"/>
                <a:ea typeface="Inter" pitchFamily="34" charset="-122"/>
                <a:cs typeface="Inter" pitchFamily="34" charset="-120"/>
              </a:rPr>
              <a:t>A human does three things without noticing. Take the human out and none of them happen by default.</a:t>
            </a:r>
            <a:endParaRPr lang="en-US" sz="1350" dirty="0"/>
          </a:p>
        </p:txBody>
      </p:sp>
      <p:sp>
        <p:nvSpPr>
          <p:cNvPr id="8" name="Shape 6"/>
          <p:cNvSpPr/>
          <p:nvPr/>
        </p:nvSpPr>
        <p:spPr>
          <a:xfrm>
            <a:off x="822960" y="2560320"/>
            <a:ext cx="10543032" cy="969264"/>
          </a:xfrm>
          <a:prstGeom prst="roundRect">
            <a:avLst>
              <a:gd name="adj" fmla="val 4717"/>
            </a:avLst>
          </a:prstGeom>
          <a:solidFill>
            <a:srgbClr val="EEF0FB"/>
          </a:solidFill>
          <a:ln w="12700">
            <a:solidFill>
              <a:srgbClr val="C9CBF0"/>
            </a:solidFill>
            <a:prstDash val="solid"/>
          </a:ln>
        </p:spPr>
      </p:sp>
      <p:sp>
        <p:nvSpPr>
          <p:cNvPr id="9" name="Text 7"/>
          <p:cNvSpPr/>
          <p:nvPr/>
        </p:nvSpPr>
        <p:spPr>
          <a:xfrm>
            <a:off x="1152144" y="2834640"/>
            <a:ext cx="4023360" cy="420624"/>
          </a:xfrm>
          <a:prstGeom prst="rect">
            <a:avLst/>
          </a:prstGeom>
          <a:noFill/>
          <a:ln/>
        </p:spPr>
        <p:txBody>
          <a:bodyPr wrap="square" lIns="0" tIns="0" rIns="0" bIns="0" rtlCol="0" anchor="ctr"/>
          <a:lstStyle/>
          <a:p>
            <a:pPr indent="0" marL="0">
              <a:buNone/>
            </a:pPr>
            <a:r>
              <a:rPr lang="en-US" sz="1400" i="1" dirty="0">
                <a:solidFill>
                  <a:srgbClr val="5B6170"/>
                </a:solidFill>
                <a:latin typeface="Inter" pitchFamily="34" charset="0"/>
                <a:ea typeface="Inter" pitchFamily="34" charset="-122"/>
                <a:cs typeface="Inter" pitchFamily="34" charset="-120"/>
              </a:rPr>
              <a:t>“Does this shop look real?”</a:t>
            </a:r>
            <a:endParaRPr lang="en-US" sz="1400" dirty="0"/>
          </a:p>
        </p:txBody>
      </p:sp>
      <p:sp>
        <p:nvSpPr>
          <p:cNvPr id="10" name="Text 8"/>
          <p:cNvSpPr/>
          <p:nvPr/>
        </p:nvSpPr>
        <p:spPr>
          <a:xfrm>
            <a:off x="5303520" y="2834640"/>
            <a:ext cx="365760" cy="420624"/>
          </a:xfrm>
          <a:prstGeom prst="rect">
            <a:avLst/>
          </a:prstGeom>
          <a:noFill/>
          <a:ln/>
        </p:spPr>
        <p:txBody>
          <a:bodyPr wrap="square" lIns="0" tIns="0" rIns="0" bIns="0" rtlCol="0" anchor="ctr"/>
          <a:lstStyle/>
          <a:p>
            <a:pPr indent="0" marL="0">
              <a:buNone/>
            </a:pPr>
            <a:r>
              <a:rPr lang="en-US" sz="1400" dirty="0">
                <a:solidFill>
                  <a:srgbClr val="9AA0AE"/>
                </a:solidFill>
                <a:latin typeface="Inter" pitchFamily="34" charset="0"/>
                <a:ea typeface="Inter" pitchFamily="34" charset="-122"/>
                <a:cs typeface="Inter" pitchFamily="34" charset="-120"/>
              </a:rPr>
              <a:t>→</a:t>
            </a:r>
            <a:endParaRPr lang="en-US" sz="1400" dirty="0"/>
          </a:p>
        </p:txBody>
      </p:sp>
      <p:sp>
        <p:nvSpPr>
          <p:cNvPr id="11" name="Text 9"/>
          <p:cNvSpPr/>
          <p:nvPr/>
        </p:nvSpPr>
        <p:spPr>
          <a:xfrm>
            <a:off x="5760720" y="2816352"/>
            <a:ext cx="3931920" cy="457200"/>
          </a:xfrm>
          <a:prstGeom prst="rect">
            <a:avLst/>
          </a:prstGeom>
          <a:noFill/>
          <a:ln/>
        </p:spPr>
        <p:txBody>
          <a:bodyPr wrap="square" lIns="0" tIns="0" rIns="0" bIns="0" rtlCol="0" anchor="ctr"/>
          <a:lstStyle/>
          <a:p>
            <a:pPr indent="0" marL="0">
              <a:buNone/>
            </a:pPr>
            <a:r>
              <a:rPr lang="en-US" sz="1400" b="1" dirty="0">
                <a:solidFill>
                  <a:srgbClr val="0E1116"/>
                </a:solidFill>
                <a:latin typeface="Inter" pitchFamily="34" charset="0"/>
                <a:ea typeface="Inter" pitchFamily="34" charset="-122"/>
                <a:cs typeface="Inter" pitchFamily="34" charset="-120"/>
              </a:rPr>
              <a:t>Is payTo really that agent's wallet?</a:t>
            </a:r>
            <a:endParaRPr lang="en-US" sz="1400" dirty="0"/>
          </a:p>
        </p:txBody>
      </p:sp>
      <p:sp>
        <p:nvSpPr>
          <p:cNvPr id="12" name="Text 10"/>
          <p:cNvSpPr/>
          <p:nvPr/>
        </p:nvSpPr>
        <p:spPr>
          <a:xfrm>
            <a:off x="9445752" y="2871216"/>
            <a:ext cx="1591056" cy="274320"/>
          </a:xfrm>
          <a:prstGeom prst="rect">
            <a:avLst/>
          </a:prstGeom>
          <a:noFill/>
          <a:ln/>
        </p:spPr>
        <p:txBody>
          <a:bodyPr wrap="square" lIns="0" tIns="0" rIns="0" bIns="0" rtlCol="0" anchor="ctr"/>
          <a:lstStyle/>
          <a:p>
            <a:pPr algn="r" indent="0" marL="0">
              <a:buNone/>
            </a:pPr>
            <a:r>
              <a:rPr lang="en-US" sz="1000" b="1" spc="130" kern="0" dirty="0">
                <a:solidFill>
                  <a:srgbClr val="3CCB8E"/>
                </a:solidFill>
                <a:latin typeface="JetBrains Mono" pitchFamily="34" charset="0"/>
                <a:ea typeface="JetBrains Mono" pitchFamily="34" charset="-122"/>
                <a:cs typeface="JetBrains Mono" pitchFamily="34" charset="-120"/>
              </a:rPr>
              <a:t>TODAY</a:t>
            </a:r>
            <a:endParaRPr lang="en-US" sz="1000" dirty="0"/>
          </a:p>
        </p:txBody>
      </p:sp>
      <p:sp>
        <p:nvSpPr>
          <p:cNvPr id="13" name="Shape 11"/>
          <p:cNvSpPr/>
          <p:nvPr/>
        </p:nvSpPr>
        <p:spPr>
          <a:xfrm>
            <a:off x="822960" y="3694176"/>
            <a:ext cx="10543032" cy="969264"/>
          </a:xfrm>
          <a:prstGeom prst="roundRect">
            <a:avLst>
              <a:gd name="adj" fmla="val 4717"/>
            </a:avLst>
          </a:prstGeom>
          <a:solidFill>
            <a:srgbClr val="F4F4F8"/>
          </a:solidFill>
          <a:ln w="12700">
            <a:solidFill>
              <a:srgbClr val="E4E5EC"/>
            </a:solidFill>
            <a:prstDash val="solid"/>
          </a:ln>
        </p:spPr>
      </p:sp>
      <p:sp>
        <p:nvSpPr>
          <p:cNvPr id="14" name="Text 12"/>
          <p:cNvSpPr/>
          <p:nvPr/>
        </p:nvSpPr>
        <p:spPr>
          <a:xfrm>
            <a:off x="1152144" y="3968496"/>
            <a:ext cx="4023360" cy="420624"/>
          </a:xfrm>
          <a:prstGeom prst="rect">
            <a:avLst/>
          </a:prstGeom>
          <a:noFill/>
          <a:ln/>
        </p:spPr>
        <p:txBody>
          <a:bodyPr wrap="square" lIns="0" tIns="0" rIns="0" bIns="0" rtlCol="0" anchor="ctr"/>
          <a:lstStyle/>
          <a:p>
            <a:pPr indent="0" marL="0">
              <a:buNone/>
            </a:pPr>
            <a:r>
              <a:rPr lang="en-US" sz="1400" i="1" dirty="0">
                <a:solidFill>
                  <a:srgbClr val="5B6170"/>
                </a:solidFill>
                <a:latin typeface="Inter" pitchFamily="34" charset="0"/>
                <a:ea typeface="Inter" pitchFamily="34" charset="-122"/>
                <a:cs typeface="Inter" pitchFamily="34" charset="-120"/>
              </a:rPr>
              <a:t>“I'm not spending more than X.”</a:t>
            </a:r>
            <a:endParaRPr lang="en-US" sz="1400" dirty="0"/>
          </a:p>
        </p:txBody>
      </p:sp>
      <p:sp>
        <p:nvSpPr>
          <p:cNvPr id="15" name="Text 13"/>
          <p:cNvSpPr/>
          <p:nvPr/>
        </p:nvSpPr>
        <p:spPr>
          <a:xfrm>
            <a:off x="5303520" y="3968496"/>
            <a:ext cx="365760" cy="420624"/>
          </a:xfrm>
          <a:prstGeom prst="rect">
            <a:avLst/>
          </a:prstGeom>
          <a:noFill/>
          <a:ln/>
        </p:spPr>
        <p:txBody>
          <a:bodyPr wrap="square" lIns="0" tIns="0" rIns="0" bIns="0" rtlCol="0" anchor="ctr"/>
          <a:lstStyle/>
          <a:p>
            <a:pPr indent="0" marL="0">
              <a:buNone/>
            </a:pPr>
            <a:r>
              <a:rPr lang="en-US" sz="1400" dirty="0">
                <a:solidFill>
                  <a:srgbClr val="9AA0AE"/>
                </a:solidFill>
                <a:latin typeface="Inter" pitchFamily="34" charset="0"/>
                <a:ea typeface="Inter" pitchFamily="34" charset="-122"/>
                <a:cs typeface="Inter" pitchFamily="34" charset="-120"/>
              </a:rPr>
              <a:t>→</a:t>
            </a:r>
            <a:endParaRPr lang="en-US" sz="1400" dirty="0"/>
          </a:p>
        </p:txBody>
      </p:sp>
      <p:sp>
        <p:nvSpPr>
          <p:cNvPr id="16" name="Text 14"/>
          <p:cNvSpPr/>
          <p:nvPr/>
        </p:nvSpPr>
        <p:spPr>
          <a:xfrm>
            <a:off x="5760720" y="3950208"/>
            <a:ext cx="3931920" cy="457200"/>
          </a:xfrm>
          <a:prstGeom prst="rect">
            <a:avLst/>
          </a:prstGeom>
          <a:noFill/>
          <a:ln/>
        </p:spPr>
        <p:txBody>
          <a:bodyPr wrap="square" lIns="0" tIns="0" rIns="0" bIns="0" rtlCol="0" anchor="ctr"/>
          <a:lstStyle/>
          <a:p>
            <a:pPr indent="0" marL="0">
              <a:buNone/>
            </a:pPr>
            <a:r>
              <a:rPr lang="en-US" sz="1400" b="1" dirty="0">
                <a:solidFill>
                  <a:srgbClr val="0E1116"/>
                </a:solidFill>
                <a:latin typeface="Inter" pitchFamily="34" charset="0"/>
                <a:ea typeface="Inter" pitchFamily="34" charset="-122"/>
                <a:cs typeface="Inter" pitchFamily="34" charset="-120"/>
              </a:rPr>
              <a:t>A cap the chain enforces.</a:t>
            </a:r>
            <a:endParaRPr lang="en-US" sz="1400" dirty="0"/>
          </a:p>
        </p:txBody>
      </p:sp>
      <p:sp>
        <p:nvSpPr>
          <p:cNvPr id="17" name="Text 15"/>
          <p:cNvSpPr/>
          <p:nvPr/>
        </p:nvSpPr>
        <p:spPr>
          <a:xfrm>
            <a:off x="9445752" y="4005072"/>
            <a:ext cx="1591056" cy="274320"/>
          </a:xfrm>
          <a:prstGeom prst="rect">
            <a:avLst/>
          </a:prstGeom>
          <a:noFill/>
          <a:ln/>
        </p:spPr>
        <p:txBody>
          <a:bodyPr wrap="square" lIns="0" tIns="0" rIns="0" bIns="0" rtlCol="0" anchor="ctr"/>
          <a:lstStyle/>
          <a:p>
            <a:pPr algn="r" indent="0" marL="0">
              <a:buNone/>
            </a:pPr>
            <a:r>
              <a:rPr lang="en-US" sz="1000" spc="130" kern="0" dirty="0">
                <a:solidFill>
                  <a:srgbClr val="9AA0AE"/>
                </a:solidFill>
                <a:latin typeface="JetBrains Mono" pitchFamily="34" charset="0"/>
                <a:ea typeface="JetBrains Mono" pitchFamily="34" charset="-122"/>
                <a:cs typeface="JetBrains Mono" pitchFamily="34" charset="-120"/>
              </a:rPr>
              <a:t>SESSION 8</a:t>
            </a:r>
            <a:endParaRPr lang="en-US" sz="1000" dirty="0"/>
          </a:p>
        </p:txBody>
      </p:sp>
      <p:sp>
        <p:nvSpPr>
          <p:cNvPr id="18" name="Shape 16"/>
          <p:cNvSpPr/>
          <p:nvPr/>
        </p:nvSpPr>
        <p:spPr>
          <a:xfrm>
            <a:off x="822960" y="4828032"/>
            <a:ext cx="10543032" cy="969264"/>
          </a:xfrm>
          <a:prstGeom prst="roundRect">
            <a:avLst>
              <a:gd name="adj" fmla="val 4717"/>
            </a:avLst>
          </a:prstGeom>
          <a:solidFill>
            <a:srgbClr val="F4F4F8"/>
          </a:solidFill>
          <a:ln w="12700">
            <a:solidFill>
              <a:srgbClr val="E4E5EC"/>
            </a:solidFill>
            <a:prstDash val="solid"/>
          </a:ln>
        </p:spPr>
      </p:sp>
      <p:sp>
        <p:nvSpPr>
          <p:cNvPr id="19" name="Text 17"/>
          <p:cNvSpPr/>
          <p:nvPr/>
        </p:nvSpPr>
        <p:spPr>
          <a:xfrm>
            <a:off x="1152144" y="5102352"/>
            <a:ext cx="4023360" cy="420624"/>
          </a:xfrm>
          <a:prstGeom prst="rect">
            <a:avLst/>
          </a:prstGeom>
          <a:noFill/>
          <a:ln/>
        </p:spPr>
        <p:txBody>
          <a:bodyPr wrap="square" lIns="0" tIns="0" rIns="0" bIns="0" rtlCol="0" anchor="ctr"/>
          <a:lstStyle/>
          <a:p>
            <a:pPr indent="0" marL="0">
              <a:buNone/>
            </a:pPr>
            <a:r>
              <a:rPr lang="en-US" sz="1400" i="1" dirty="0">
                <a:solidFill>
                  <a:srgbClr val="5B6170"/>
                </a:solidFill>
                <a:latin typeface="Inter" pitchFamily="34" charset="0"/>
                <a:ea typeface="Inter" pitchFamily="34" charset="-122"/>
                <a:cs typeface="Inter" pitchFamily="34" charset="-120"/>
              </a:rPr>
              <a:t>“I can get my money back.”</a:t>
            </a:r>
            <a:endParaRPr lang="en-US" sz="1400" dirty="0"/>
          </a:p>
        </p:txBody>
      </p:sp>
      <p:sp>
        <p:nvSpPr>
          <p:cNvPr id="20" name="Text 18"/>
          <p:cNvSpPr/>
          <p:nvPr/>
        </p:nvSpPr>
        <p:spPr>
          <a:xfrm>
            <a:off x="5303520" y="5102352"/>
            <a:ext cx="365760" cy="420624"/>
          </a:xfrm>
          <a:prstGeom prst="rect">
            <a:avLst/>
          </a:prstGeom>
          <a:noFill/>
          <a:ln/>
        </p:spPr>
        <p:txBody>
          <a:bodyPr wrap="square" lIns="0" tIns="0" rIns="0" bIns="0" rtlCol="0" anchor="ctr"/>
          <a:lstStyle/>
          <a:p>
            <a:pPr indent="0" marL="0">
              <a:buNone/>
            </a:pPr>
            <a:r>
              <a:rPr lang="en-US" sz="1400" dirty="0">
                <a:solidFill>
                  <a:srgbClr val="9AA0AE"/>
                </a:solidFill>
                <a:latin typeface="Inter" pitchFamily="34" charset="0"/>
                <a:ea typeface="Inter" pitchFamily="34" charset="-122"/>
                <a:cs typeface="Inter" pitchFamily="34" charset="-120"/>
              </a:rPr>
              <a:t>→</a:t>
            </a:r>
            <a:endParaRPr lang="en-US" sz="1400" dirty="0"/>
          </a:p>
        </p:txBody>
      </p:sp>
      <p:sp>
        <p:nvSpPr>
          <p:cNvPr id="21" name="Text 19"/>
          <p:cNvSpPr/>
          <p:nvPr/>
        </p:nvSpPr>
        <p:spPr>
          <a:xfrm>
            <a:off x="5760720" y="5084064"/>
            <a:ext cx="3931920" cy="457200"/>
          </a:xfrm>
          <a:prstGeom prst="rect">
            <a:avLst/>
          </a:prstGeom>
          <a:noFill/>
          <a:ln/>
        </p:spPr>
        <p:txBody>
          <a:bodyPr wrap="square" lIns="0" tIns="0" rIns="0" bIns="0" rtlCol="0" anchor="ctr"/>
          <a:lstStyle/>
          <a:p>
            <a:pPr indent="0" marL="0">
              <a:buNone/>
            </a:pPr>
            <a:r>
              <a:rPr lang="en-US" sz="1400" b="1" dirty="0">
                <a:solidFill>
                  <a:srgbClr val="0E1116"/>
                </a:solidFill>
                <a:latin typeface="Inter" pitchFamily="34" charset="0"/>
                <a:ea typeface="Inter" pitchFamily="34" charset="-122"/>
                <a:cs typeface="Inter" pitchFamily="34" charset="-120"/>
              </a:rPr>
              <a:t>Pay only on delivery.</a:t>
            </a:r>
            <a:endParaRPr lang="en-US" sz="1400" dirty="0"/>
          </a:p>
        </p:txBody>
      </p:sp>
      <p:sp>
        <p:nvSpPr>
          <p:cNvPr id="22" name="Text 20"/>
          <p:cNvSpPr/>
          <p:nvPr/>
        </p:nvSpPr>
        <p:spPr>
          <a:xfrm>
            <a:off x="9445752" y="5138928"/>
            <a:ext cx="1591056" cy="274320"/>
          </a:xfrm>
          <a:prstGeom prst="rect">
            <a:avLst/>
          </a:prstGeom>
          <a:noFill/>
          <a:ln/>
        </p:spPr>
        <p:txBody>
          <a:bodyPr wrap="square" lIns="0" tIns="0" rIns="0" bIns="0" rtlCol="0" anchor="ctr"/>
          <a:lstStyle/>
          <a:p>
            <a:pPr algn="r" indent="0" marL="0">
              <a:buNone/>
            </a:pPr>
            <a:r>
              <a:rPr lang="en-US" sz="1000" spc="130" kern="0" dirty="0">
                <a:solidFill>
                  <a:srgbClr val="9AA0AE"/>
                </a:solidFill>
                <a:latin typeface="JetBrains Mono" pitchFamily="34" charset="0"/>
                <a:ea typeface="JetBrains Mono" pitchFamily="34" charset="-122"/>
                <a:cs typeface="JetBrains Mono" pitchFamily="34" charset="-120"/>
              </a:rPr>
              <a:t>SESSION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04</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LIVE</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04 / 8</a:t>
            </a:r>
            <a:endParaRPr lang="en-US" sz="850" dirty="0"/>
          </a:p>
        </p:txBody>
      </p:sp>
      <p:sp>
        <p:nvSpPr>
          <p:cNvPr id="6" name="Text 4"/>
          <p:cNvSpPr/>
          <p:nvPr/>
        </p:nvSpPr>
        <p:spPr>
          <a:xfrm>
            <a:off x="822960" y="2011680"/>
            <a:ext cx="5486400" cy="365760"/>
          </a:xfrm>
          <a:prstGeom prst="rect">
            <a:avLst/>
          </a:prstGeom>
          <a:noFill/>
          <a:ln/>
        </p:spPr>
        <p:txBody>
          <a:bodyPr wrap="square" lIns="0" tIns="0" rIns="0" bIns="0" rtlCol="0" anchor="ctr"/>
          <a:lstStyle/>
          <a:p>
            <a:pPr indent="0" marL="0">
              <a:buNone/>
            </a:pPr>
            <a:r>
              <a:rPr lang="en-US" sz="1300" b="1" spc="260" kern="0" dirty="0">
                <a:solidFill>
                  <a:srgbClr val="8B8AF0"/>
                </a:solidFill>
                <a:latin typeface="JetBrains Mono" pitchFamily="34" charset="0"/>
                <a:ea typeface="JetBrains Mono" pitchFamily="34" charset="-122"/>
                <a:cs typeface="JetBrains Mono" pitchFamily="34" charset="-120"/>
              </a:rPr>
              <a:t>LIVE</a:t>
            </a:r>
            <a:endParaRPr lang="en-US" sz="1300" dirty="0"/>
          </a:p>
        </p:txBody>
      </p:sp>
      <p:sp>
        <p:nvSpPr>
          <p:cNvPr id="7" name="Text 5"/>
          <p:cNvSpPr/>
          <p:nvPr/>
        </p:nvSpPr>
        <p:spPr>
          <a:xfrm>
            <a:off x="822960" y="2487168"/>
            <a:ext cx="9144000" cy="914400"/>
          </a:xfrm>
          <a:prstGeom prst="rect">
            <a:avLst/>
          </a:prstGeom>
          <a:noFill/>
          <a:ln/>
        </p:spPr>
        <p:txBody>
          <a:bodyPr wrap="square" lIns="0" tIns="0" rIns="0" bIns="0" rtlCol="0" anchor="ctr"/>
          <a:lstStyle/>
          <a:p>
            <a:pPr indent="0" marL="0">
              <a:buNone/>
            </a:pPr>
            <a:r>
              <a:rPr lang="en-US" sz="4600" b="1" dirty="0">
                <a:solidFill>
                  <a:srgbClr val="FFFFFF"/>
                </a:solidFill>
                <a:latin typeface="Inter" pitchFamily="34" charset="0"/>
                <a:ea typeface="Inter" pitchFamily="34" charset="-122"/>
                <a:cs typeface="Inter" pitchFamily="34" charset="-120"/>
              </a:rPr>
              <a:t>Watch it happen</a:t>
            </a:r>
            <a:endParaRPr lang="en-US" sz="4600" dirty="0"/>
          </a:p>
        </p:txBody>
      </p:sp>
      <p:sp>
        <p:nvSpPr>
          <p:cNvPr id="8" name="Text 6"/>
          <p:cNvSpPr/>
          <p:nvPr/>
        </p:nvSpPr>
        <p:spPr>
          <a:xfrm>
            <a:off x="822960" y="3675888"/>
            <a:ext cx="457200" cy="292608"/>
          </a:xfrm>
          <a:prstGeom prst="rect">
            <a:avLst/>
          </a:prstGeom>
          <a:noFill/>
          <a:ln/>
        </p:spPr>
        <p:txBody>
          <a:bodyPr wrap="square" lIns="0" tIns="0" rIns="0" bIns="0" rtlCol="0" anchor="ctr"/>
          <a:lstStyle/>
          <a:p>
            <a:pPr indent="0" marL="0">
              <a:buNone/>
            </a:pPr>
            <a:r>
              <a:rPr lang="en-US" sz="1100" b="1" dirty="0">
                <a:solidFill>
                  <a:srgbClr val="8B8AF0"/>
                </a:solidFill>
                <a:latin typeface="JetBrains Mono" pitchFamily="34" charset="0"/>
                <a:ea typeface="JetBrains Mono" pitchFamily="34" charset="-122"/>
                <a:cs typeface="JetBrains Mono" pitchFamily="34" charset="-120"/>
              </a:rPr>
              <a:t>01</a:t>
            </a:r>
            <a:endParaRPr lang="en-US" sz="1100" dirty="0"/>
          </a:p>
        </p:txBody>
      </p:sp>
      <p:sp>
        <p:nvSpPr>
          <p:cNvPr id="9" name="Text 7"/>
          <p:cNvSpPr/>
          <p:nvPr/>
        </p:nvSpPr>
        <p:spPr>
          <a:xfrm>
            <a:off x="1426464" y="3657600"/>
            <a:ext cx="8778240" cy="329184"/>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It admits it can't answer, and scans the registry</a:t>
            </a:r>
            <a:endParaRPr lang="en-US" sz="1350" dirty="0"/>
          </a:p>
        </p:txBody>
      </p:sp>
      <p:sp>
        <p:nvSpPr>
          <p:cNvPr id="10" name="Text 8"/>
          <p:cNvSpPr/>
          <p:nvPr/>
        </p:nvSpPr>
        <p:spPr>
          <a:xfrm>
            <a:off x="822960" y="4151376"/>
            <a:ext cx="457200" cy="292608"/>
          </a:xfrm>
          <a:prstGeom prst="rect">
            <a:avLst/>
          </a:prstGeom>
          <a:noFill/>
          <a:ln/>
        </p:spPr>
        <p:txBody>
          <a:bodyPr wrap="square" lIns="0" tIns="0" rIns="0" bIns="0" rtlCol="0" anchor="ctr"/>
          <a:lstStyle/>
          <a:p>
            <a:pPr indent="0" marL="0">
              <a:buNone/>
            </a:pPr>
            <a:r>
              <a:rPr lang="en-US" sz="1100" b="1" dirty="0">
                <a:solidFill>
                  <a:srgbClr val="8B8AF0"/>
                </a:solidFill>
                <a:latin typeface="JetBrains Mono" pitchFamily="34" charset="0"/>
                <a:ea typeface="JetBrains Mono" pitchFamily="34" charset="-122"/>
                <a:cs typeface="JetBrains Mono" pitchFamily="34" charset="-120"/>
              </a:rPr>
              <a:t>02</a:t>
            </a:r>
            <a:endParaRPr lang="en-US" sz="1100" dirty="0"/>
          </a:p>
        </p:txBody>
      </p:sp>
      <p:sp>
        <p:nvSpPr>
          <p:cNvPr id="11" name="Text 9"/>
          <p:cNvSpPr/>
          <p:nvPr/>
        </p:nvSpPr>
        <p:spPr>
          <a:xfrm>
            <a:off x="1426464" y="4133088"/>
            <a:ext cx="8778240" cy="329184"/>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It reads the seller's skills, wallet and URL off the chain</a:t>
            </a:r>
            <a:endParaRPr lang="en-US" sz="1350" dirty="0"/>
          </a:p>
        </p:txBody>
      </p:sp>
      <p:sp>
        <p:nvSpPr>
          <p:cNvPr id="12" name="Text 10"/>
          <p:cNvSpPr/>
          <p:nvPr/>
        </p:nvSpPr>
        <p:spPr>
          <a:xfrm>
            <a:off x="822960" y="4626864"/>
            <a:ext cx="457200" cy="292608"/>
          </a:xfrm>
          <a:prstGeom prst="rect">
            <a:avLst/>
          </a:prstGeom>
          <a:noFill/>
          <a:ln/>
        </p:spPr>
        <p:txBody>
          <a:bodyPr wrap="square" lIns="0" tIns="0" rIns="0" bIns="0" rtlCol="0" anchor="ctr"/>
          <a:lstStyle/>
          <a:p>
            <a:pPr indent="0" marL="0">
              <a:buNone/>
            </a:pPr>
            <a:r>
              <a:rPr lang="en-US" sz="1100" b="1" dirty="0">
                <a:solidFill>
                  <a:srgbClr val="8B8AF0"/>
                </a:solidFill>
                <a:latin typeface="JetBrains Mono" pitchFamily="34" charset="0"/>
                <a:ea typeface="JetBrains Mono" pitchFamily="34" charset="-122"/>
                <a:cs typeface="JetBrains Mono" pitchFamily="34" charset="-120"/>
              </a:rPr>
              <a:t>03</a:t>
            </a:r>
            <a:endParaRPr lang="en-US" sz="1100" dirty="0"/>
          </a:p>
        </p:txBody>
      </p:sp>
      <p:sp>
        <p:nvSpPr>
          <p:cNvPr id="13" name="Text 11"/>
          <p:cNvSpPr/>
          <p:nvPr/>
        </p:nvSpPr>
        <p:spPr>
          <a:xfrm>
            <a:off x="1426464" y="4608576"/>
            <a:ext cx="8778240" cy="329184"/>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It is quoted a price — and checks who it is about to pay</a:t>
            </a:r>
            <a:endParaRPr lang="en-US" sz="1350" dirty="0"/>
          </a:p>
        </p:txBody>
      </p:sp>
      <p:sp>
        <p:nvSpPr>
          <p:cNvPr id="14" name="Text 12"/>
          <p:cNvSpPr/>
          <p:nvPr/>
        </p:nvSpPr>
        <p:spPr>
          <a:xfrm>
            <a:off x="822960" y="5102352"/>
            <a:ext cx="457200" cy="292608"/>
          </a:xfrm>
          <a:prstGeom prst="rect">
            <a:avLst/>
          </a:prstGeom>
          <a:noFill/>
          <a:ln/>
        </p:spPr>
        <p:txBody>
          <a:bodyPr wrap="square" lIns="0" tIns="0" rIns="0" bIns="0" rtlCol="0" anchor="ctr"/>
          <a:lstStyle/>
          <a:p>
            <a:pPr indent="0" marL="0">
              <a:buNone/>
            </a:pPr>
            <a:r>
              <a:rPr lang="en-US" sz="1100" b="1" dirty="0">
                <a:solidFill>
                  <a:srgbClr val="8B8AF0"/>
                </a:solidFill>
                <a:latin typeface="JetBrains Mono" pitchFamily="34" charset="0"/>
                <a:ea typeface="JetBrains Mono" pitchFamily="34" charset="-122"/>
                <a:cs typeface="JetBrains Mono" pitchFamily="34" charset="-120"/>
              </a:rPr>
              <a:t>04</a:t>
            </a:r>
            <a:endParaRPr lang="en-US" sz="1100" dirty="0"/>
          </a:p>
        </p:txBody>
      </p:sp>
      <p:sp>
        <p:nvSpPr>
          <p:cNvPr id="15" name="Text 13"/>
          <p:cNvSpPr/>
          <p:nvPr/>
        </p:nvSpPr>
        <p:spPr>
          <a:xfrm>
            <a:off x="1426464" y="5084064"/>
            <a:ext cx="8778240" cy="329184"/>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It pays, and the seller verifies that itself</a:t>
            </a:r>
            <a:endParaRPr lang="en-US" sz="1350" dirty="0"/>
          </a:p>
        </p:txBody>
      </p:sp>
      <p:sp>
        <p:nvSpPr>
          <p:cNvPr id="16" name="Text 14"/>
          <p:cNvSpPr/>
          <p:nvPr/>
        </p:nvSpPr>
        <p:spPr>
          <a:xfrm>
            <a:off x="822960" y="5724144"/>
            <a:ext cx="7315200" cy="292608"/>
          </a:xfrm>
          <a:prstGeom prst="rect">
            <a:avLst/>
          </a:prstGeom>
          <a:noFill/>
          <a:ln/>
        </p:spPr>
        <p:txBody>
          <a:bodyPr wrap="square" lIns="0" tIns="0" rIns="0" bIns="0" rtlCol="0" anchor="ctr"/>
          <a:lstStyle/>
          <a:p>
            <a:pPr indent="0" marL="0">
              <a:buNone/>
            </a:pPr>
            <a:r>
              <a:rPr lang="en-US" sz="1100" spc="120" kern="0" dirty="0">
                <a:solidFill>
                  <a:srgbClr val="D6336C"/>
                </a:solidFill>
                <a:latin typeface="JetBrains Mono" pitchFamily="34" charset="0"/>
                <a:ea typeface="JetBrains Mono" pitchFamily="34" charset="-122"/>
                <a:cs typeface="JetBrains Mono" pitchFamily="34" charset="-120"/>
              </a:rPr>
              <a:t>then I break it, and the agent refuses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05</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THE CODE</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05 / 8</a:t>
            </a:r>
            <a:endParaRPr lang="en-US" sz="850" dirty="0"/>
          </a:p>
        </p:txBody>
      </p:sp>
      <p:sp>
        <p:nvSpPr>
          <p:cNvPr id="6" name="Text 4"/>
          <p:cNvSpPr/>
          <p:nvPr/>
        </p:nvSpPr>
        <p:spPr>
          <a:xfrm>
            <a:off x="822960" y="1517904"/>
            <a:ext cx="5486400" cy="365760"/>
          </a:xfrm>
          <a:prstGeom prst="rect">
            <a:avLst/>
          </a:prstGeom>
          <a:noFill/>
          <a:ln/>
        </p:spPr>
        <p:txBody>
          <a:bodyPr wrap="square" lIns="0" tIns="0" rIns="0" bIns="0" rtlCol="0" anchor="ctr"/>
          <a:lstStyle/>
          <a:p>
            <a:pPr indent="0" marL="0">
              <a:buNone/>
            </a:pPr>
            <a:r>
              <a:rPr lang="en-US" sz="1300" b="1" spc="260" kern="0" dirty="0">
                <a:solidFill>
                  <a:srgbClr val="8B8AF0"/>
                </a:solidFill>
                <a:latin typeface="JetBrains Mono" pitchFamily="34" charset="0"/>
                <a:ea typeface="JetBrains Mono" pitchFamily="34" charset="-122"/>
                <a:cs typeface="JetBrains Mono" pitchFamily="34" charset="-120"/>
              </a:rPr>
              <a:t>CODE</a:t>
            </a:r>
            <a:endParaRPr lang="en-US" sz="1300" dirty="0"/>
          </a:p>
        </p:txBody>
      </p:sp>
      <p:sp>
        <p:nvSpPr>
          <p:cNvPr id="7" name="Text 5"/>
          <p:cNvSpPr/>
          <p:nvPr/>
        </p:nvSpPr>
        <p:spPr>
          <a:xfrm>
            <a:off x="822960" y="1993392"/>
            <a:ext cx="9144000" cy="841248"/>
          </a:xfrm>
          <a:prstGeom prst="rect">
            <a:avLst/>
          </a:prstGeom>
          <a:noFill/>
          <a:ln/>
        </p:spPr>
        <p:txBody>
          <a:bodyPr wrap="square" lIns="0" tIns="0" rIns="0" bIns="0" rtlCol="0" anchor="ctr"/>
          <a:lstStyle/>
          <a:p>
            <a:pPr indent="0" marL="0">
              <a:buNone/>
            </a:pPr>
            <a:r>
              <a:rPr lang="en-US" sz="4600" b="1" dirty="0">
                <a:solidFill>
                  <a:srgbClr val="FFFFFF"/>
                </a:solidFill>
                <a:latin typeface="Inter" pitchFamily="34" charset="0"/>
                <a:ea typeface="Inter" pitchFamily="34" charset="-122"/>
                <a:cs typeface="Inter" pitchFamily="34" charset="-120"/>
              </a:rPr>
              <a:t>Four files</a:t>
            </a:r>
            <a:endParaRPr lang="en-US" sz="4600" dirty="0"/>
          </a:p>
        </p:txBody>
      </p:sp>
      <p:sp>
        <p:nvSpPr>
          <p:cNvPr id="8" name="Text 6"/>
          <p:cNvSpPr/>
          <p:nvPr/>
        </p:nvSpPr>
        <p:spPr>
          <a:xfrm>
            <a:off x="822960" y="3127248"/>
            <a:ext cx="3200400" cy="310896"/>
          </a:xfrm>
          <a:prstGeom prst="rect">
            <a:avLst/>
          </a:prstGeom>
          <a:noFill/>
          <a:ln/>
        </p:spPr>
        <p:txBody>
          <a:bodyPr wrap="square" lIns="0" tIns="0" rIns="0" bIns="0"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payment-proof.ts</a:t>
            </a:r>
            <a:endParaRPr lang="en-US" sz="1250" dirty="0"/>
          </a:p>
        </p:txBody>
      </p:sp>
      <p:sp>
        <p:nvSpPr>
          <p:cNvPr id="9" name="Text 7"/>
          <p:cNvSpPr/>
          <p:nvPr/>
        </p:nvSpPr>
        <p:spPr>
          <a:xfrm>
            <a:off x="4206240" y="3127248"/>
            <a:ext cx="6766560" cy="310896"/>
          </a:xfrm>
          <a:prstGeom prst="rect">
            <a:avLst/>
          </a:prstGeom>
          <a:noFill/>
          <a:ln/>
        </p:spPr>
        <p:txBody>
          <a:bodyPr wrap="square" lIns="0" tIns="0" rIns="0" bIns="0" rtlCol="0" anchor="ctr"/>
          <a:lstStyle/>
          <a:p>
            <a:pPr indent="0" marL="0">
              <a:buNone/>
            </a:pPr>
            <a:r>
              <a:rPr lang="en-US" sz="1250" dirty="0">
                <a:solidFill>
                  <a:srgbClr val="B9BECD"/>
                </a:solidFill>
                <a:latin typeface="Inter" pitchFamily="34" charset="0"/>
                <a:ea typeface="Inter" pitchFamily="34" charset="-122"/>
                <a:cs typeface="Inter" pitchFamily="34" charset="-120"/>
              </a:rPr>
              <a:t>the whole wire format — a quote, and a signed claim</a:t>
            </a:r>
            <a:endParaRPr lang="en-US" sz="1250" dirty="0"/>
          </a:p>
        </p:txBody>
      </p:sp>
      <p:sp>
        <p:nvSpPr>
          <p:cNvPr id="10" name="Text 8"/>
          <p:cNvSpPr/>
          <p:nvPr/>
        </p:nvSpPr>
        <p:spPr>
          <a:xfrm>
            <a:off x="822960" y="3730752"/>
            <a:ext cx="3200400" cy="310896"/>
          </a:xfrm>
          <a:prstGeom prst="rect">
            <a:avLst/>
          </a:prstGeom>
          <a:noFill/>
          <a:ln/>
        </p:spPr>
        <p:txBody>
          <a:bodyPr wrap="square" lIns="0" tIns="0" rIns="0" bIns="0" rtlCol="0" anchor="ctr"/>
          <a:lstStyle/>
          <a:p>
            <a:pPr indent="0" marL="0">
              <a:buNone/>
            </a:pPr>
            <a:r>
              <a:rPr lang="en-US" sz="1250" b="1" dirty="0">
                <a:solidFill>
                  <a:srgbClr val="3CCB8E"/>
                </a:solidFill>
                <a:latin typeface="JetBrains Mono" pitchFamily="34" charset="0"/>
                <a:ea typeface="JetBrains Mono" pitchFamily="34" charset="-122"/>
                <a:cs typeface="JetBrains Mono" pitchFamily="34" charset="-120"/>
              </a:rPr>
              <a:t>identity-check.ts</a:t>
            </a:r>
            <a:endParaRPr lang="en-US" sz="1250" dirty="0"/>
          </a:p>
        </p:txBody>
      </p:sp>
      <p:sp>
        <p:nvSpPr>
          <p:cNvPr id="11" name="Text 9"/>
          <p:cNvSpPr/>
          <p:nvPr/>
        </p:nvSpPr>
        <p:spPr>
          <a:xfrm>
            <a:off x="4206240" y="3730752"/>
            <a:ext cx="6766560" cy="310896"/>
          </a:xfrm>
          <a:prstGeom prst="rect">
            <a:avLst/>
          </a:prstGeom>
          <a:noFill/>
          <a:ln/>
        </p:spPr>
        <p:txBody>
          <a:bodyPr wrap="square" lIns="0" tIns="0" rIns="0" bIns="0" rtlCol="0" anchor="ctr"/>
          <a:lstStyle/>
          <a:p>
            <a:pPr indent="0" marL="0">
              <a:buNone/>
            </a:pPr>
            <a:r>
              <a:rPr lang="en-US" sz="1250" dirty="0">
                <a:solidFill>
                  <a:srgbClr val="FFFFFF"/>
                </a:solidFill>
                <a:latin typeface="Inter" pitchFamily="34" charset="0"/>
                <a:ea typeface="Inter" pitchFamily="34" charset="-122"/>
                <a:cs typeface="Inter" pitchFamily="34" charset="-120"/>
              </a:rPr>
              <a:t>39 lines. this is the session.</a:t>
            </a:r>
            <a:endParaRPr lang="en-US" sz="1250" dirty="0"/>
          </a:p>
        </p:txBody>
      </p:sp>
      <p:sp>
        <p:nvSpPr>
          <p:cNvPr id="12" name="Text 10"/>
          <p:cNvSpPr/>
          <p:nvPr/>
        </p:nvSpPr>
        <p:spPr>
          <a:xfrm>
            <a:off x="822960" y="4334256"/>
            <a:ext cx="3200400" cy="310896"/>
          </a:xfrm>
          <a:prstGeom prst="rect">
            <a:avLst/>
          </a:prstGeom>
          <a:noFill/>
          <a:ln/>
        </p:spPr>
        <p:txBody>
          <a:bodyPr wrap="square" lIns="0" tIns="0" rIns="0" bIns="0"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verify-proof.ts</a:t>
            </a:r>
            <a:endParaRPr lang="en-US" sz="1250" dirty="0"/>
          </a:p>
        </p:txBody>
      </p:sp>
      <p:sp>
        <p:nvSpPr>
          <p:cNvPr id="13" name="Text 11"/>
          <p:cNvSpPr/>
          <p:nvPr/>
        </p:nvSpPr>
        <p:spPr>
          <a:xfrm>
            <a:off x="4206240" y="4334256"/>
            <a:ext cx="6766560" cy="310896"/>
          </a:xfrm>
          <a:prstGeom prst="rect">
            <a:avLst/>
          </a:prstGeom>
          <a:noFill/>
          <a:ln/>
        </p:spPr>
        <p:txBody>
          <a:bodyPr wrap="square" lIns="0" tIns="0" rIns="0" bIns="0" rtlCol="0" anchor="ctr"/>
          <a:lstStyle/>
          <a:p>
            <a:pPr indent="0" marL="0">
              <a:buNone/>
            </a:pPr>
            <a:r>
              <a:rPr lang="en-US" sz="1250" dirty="0">
                <a:solidFill>
                  <a:srgbClr val="B9BECD"/>
                </a:solidFill>
                <a:latin typeface="Inter" pitchFamily="34" charset="0"/>
                <a:ea typeface="Inter" pitchFamily="34" charset="-122"/>
                <a:cs typeface="Inter" pitchFamily="34" charset="-120"/>
              </a:rPr>
              <a:t>the seller's seven checks, all read-only</a:t>
            </a:r>
            <a:endParaRPr lang="en-US" sz="1250" dirty="0"/>
          </a:p>
        </p:txBody>
      </p:sp>
      <p:sp>
        <p:nvSpPr>
          <p:cNvPr id="14" name="Text 12"/>
          <p:cNvSpPr/>
          <p:nvPr/>
        </p:nvSpPr>
        <p:spPr>
          <a:xfrm>
            <a:off x="822960" y="4937760"/>
            <a:ext cx="3200400" cy="310896"/>
          </a:xfrm>
          <a:prstGeom prst="rect">
            <a:avLst/>
          </a:prstGeom>
          <a:noFill/>
          <a:ln/>
        </p:spPr>
        <p:txBody>
          <a:bodyPr wrap="square" lIns="0" tIns="0" rIns="0" bIns="0"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pricing.ts + worth.ts</a:t>
            </a:r>
            <a:endParaRPr lang="en-US" sz="1250" dirty="0"/>
          </a:p>
        </p:txBody>
      </p:sp>
      <p:sp>
        <p:nvSpPr>
          <p:cNvPr id="15" name="Text 13"/>
          <p:cNvSpPr/>
          <p:nvPr/>
        </p:nvSpPr>
        <p:spPr>
          <a:xfrm>
            <a:off x="4206240" y="4937760"/>
            <a:ext cx="6766560" cy="310896"/>
          </a:xfrm>
          <a:prstGeom prst="rect">
            <a:avLst/>
          </a:prstGeom>
          <a:noFill/>
          <a:ln/>
        </p:spPr>
        <p:txBody>
          <a:bodyPr wrap="square" lIns="0" tIns="0" rIns="0" bIns="0" rtlCol="0" anchor="ctr"/>
          <a:lstStyle/>
          <a:p>
            <a:pPr indent="0" marL="0">
              <a:buNone/>
            </a:pPr>
            <a:r>
              <a:rPr lang="en-US" sz="1250" dirty="0">
                <a:solidFill>
                  <a:srgbClr val="B9BECD"/>
                </a:solidFill>
                <a:latin typeface="Inter" pitchFamily="34" charset="0"/>
                <a:ea typeface="Inter" pitchFamily="34" charset="-122"/>
                <a:cs typeface="Inter" pitchFamily="34" charset="-120"/>
              </a:rPr>
              <a:t>what each agent decides — and what it is not allowed to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06</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WHAT'S MISSING</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06 / 8</a:t>
            </a:r>
            <a:endParaRPr lang="en-US" sz="850" dirty="0"/>
          </a:p>
        </p:txBody>
      </p:sp>
      <p:sp>
        <p:nvSpPr>
          <p:cNvPr id="6" name="Text 4"/>
          <p:cNvSpPr/>
          <p:nvPr/>
        </p:nvSpPr>
        <p:spPr>
          <a:xfrm>
            <a:off x="822960" y="932688"/>
            <a:ext cx="10543032" cy="731520"/>
          </a:xfrm>
          <a:prstGeom prst="rect">
            <a:avLst/>
          </a:prstGeom>
          <a:noFill/>
          <a:ln/>
        </p:spPr>
        <p:txBody>
          <a:bodyPr wrap="square" lIns="0" tIns="0" rIns="0" bIns="0" rtlCol="0" anchor="ctr"/>
          <a:lstStyle/>
          <a:p>
            <a:pPr indent="0" marL="0">
              <a:lnSpc>
                <a:spcPct val="108000"/>
              </a:lnSpc>
              <a:buNone/>
            </a:pPr>
            <a:r>
              <a:rPr lang="en-US" sz="3300" b="1" dirty="0">
                <a:solidFill>
                  <a:srgbClr val="0E1116"/>
                </a:solidFill>
                <a:latin typeface="Inter" pitchFamily="34" charset="0"/>
                <a:ea typeface="Inter" pitchFamily="34" charset="-122"/>
                <a:cs typeface="Inter" pitchFamily="34" charset="-120"/>
              </a:rPr>
              <a:t>Every guardrail here is self-imposed</a:t>
            </a:r>
            <a:endParaRPr lang="en-US" sz="3300" dirty="0"/>
          </a:p>
        </p:txBody>
      </p:sp>
      <p:sp>
        <p:nvSpPr>
          <p:cNvPr id="7" name="Text 5"/>
          <p:cNvSpPr/>
          <p:nvPr/>
        </p:nvSpPr>
        <p:spPr>
          <a:xfrm>
            <a:off x="822960" y="1719072"/>
            <a:ext cx="9875520" cy="676656"/>
          </a:xfrm>
          <a:prstGeom prst="rect">
            <a:avLst/>
          </a:prstGeom>
          <a:noFill/>
          <a:ln/>
        </p:spPr>
        <p:txBody>
          <a:bodyPr wrap="square" lIns="0" tIns="0" rIns="0" bIns="0" rtlCol="0" anchor="ctr"/>
          <a:lstStyle/>
          <a:p>
            <a:pPr indent="0" marL="0">
              <a:lnSpc>
                <a:spcPct val="142000"/>
              </a:lnSpc>
              <a:buNone/>
            </a:pPr>
            <a:r>
              <a:rPr lang="en-US" sz="1350" dirty="0">
                <a:solidFill>
                  <a:srgbClr val="5B6170"/>
                </a:solidFill>
                <a:latin typeface="Inter" pitchFamily="34" charset="0"/>
                <a:ea typeface="Inter" pitchFamily="34" charset="-122"/>
                <a:cs typeface="Inter" pitchFamily="34" charset="-120"/>
              </a:rPr>
              <a:t>The buyer refuses anything over 6. That limit is a constant in its own source.</a:t>
            </a:r>
            <a:endParaRPr lang="en-US" sz="1350" dirty="0"/>
          </a:p>
        </p:txBody>
      </p:sp>
      <p:sp>
        <p:nvSpPr>
          <p:cNvPr id="8" name="Shape 6"/>
          <p:cNvSpPr/>
          <p:nvPr/>
        </p:nvSpPr>
        <p:spPr>
          <a:xfrm>
            <a:off x="822960" y="2505456"/>
            <a:ext cx="10543032" cy="841248"/>
          </a:xfrm>
          <a:prstGeom prst="roundRect">
            <a:avLst>
              <a:gd name="adj" fmla="val 5435"/>
            </a:avLst>
          </a:prstGeom>
          <a:solidFill>
            <a:srgbClr val="0E1116"/>
          </a:solidFill>
          <a:ln w="12700">
            <a:solidFill>
              <a:srgbClr val="0E1116"/>
            </a:solidFill>
            <a:prstDash val="solid"/>
          </a:ln>
        </p:spPr>
      </p:sp>
      <p:sp>
        <p:nvSpPr>
          <p:cNvPr id="9" name="Text 7"/>
          <p:cNvSpPr/>
          <p:nvPr/>
        </p:nvSpPr>
        <p:spPr>
          <a:xfrm>
            <a:off x="1152144" y="2779776"/>
            <a:ext cx="9884664" cy="329184"/>
          </a:xfrm>
          <a:prstGeom prst="rect">
            <a:avLst/>
          </a:prstGeom>
          <a:noFill/>
          <a:ln/>
        </p:spPr>
        <p:txBody>
          <a:bodyPr wrap="square" lIns="0" tIns="0" rIns="0" bIns="0" rtlCol="0" anchor="ctr"/>
          <a:lstStyle/>
          <a:p>
            <a:pPr indent="0" marL="0">
              <a:buNone/>
            </a:pPr>
            <a:r>
              <a:rPr lang="en-US" sz="1300" dirty="0">
                <a:solidFill>
                  <a:srgbClr val="8B8AF0"/>
                </a:solidFill>
                <a:latin typeface="JetBrains Mono" pitchFamily="34" charset="0"/>
                <a:ea typeface="JetBrains Mono" pitchFamily="34" charset="-122"/>
                <a:cs typeface="JetBrains Mono" pitchFamily="34" charset="-120"/>
              </a:rPr>
              <a:t>export const SOFT_LIMIT = BigInt(process.env.MAX_PRICE_PER_ANSWER ?? "6");</a:t>
            </a:r>
            <a:endParaRPr lang="en-US" sz="1300" dirty="0"/>
          </a:p>
        </p:txBody>
      </p:sp>
      <p:sp>
        <p:nvSpPr>
          <p:cNvPr id="10" name="Shape 8"/>
          <p:cNvSpPr/>
          <p:nvPr/>
        </p:nvSpPr>
        <p:spPr>
          <a:xfrm>
            <a:off x="822960" y="3584448"/>
            <a:ext cx="5120640" cy="1783080"/>
          </a:xfrm>
          <a:prstGeom prst="roundRect">
            <a:avLst>
              <a:gd name="adj" fmla="val 2564"/>
            </a:avLst>
          </a:prstGeom>
          <a:solidFill>
            <a:srgbClr val="F4F4F8"/>
          </a:solidFill>
          <a:ln w="12700">
            <a:solidFill>
              <a:srgbClr val="E4E5EC"/>
            </a:solidFill>
            <a:prstDash val="solid"/>
          </a:ln>
        </p:spPr>
      </p:sp>
      <p:sp>
        <p:nvSpPr>
          <p:cNvPr id="11" name="Text 9"/>
          <p:cNvSpPr/>
          <p:nvPr/>
        </p:nvSpPr>
        <p:spPr>
          <a:xfrm>
            <a:off x="1115568" y="3803904"/>
            <a:ext cx="4535424"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REMOVABLE</a:t>
            </a:r>
            <a:endParaRPr lang="en-US" sz="1000" dirty="0"/>
          </a:p>
        </p:txBody>
      </p:sp>
      <p:sp>
        <p:nvSpPr>
          <p:cNvPr id="12" name="Text 10"/>
          <p:cNvSpPr/>
          <p:nvPr/>
        </p:nvSpPr>
        <p:spPr>
          <a:xfrm>
            <a:off x="1115568" y="4114800"/>
            <a:ext cx="4535424" cy="310896"/>
          </a:xfrm>
          <a:prstGeom prst="rect">
            <a:avLst/>
          </a:prstGeom>
          <a:noFill/>
          <a:ln/>
        </p:spPr>
        <p:txBody>
          <a:bodyPr wrap="square" lIns="0" tIns="0" rIns="0" bIns="0" rtlCol="0" anchor="ctr"/>
          <a:lstStyle/>
          <a:p>
            <a:pPr indent="0" marL="0">
              <a:buNone/>
            </a:pPr>
            <a:r>
              <a:rPr lang="en-US" sz="1600" b="1" dirty="0">
                <a:solidFill>
                  <a:srgbClr val="0E1116"/>
                </a:solidFill>
                <a:latin typeface="Inter" pitchFamily="34" charset="0"/>
                <a:ea typeface="Inter" pitchFamily="34" charset="-122"/>
                <a:cs typeface="Inter" pitchFamily="34" charset="-120"/>
              </a:rPr>
              <a:t>One environment variable</a:t>
            </a:r>
            <a:endParaRPr lang="en-US" sz="1600" dirty="0"/>
          </a:p>
        </p:txBody>
      </p:sp>
      <p:sp>
        <p:nvSpPr>
          <p:cNvPr id="13" name="Text 11"/>
          <p:cNvSpPr/>
          <p:nvPr/>
        </p:nvSpPr>
        <p:spPr>
          <a:xfrm>
            <a:off x="1115568" y="4535424"/>
            <a:ext cx="4535424" cy="649224"/>
          </a:xfrm>
          <a:prstGeom prst="rect">
            <a:avLst/>
          </a:prstGeom>
          <a:noFill/>
          <a:ln/>
        </p:spPr>
        <p:txBody>
          <a:bodyPr wrap="square" lIns="0" tIns="0" rIns="0" bIns="0" rtlCol="0" anchor="ctr"/>
          <a:lstStyle/>
          <a:p>
            <a:pPr indent="0" marL="0">
              <a:lnSpc>
                <a:spcPct val="134000"/>
              </a:lnSpc>
              <a:buNone/>
            </a:pPr>
            <a:r>
              <a:rPr lang="en-US" sz="1150" dirty="0">
                <a:solidFill>
                  <a:srgbClr val="5B6170"/>
                </a:solidFill>
                <a:latin typeface="Inter" pitchFamily="34" charset="0"/>
                <a:ea typeface="Inter" pitchFamily="34" charset="-122"/>
                <a:cs typeface="Inter" pitchFamily="34" charset="-120"/>
              </a:rPr>
              <a:t>Set MAX_PRICE_PER_ANSWER and the ceiling is gone — no code change. The model's second opinion is also just a prompt, in a file the operator controls.</a:t>
            </a:r>
            <a:endParaRPr lang="en-US" sz="1150" dirty="0"/>
          </a:p>
        </p:txBody>
      </p:sp>
      <p:sp>
        <p:nvSpPr>
          <p:cNvPr id="14" name="Shape 12"/>
          <p:cNvSpPr/>
          <p:nvPr/>
        </p:nvSpPr>
        <p:spPr>
          <a:xfrm>
            <a:off x="6245352" y="3584448"/>
            <a:ext cx="5120640" cy="1783080"/>
          </a:xfrm>
          <a:prstGeom prst="roundRect">
            <a:avLst>
              <a:gd name="adj" fmla="val 2564"/>
            </a:avLst>
          </a:prstGeom>
          <a:solidFill>
            <a:srgbClr val="EEF0FB"/>
          </a:solidFill>
          <a:ln w="12700">
            <a:solidFill>
              <a:srgbClr val="C9CBF0"/>
            </a:solidFill>
            <a:prstDash val="solid"/>
          </a:ln>
        </p:spPr>
      </p:sp>
      <p:sp>
        <p:nvSpPr>
          <p:cNvPr id="15" name="Text 13"/>
          <p:cNvSpPr/>
          <p:nvPr/>
        </p:nvSpPr>
        <p:spPr>
          <a:xfrm>
            <a:off x="6537960" y="3803904"/>
            <a:ext cx="4535424"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WORSE</a:t>
            </a:r>
            <a:endParaRPr lang="en-US" sz="1000" dirty="0"/>
          </a:p>
        </p:txBody>
      </p:sp>
      <p:sp>
        <p:nvSpPr>
          <p:cNvPr id="16" name="Text 14"/>
          <p:cNvSpPr/>
          <p:nvPr/>
        </p:nvSpPr>
        <p:spPr>
          <a:xfrm>
            <a:off x="6537960" y="4114800"/>
            <a:ext cx="4535424" cy="310896"/>
          </a:xfrm>
          <a:prstGeom prst="rect">
            <a:avLst/>
          </a:prstGeom>
          <a:noFill/>
          <a:ln/>
        </p:spPr>
        <p:txBody>
          <a:bodyPr wrap="square" lIns="0" tIns="0" rIns="0" bIns="0" rtlCol="0" anchor="ctr"/>
          <a:lstStyle/>
          <a:p>
            <a:pPr indent="0" marL="0">
              <a:buNone/>
            </a:pPr>
            <a:r>
              <a:rPr lang="en-US" sz="1600" b="1" dirty="0">
                <a:solidFill>
                  <a:srgbClr val="0E1116"/>
                </a:solidFill>
                <a:latin typeface="Inter" pitchFamily="34" charset="0"/>
                <a:ea typeface="Inter" pitchFamily="34" charset="-122"/>
                <a:cs typeface="Inter" pitchFamily="34" charset="-120"/>
              </a:rPr>
              <a:t>It caps per purchase, not in total</a:t>
            </a:r>
            <a:endParaRPr lang="en-US" sz="1600" dirty="0"/>
          </a:p>
        </p:txBody>
      </p:sp>
      <p:sp>
        <p:nvSpPr>
          <p:cNvPr id="17" name="Text 15"/>
          <p:cNvSpPr/>
          <p:nvPr/>
        </p:nvSpPr>
        <p:spPr>
          <a:xfrm>
            <a:off x="6537960" y="4535424"/>
            <a:ext cx="4535424" cy="649224"/>
          </a:xfrm>
          <a:prstGeom prst="rect">
            <a:avLst/>
          </a:prstGeom>
          <a:noFill/>
          <a:ln/>
        </p:spPr>
        <p:txBody>
          <a:bodyPr wrap="square" lIns="0" tIns="0" rIns="0" bIns="0" rtlCol="0" anchor="ctr"/>
          <a:lstStyle/>
          <a:p>
            <a:pPr indent="0" marL="0">
              <a:lnSpc>
                <a:spcPct val="134000"/>
              </a:lnSpc>
              <a:buNone/>
            </a:pPr>
            <a:r>
              <a:rPr lang="en-US" sz="1150" dirty="0">
                <a:solidFill>
                  <a:srgbClr val="5B6170"/>
                </a:solidFill>
                <a:latin typeface="Inter" pitchFamily="34" charset="0"/>
                <a:ea typeface="Inter" pitchFamily="34" charset="-122"/>
                <a:cs typeface="Inter" pitchFamily="34" charset="-120"/>
              </a:rPr>
              <a:t>Nothing tracks cumulative spend. An agent with a 6-unit limit can still drain 99,000 — six at a time — without breaking its limit once.</a:t>
            </a:r>
            <a:endParaRPr lang="en-US" sz="1150" dirty="0"/>
          </a:p>
        </p:txBody>
      </p:sp>
      <p:sp>
        <p:nvSpPr>
          <p:cNvPr id="18" name="Text 16"/>
          <p:cNvSpPr/>
          <p:nvPr/>
        </p:nvSpPr>
        <p:spPr>
          <a:xfrm>
            <a:off x="822960" y="5568696"/>
            <a:ext cx="10543032" cy="365760"/>
          </a:xfrm>
          <a:prstGeom prst="rect">
            <a:avLst/>
          </a:prstGeom>
          <a:noFill/>
          <a:ln/>
        </p:spPr>
        <p:txBody>
          <a:bodyPr wrap="square" lIns="0" tIns="0" rIns="0" bIns="0" rtlCol="0" anchor="ctr"/>
          <a:lstStyle/>
          <a:p>
            <a:pPr indent="0" marL="0">
              <a:buNone/>
            </a:pPr>
            <a:r>
              <a:rPr lang="en-US" sz="1500" b="1" dirty="0">
                <a:solidFill>
                  <a:srgbClr val="2D2BB6"/>
                </a:solidFill>
                <a:latin typeface="Inter" pitchFamily="34" charset="0"/>
                <a:ea typeface="Inter" pitchFamily="34" charset="-122"/>
                <a:cs typeface="Inter" pitchFamily="34" charset="-120"/>
              </a:rPr>
              <a:t>A limit the agent consults is a preference. A limit the chain applies is authority.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8B8AF0"/>
                </a:solidFill>
                <a:latin typeface="JetBrains Mono" pitchFamily="34" charset="0"/>
                <a:ea typeface="JetBrains Mono" pitchFamily="34" charset="-122"/>
                <a:cs typeface="JetBrains Mono" pitchFamily="34" charset="-120"/>
              </a:rPr>
              <a:t>MOI · BUILD 07</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B9BECD"/>
                </a:solidFill>
                <a:latin typeface="JetBrains Mono" pitchFamily="34" charset="0"/>
                <a:ea typeface="JetBrains Mono" pitchFamily="34" charset="-122"/>
                <a:cs typeface="JetBrains Mono" pitchFamily="34" charset="-120"/>
              </a:rPr>
              <a:t>WHERE THIS GOES</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6B7280"/>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6B7280"/>
                </a:solidFill>
                <a:latin typeface="JetBrains Mono" pitchFamily="34" charset="0"/>
                <a:ea typeface="JetBrains Mono" pitchFamily="34" charset="-122"/>
                <a:cs typeface="JetBrains Mono" pitchFamily="34" charset="-120"/>
              </a:rPr>
              <a:t>07 / 8</a:t>
            </a:r>
            <a:endParaRPr lang="en-US" sz="850" dirty="0"/>
          </a:p>
        </p:txBody>
      </p:sp>
      <p:sp>
        <p:nvSpPr>
          <p:cNvPr id="6" name="Text 4"/>
          <p:cNvSpPr/>
          <p:nvPr/>
        </p:nvSpPr>
        <p:spPr>
          <a:xfrm>
            <a:off x="822960" y="932688"/>
            <a:ext cx="10543032" cy="73152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Inter" pitchFamily="34" charset="0"/>
                <a:ea typeface="Inter" pitchFamily="34" charset="-122"/>
                <a:cs typeface="Inter" pitchFamily="34" charset="-120"/>
              </a:rPr>
              <a:t>Three questions, three sessions</a:t>
            </a:r>
            <a:endParaRPr lang="en-US" sz="3300" dirty="0"/>
          </a:p>
        </p:txBody>
      </p:sp>
      <p:sp>
        <p:nvSpPr>
          <p:cNvPr id="7" name="Text 5"/>
          <p:cNvSpPr/>
          <p:nvPr/>
        </p:nvSpPr>
        <p:spPr>
          <a:xfrm>
            <a:off x="822960" y="1719072"/>
            <a:ext cx="9875520" cy="676656"/>
          </a:xfrm>
          <a:prstGeom prst="rect">
            <a:avLst/>
          </a:prstGeom>
          <a:noFill/>
          <a:ln/>
        </p:spPr>
        <p:txBody>
          <a:bodyPr wrap="square" lIns="0" tIns="0" rIns="0" bIns="0" rtlCol="0" anchor="ctr"/>
          <a:lstStyle/>
          <a:p>
            <a:pPr indent="0" marL="0">
              <a:lnSpc>
                <a:spcPct val="142000"/>
              </a:lnSpc>
              <a:buNone/>
            </a:pPr>
            <a:r>
              <a:rPr lang="en-US" sz="1350" dirty="0">
                <a:solidFill>
                  <a:srgbClr val="B9BECD"/>
                </a:solidFill>
                <a:latin typeface="Inter" pitchFamily="34" charset="0"/>
                <a:ea typeface="Inter" pitchFamily="34" charset="-122"/>
                <a:cs typeface="Inter" pitchFamily="34" charset="-120"/>
              </a:rPr>
              <a:t>Today answered one of them.</a:t>
            </a:r>
            <a:endParaRPr lang="en-US" sz="1350" dirty="0"/>
          </a:p>
        </p:txBody>
      </p:sp>
      <p:sp>
        <p:nvSpPr>
          <p:cNvPr id="8" name="Shape 6"/>
          <p:cNvSpPr/>
          <p:nvPr/>
        </p:nvSpPr>
        <p:spPr>
          <a:xfrm>
            <a:off x="822960" y="2596896"/>
            <a:ext cx="10543032" cy="1042416"/>
          </a:xfrm>
          <a:prstGeom prst="roundRect">
            <a:avLst>
              <a:gd name="adj" fmla="val 4386"/>
            </a:avLst>
          </a:prstGeom>
          <a:solidFill>
            <a:srgbClr val="14181F"/>
          </a:solidFill>
          <a:ln w="12700">
            <a:solidFill>
              <a:srgbClr val="3CCB8E"/>
            </a:solidFill>
            <a:prstDash val="solid"/>
          </a:ln>
        </p:spPr>
      </p:sp>
      <p:sp>
        <p:nvSpPr>
          <p:cNvPr id="9" name="Text 7"/>
          <p:cNvSpPr/>
          <p:nvPr/>
        </p:nvSpPr>
        <p:spPr>
          <a:xfrm>
            <a:off x="1152144" y="2889504"/>
            <a:ext cx="731520" cy="457200"/>
          </a:xfrm>
          <a:prstGeom prst="rect">
            <a:avLst/>
          </a:prstGeom>
          <a:noFill/>
          <a:ln/>
        </p:spPr>
        <p:txBody>
          <a:bodyPr wrap="square" lIns="0" tIns="0" rIns="0" bIns="0" rtlCol="0" anchor="ctr"/>
          <a:lstStyle/>
          <a:p>
            <a:pPr indent="0" marL="0">
              <a:buNone/>
            </a:pPr>
            <a:r>
              <a:rPr lang="en-US" sz="2000" b="1" dirty="0">
                <a:solidFill>
                  <a:srgbClr val="3CCB8E"/>
                </a:solidFill>
                <a:latin typeface="JetBrains Mono" pitchFamily="34" charset="0"/>
                <a:ea typeface="JetBrains Mono" pitchFamily="34" charset="-122"/>
                <a:cs typeface="JetBrains Mono" pitchFamily="34" charset="-120"/>
              </a:rPr>
              <a:t>07</a:t>
            </a:r>
            <a:endParaRPr lang="en-US" sz="2000" dirty="0"/>
          </a:p>
        </p:txBody>
      </p:sp>
      <p:sp>
        <p:nvSpPr>
          <p:cNvPr id="10" name="Text 8"/>
          <p:cNvSpPr/>
          <p:nvPr/>
        </p:nvSpPr>
        <p:spPr>
          <a:xfrm>
            <a:off x="2103120" y="2798064"/>
            <a:ext cx="393192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Who am I paying?</a:t>
            </a:r>
            <a:endParaRPr lang="en-US" sz="1600" dirty="0"/>
          </a:p>
        </p:txBody>
      </p:sp>
      <p:sp>
        <p:nvSpPr>
          <p:cNvPr id="11" name="Text 9"/>
          <p:cNvSpPr/>
          <p:nvPr/>
        </p:nvSpPr>
        <p:spPr>
          <a:xfrm>
            <a:off x="2103120" y="3172968"/>
            <a:ext cx="7498080" cy="365760"/>
          </a:xfrm>
          <a:prstGeom prst="rect">
            <a:avLst/>
          </a:prstGeom>
          <a:noFill/>
          <a:ln/>
        </p:spPr>
        <p:txBody>
          <a:bodyPr wrap="square" lIns="0" tIns="0" rIns="0" bIns="0" rtlCol="0" anchor="ctr"/>
          <a:lstStyle/>
          <a:p>
            <a:pPr indent="0" marL="0">
              <a:buNone/>
            </a:pPr>
            <a:r>
              <a:rPr lang="en-US" sz="1150" dirty="0">
                <a:solidFill>
                  <a:srgbClr val="B9BECD"/>
                </a:solidFill>
                <a:latin typeface="Inter" pitchFamily="34" charset="0"/>
                <a:ea typeface="Inter" pitchFamily="34" charset="-122"/>
                <a:cs typeface="Inter" pitchFamily="34" charset="-120"/>
              </a:rPr>
              <a:t>The registry, checked before any money moves.</a:t>
            </a:r>
            <a:endParaRPr lang="en-US" sz="1150" dirty="0"/>
          </a:p>
        </p:txBody>
      </p:sp>
      <p:sp>
        <p:nvSpPr>
          <p:cNvPr id="12" name="Text 10"/>
          <p:cNvSpPr/>
          <p:nvPr/>
        </p:nvSpPr>
        <p:spPr>
          <a:xfrm>
            <a:off x="9994392" y="2962656"/>
            <a:ext cx="1042416" cy="274320"/>
          </a:xfrm>
          <a:prstGeom prst="rect">
            <a:avLst/>
          </a:prstGeom>
          <a:noFill/>
          <a:ln/>
        </p:spPr>
        <p:txBody>
          <a:bodyPr wrap="square" lIns="0" tIns="0" rIns="0" bIns="0" rtlCol="0" anchor="ctr"/>
          <a:lstStyle/>
          <a:p>
            <a:pPr algn="r" indent="0" marL="0">
              <a:buNone/>
            </a:pPr>
            <a:r>
              <a:rPr lang="en-US" sz="1000" b="1" spc="130" kern="0" dirty="0">
                <a:solidFill>
                  <a:srgbClr val="3CCB8E"/>
                </a:solidFill>
                <a:latin typeface="JetBrains Mono" pitchFamily="34" charset="0"/>
                <a:ea typeface="JetBrains Mono" pitchFamily="34" charset="-122"/>
                <a:cs typeface="JetBrains Mono" pitchFamily="34" charset="-120"/>
              </a:rPr>
              <a:t>DONE</a:t>
            </a:r>
            <a:endParaRPr lang="en-US" sz="1000" dirty="0"/>
          </a:p>
        </p:txBody>
      </p:sp>
      <p:sp>
        <p:nvSpPr>
          <p:cNvPr id="13" name="Shape 11"/>
          <p:cNvSpPr/>
          <p:nvPr/>
        </p:nvSpPr>
        <p:spPr>
          <a:xfrm>
            <a:off x="822960" y="3803904"/>
            <a:ext cx="10543032" cy="1042416"/>
          </a:xfrm>
          <a:prstGeom prst="roundRect">
            <a:avLst>
              <a:gd name="adj" fmla="val 4386"/>
            </a:avLst>
          </a:prstGeom>
          <a:solidFill>
            <a:srgbClr val="14181F"/>
          </a:solidFill>
          <a:ln w="12700">
            <a:solidFill>
              <a:srgbClr val="2A2E37"/>
            </a:solidFill>
            <a:prstDash val="solid"/>
          </a:ln>
        </p:spPr>
      </p:sp>
      <p:sp>
        <p:nvSpPr>
          <p:cNvPr id="14" name="Text 12"/>
          <p:cNvSpPr/>
          <p:nvPr/>
        </p:nvSpPr>
        <p:spPr>
          <a:xfrm>
            <a:off x="1152144" y="4096512"/>
            <a:ext cx="731520" cy="457200"/>
          </a:xfrm>
          <a:prstGeom prst="rect">
            <a:avLst/>
          </a:prstGeom>
          <a:noFill/>
          <a:ln/>
        </p:spPr>
        <p:txBody>
          <a:bodyPr wrap="square" lIns="0" tIns="0" rIns="0" bIns="0" rtlCol="0" anchor="ctr"/>
          <a:lstStyle/>
          <a:p>
            <a:pPr indent="0" marL="0">
              <a:buNone/>
            </a:pPr>
            <a:r>
              <a:rPr lang="en-US" sz="2000" b="1" dirty="0">
                <a:solidFill>
                  <a:srgbClr val="8B8AF0"/>
                </a:solidFill>
                <a:latin typeface="JetBrains Mono" pitchFamily="34" charset="0"/>
                <a:ea typeface="JetBrains Mono" pitchFamily="34" charset="-122"/>
                <a:cs typeface="JetBrains Mono" pitchFamily="34" charset="-120"/>
              </a:rPr>
              <a:t>08</a:t>
            </a:r>
            <a:endParaRPr lang="en-US" sz="2000" dirty="0"/>
          </a:p>
        </p:txBody>
      </p:sp>
      <p:sp>
        <p:nvSpPr>
          <p:cNvPr id="15" name="Text 13"/>
          <p:cNvSpPr/>
          <p:nvPr/>
        </p:nvSpPr>
        <p:spPr>
          <a:xfrm>
            <a:off x="2103120" y="4005072"/>
            <a:ext cx="393192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What may I spend?</a:t>
            </a:r>
            <a:endParaRPr lang="en-US" sz="1600" dirty="0"/>
          </a:p>
        </p:txBody>
      </p:sp>
      <p:sp>
        <p:nvSpPr>
          <p:cNvPr id="16" name="Text 14"/>
          <p:cNvSpPr/>
          <p:nvPr/>
        </p:nvSpPr>
        <p:spPr>
          <a:xfrm>
            <a:off x="2103120" y="4379976"/>
            <a:ext cx="7498080" cy="365760"/>
          </a:xfrm>
          <a:prstGeom prst="rect">
            <a:avLst/>
          </a:prstGeom>
          <a:noFill/>
          <a:ln/>
        </p:spPr>
        <p:txBody>
          <a:bodyPr wrap="square" lIns="0" tIns="0" rIns="0" bIns="0" rtlCol="0" anchor="ctr"/>
          <a:lstStyle/>
          <a:p>
            <a:pPr indent="0" marL="0">
              <a:buNone/>
            </a:pPr>
            <a:r>
              <a:rPr lang="en-US" sz="1150" dirty="0">
                <a:solidFill>
                  <a:srgbClr val="B9BECD"/>
                </a:solidFill>
                <a:latin typeface="Inter" pitchFamily="34" charset="0"/>
                <a:ea typeface="Inter" pitchFamily="34" charset="-122"/>
                <a:cs typeface="Inter" pitchFamily="34" charset="-120"/>
              </a:rPr>
              <a:t>A cap the chain enforces — authority the agent inherits, not one it grants itself.</a:t>
            </a:r>
            <a:endParaRPr lang="en-US" sz="1150" dirty="0"/>
          </a:p>
        </p:txBody>
      </p:sp>
      <p:sp>
        <p:nvSpPr>
          <p:cNvPr id="17" name="Text 15"/>
          <p:cNvSpPr/>
          <p:nvPr/>
        </p:nvSpPr>
        <p:spPr>
          <a:xfrm>
            <a:off x="9994392" y="4169664"/>
            <a:ext cx="1042416" cy="274320"/>
          </a:xfrm>
          <a:prstGeom prst="rect">
            <a:avLst/>
          </a:prstGeom>
          <a:noFill/>
          <a:ln/>
        </p:spPr>
        <p:txBody>
          <a:bodyPr wrap="square" lIns="0" tIns="0" rIns="0" bIns="0" rtlCol="0" anchor="ctr"/>
          <a:lstStyle/>
          <a:p>
            <a:pPr algn="r" indent="0" marL="0">
              <a:buNone/>
            </a:pPr>
            <a:r>
              <a:rPr lang="en-US" sz="1000" b="1" spc="130" kern="0" dirty="0">
                <a:solidFill>
                  <a:srgbClr val="8B8AF0"/>
                </a:solidFill>
                <a:latin typeface="JetBrains Mono" pitchFamily="34" charset="0"/>
                <a:ea typeface="JetBrains Mono" pitchFamily="34" charset="-122"/>
                <a:cs typeface="JetBrains Mono" pitchFamily="34" charset="-120"/>
              </a:rPr>
              <a:t>NEXT</a:t>
            </a:r>
            <a:endParaRPr lang="en-US" sz="1000" dirty="0"/>
          </a:p>
        </p:txBody>
      </p:sp>
      <p:sp>
        <p:nvSpPr>
          <p:cNvPr id="18" name="Shape 16"/>
          <p:cNvSpPr/>
          <p:nvPr/>
        </p:nvSpPr>
        <p:spPr>
          <a:xfrm>
            <a:off x="822960" y="5010912"/>
            <a:ext cx="10543032" cy="1042416"/>
          </a:xfrm>
          <a:prstGeom prst="roundRect">
            <a:avLst>
              <a:gd name="adj" fmla="val 4386"/>
            </a:avLst>
          </a:prstGeom>
          <a:solidFill>
            <a:srgbClr val="14181F"/>
          </a:solidFill>
          <a:ln w="12700">
            <a:solidFill>
              <a:srgbClr val="2A2E37"/>
            </a:solidFill>
            <a:prstDash val="solid"/>
          </a:ln>
        </p:spPr>
      </p:sp>
      <p:sp>
        <p:nvSpPr>
          <p:cNvPr id="19" name="Text 17"/>
          <p:cNvSpPr/>
          <p:nvPr/>
        </p:nvSpPr>
        <p:spPr>
          <a:xfrm>
            <a:off x="1152144" y="5303520"/>
            <a:ext cx="731520" cy="457200"/>
          </a:xfrm>
          <a:prstGeom prst="rect">
            <a:avLst/>
          </a:prstGeom>
          <a:noFill/>
          <a:ln/>
        </p:spPr>
        <p:txBody>
          <a:bodyPr wrap="square" lIns="0" tIns="0" rIns="0" bIns="0" rtlCol="0" anchor="ctr"/>
          <a:lstStyle/>
          <a:p>
            <a:pPr indent="0" marL="0">
              <a:buNone/>
            </a:pPr>
            <a:r>
              <a:rPr lang="en-US" sz="2000" b="1" dirty="0">
                <a:solidFill>
                  <a:srgbClr val="6B7280"/>
                </a:solidFill>
                <a:latin typeface="JetBrains Mono" pitchFamily="34" charset="0"/>
                <a:ea typeface="JetBrains Mono" pitchFamily="34" charset="-122"/>
                <a:cs typeface="JetBrains Mono" pitchFamily="34" charset="-120"/>
              </a:rPr>
              <a:t>09</a:t>
            </a:r>
            <a:endParaRPr lang="en-US" sz="2000" dirty="0"/>
          </a:p>
        </p:txBody>
      </p:sp>
      <p:sp>
        <p:nvSpPr>
          <p:cNvPr id="20" name="Text 18"/>
          <p:cNvSpPr/>
          <p:nvPr/>
        </p:nvSpPr>
        <p:spPr>
          <a:xfrm>
            <a:off x="2103120" y="5212080"/>
            <a:ext cx="393192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What if you don't deliver?</a:t>
            </a:r>
            <a:endParaRPr lang="en-US" sz="1600" dirty="0"/>
          </a:p>
        </p:txBody>
      </p:sp>
      <p:sp>
        <p:nvSpPr>
          <p:cNvPr id="21" name="Text 19"/>
          <p:cNvSpPr/>
          <p:nvPr/>
        </p:nvSpPr>
        <p:spPr>
          <a:xfrm>
            <a:off x="2103120" y="5586984"/>
            <a:ext cx="7498080" cy="365760"/>
          </a:xfrm>
          <a:prstGeom prst="rect">
            <a:avLst/>
          </a:prstGeom>
          <a:noFill/>
          <a:ln/>
        </p:spPr>
        <p:txBody>
          <a:bodyPr wrap="square" lIns="0" tIns="0" rIns="0" bIns="0" rtlCol="0" anchor="ctr"/>
          <a:lstStyle/>
          <a:p>
            <a:pPr indent="0" marL="0">
              <a:buNone/>
            </a:pPr>
            <a:r>
              <a:rPr lang="en-US" sz="1150" dirty="0">
                <a:solidFill>
                  <a:srgbClr val="B9BECD"/>
                </a:solidFill>
                <a:latin typeface="Inter" pitchFamily="34" charset="0"/>
                <a:ea typeface="Inter" pitchFamily="34" charset="-122"/>
                <a:cs typeface="Inter" pitchFamily="34" charset="-120"/>
              </a:rPr>
              <a:t>Pay on delivery, using MOI's native lockup and release.</a:t>
            </a:r>
            <a:endParaRPr lang="en-US" sz="1150" dirty="0"/>
          </a:p>
        </p:txBody>
      </p:sp>
      <p:sp>
        <p:nvSpPr>
          <p:cNvPr id="22" name="Text 20"/>
          <p:cNvSpPr/>
          <p:nvPr/>
        </p:nvSpPr>
        <p:spPr>
          <a:xfrm>
            <a:off x="9994392" y="5376672"/>
            <a:ext cx="1042416" cy="274320"/>
          </a:xfrm>
          <a:prstGeom prst="rect">
            <a:avLst/>
          </a:prstGeom>
          <a:noFill/>
          <a:ln/>
        </p:spPr>
        <p:txBody>
          <a:bodyPr wrap="square" lIns="0" tIns="0" rIns="0" bIns="0" rtlCol="0" anchor="ctr"/>
          <a:lstStyle/>
          <a:p>
            <a:pPr algn="r" indent="0" marL="0">
              <a:buNone/>
            </a:pPr>
            <a:r>
              <a:rPr lang="en-US" sz="1000" b="1" spc="130" kern="0" dirty="0">
                <a:solidFill>
                  <a:srgbClr val="6B7280"/>
                </a:solidFill>
                <a:latin typeface="JetBrains Mono" pitchFamily="34" charset="0"/>
                <a:ea typeface="JetBrains Mono" pitchFamily="34" charset="-122"/>
                <a:cs typeface="JetBrains Mono" pitchFamily="34" charset="-120"/>
              </a:rPr>
              <a:t>AFTER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2743200" cy="237744"/>
          </a:xfrm>
          <a:prstGeom prst="rect">
            <a:avLst/>
          </a:prstGeom>
          <a:noFill/>
          <a:ln/>
        </p:spPr>
        <p:txBody>
          <a:bodyPr wrap="square" lIns="0" tIns="0" rIns="0" bIns="0" rtlCol="0" anchor="ctr"/>
          <a:lstStyle/>
          <a:p>
            <a:pPr indent="0" marL="0">
              <a:buNone/>
            </a:pPr>
            <a:r>
              <a:rPr lang="en-US" sz="1050" b="1" spc="140" kern="0" dirty="0">
                <a:solidFill>
                  <a:srgbClr val="2D2BB6"/>
                </a:solidFill>
                <a:latin typeface="JetBrains Mono" pitchFamily="34" charset="0"/>
                <a:ea typeface="JetBrains Mono" pitchFamily="34" charset="-122"/>
                <a:cs typeface="JetBrains Mono" pitchFamily="34" charset="-120"/>
              </a:rPr>
              <a:t>MOI · BUILD 08</a:t>
            </a:r>
            <a:endParaRPr lang="en-US" sz="1050" dirty="0"/>
          </a:p>
        </p:txBody>
      </p:sp>
      <p:sp>
        <p:nvSpPr>
          <p:cNvPr id="3" name="Text 1"/>
          <p:cNvSpPr/>
          <p:nvPr/>
        </p:nvSpPr>
        <p:spPr>
          <a:xfrm>
            <a:off x="4023360" y="566928"/>
            <a:ext cx="5486400" cy="237744"/>
          </a:xfrm>
          <a:prstGeom prst="rect">
            <a:avLst/>
          </a:prstGeom>
          <a:noFill/>
          <a:ln/>
        </p:spPr>
        <p:txBody>
          <a:bodyPr wrap="square" lIns="0" tIns="0" rIns="0" bIns="0" rtlCol="0" anchor="ctr"/>
          <a:lstStyle/>
          <a:p>
            <a:pPr indent="0" marL="0">
              <a:buNone/>
            </a:pPr>
            <a:r>
              <a:rPr lang="en-US" sz="1050" spc="140" kern="0" dirty="0">
                <a:solidFill>
                  <a:srgbClr val="5B6170"/>
                </a:solidFill>
                <a:latin typeface="JetBrains Mono" pitchFamily="34" charset="0"/>
                <a:ea typeface="JetBrains Mono" pitchFamily="34" charset="-122"/>
                <a:cs typeface="JetBrains Mono" pitchFamily="34" charset="-120"/>
              </a:rPr>
              <a:t>GO BUILD</a:t>
            </a:r>
            <a:endParaRPr lang="en-US" sz="1050" dirty="0"/>
          </a:p>
        </p:txBody>
      </p:sp>
      <p:sp>
        <p:nvSpPr>
          <p:cNvPr id="4" name="Text 2"/>
          <p:cNvSpPr/>
          <p:nvPr/>
        </p:nvSpPr>
        <p:spPr>
          <a:xfrm>
            <a:off x="822960" y="6355080"/>
            <a:ext cx="3657600" cy="219456"/>
          </a:xfrm>
          <a:prstGeom prst="rect">
            <a:avLst/>
          </a:prstGeom>
          <a:noFill/>
          <a:ln/>
        </p:spPr>
        <p:txBody>
          <a:bodyPr wrap="square" lIns="0" tIns="0" rIns="0" bIns="0" rtlCol="0" anchor="ctr"/>
          <a:lstStyle/>
          <a:p>
            <a:pPr indent="0" marL="0">
              <a:buNone/>
            </a:pPr>
            <a:r>
              <a:rPr lang="en-US" sz="850" spc="80" kern="0" dirty="0">
                <a:solidFill>
                  <a:srgbClr val="9AA0AE"/>
                </a:solidFill>
                <a:latin typeface="JetBrains Mono" pitchFamily="34" charset="0"/>
                <a:ea typeface="JetBrains Mono" pitchFamily="34" charset="-122"/>
                <a:cs typeface="JetBrains Mono" pitchFamily="34" charset="-120"/>
              </a:rPr>
              <a:t>moi builders · session 07</a:t>
            </a:r>
            <a:endParaRPr lang="en-US" sz="850" dirty="0"/>
          </a:p>
        </p:txBody>
      </p:sp>
      <p:sp>
        <p:nvSpPr>
          <p:cNvPr id="5" name="Text 3"/>
          <p:cNvSpPr/>
          <p:nvPr/>
        </p:nvSpPr>
        <p:spPr>
          <a:xfrm>
            <a:off x="9537192" y="6355080"/>
            <a:ext cx="1828800" cy="219456"/>
          </a:xfrm>
          <a:prstGeom prst="rect">
            <a:avLst/>
          </a:prstGeom>
          <a:noFill/>
          <a:ln/>
        </p:spPr>
        <p:txBody>
          <a:bodyPr wrap="square" lIns="0" tIns="0" rIns="0" bIns="0" rtlCol="0" anchor="ctr"/>
          <a:lstStyle/>
          <a:p>
            <a:pPr algn="r" indent="0" marL="0">
              <a:buNone/>
            </a:pPr>
            <a:r>
              <a:rPr lang="en-US" sz="850" spc="80" kern="0" dirty="0">
                <a:solidFill>
                  <a:srgbClr val="9AA0AE"/>
                </a:solidFill>
                <a:latin typeface="JetBrains Mono" pitchFamily="34" charset="0"/>
                <a:ea typeface="JetBrains Mono" pitchFamily="34" charset="-122"/>
                <a:cs typeface="JetBrains Mono" pitchFamily="34" charset="-120"/>
              </a:rPr>
              <a:t>08 / 8</a:t>
            </a:r>
            <a:endParaRPr lang="en-US" sz="850" dirty="0"/>
          </a:p>
        </p:txBody>
      </p:sp>
      <p:sp>
        <p:nvSpPr>
          <p:cNvPr id="6" name="Text 4"/>
          <p:cNvSpPr/>
          <p:nvPr/>
        </p:nvSpPr>
        <p:spPr>
          <a:xfrm>
            <a:off x="822960" y="932688"/>
            <a:ext cx="10543032" cy="731520"/>
          </a:xfrm>
          <a:prstGeom prst="rect">
            <a:avLst/>
          </a:prstGeom>
          <a:noFill/>
          <a:ln/>
        </p:spPr>
        <p:txBody>
          <a:bodyPr wrap="square" lIns="0" tIns="0" rIns="0" bIns="0" rtlCol="0" anchor="ctr"/>
          <a:lstStyle/>
          <a:p>
            <a:pPr indent="0" marL="0">
              <a:lnSpc>
                <a:spcPct val="108000"/>
              </a:lnSpc>
              <a:buNone/>
            </a:pPr>
            <a:r>
              <a:rPr lang="en-US" sz="3300" b="1" dirty="0">
                <a:solidFill>
                  <a:srgbClr val="0E1116"/>
                </a:solidFill>
                <a:latin typeface="Inter" pitchFamily="34" charset="0"/>
                <a:ea typeface="Inter" pitchFamily="34" charset="-122"/>
                <a:cs typeface="Inter" pitchFamily="34" charset="-120"/>
              </a:rPr>
              <a:t>Run it yourself</a:t>
            </a:r>
            <a:endParaRPr lang="en-US" sz="3300" dirty="0"/>
          </a:p>
        </p:txBody>
      </p:sp>
      <p:sp>
        <p:nvSpPr>
          <p:cNvPr id="7" name="Text 5"/>
          <p:cNvSpPr/>
          <p:nvPr/>
        </p:nvSpPr>
        <p:spPr>
          <a:xfrm>
            <a:off x="822960" y="1719072"/>
            <a:ext cx="9875520" cy="676656"/>
          </a:xfrm>
          <a:prstGeom prst="rect">
            <a:avLst/>
          </a:prstGeom>
          <a:noFill/>
          <a:ln/>
        </p:spPr>
        <p:txBody>
          <a:bodyPr wrap="square" lIns="0" tIns="0" rIns="0" bIns="0" rtlCol="0" anchor="ctr"/>
          <a:lstStyle/>
          <a:p>
            <a:pPr indent="0" marL="0">
              <a:lnSpc>
                <a:spcPct val="142000"/>
              </a:lnSpc>
              <a:buNone/>
            </a:pPr>
            <a:r>
              <a:rPr lang="en-US" sz="1350" dirty="0">
                <a:solidFill>
                  <a:srgbClr val="5B6170"/>
                </a:solidFill>
                <a:latin typeface="Inter" pitchFamily="34" charset="0"/>
                <a:ea typeface="Inter" pitchFamily="34" charset="-122"/>
                <a:cs typeface="Inter" pitchFamily="34" charset="-120"/>
              </a:rPr>
              <a:t>One funded devnet wallet covers the whole thing. The seller never needs gas — it only receives.</a:t>
            </a:r>
            <a:endParaRPr lang="en-US" sz="1350" dirty="0"/>
          </a:p>
        </p:txBody>
      </p:sp>
      <p:sp>
        <p:nvSpPr>
          <p:cNvPr id="8" name="Shape 6"/>
          <p:cNvSpPr/>
          <p:nvPr/>
        </p:nvSpPr>
        <p:spPr>
          <a:xfrm>
            <a:off x="822960" y="2505456"/>
            <a:ext cx="6309360" cy="2286000"/>
          </a:xfrm>
          <a:prstGeom prst="roundRect">
            <a:avLst>
              <a:gd name="adj" fmla="val 2000"/>
            </a:avLst>
          </a:prstGeom>
          <a:solidFill>
            <a:srgbClr val="0E1116"/>
          </a:solidFill>
          <a:ln w="12700">
            <a:solidFill>
              <a:srgbClr val="0E1116"/>
            </a:solidFill>
            <a:prstDash val="solid"/>
          </a:ln>
        </p:spPr>
      </p:sp>
      <p:sp>
        <p:nvSpPr>
          <p:cNvPr id="9" name="Text 7"/>
          <p:cNvSpPr/>
          <p:nvPr/>
        </p:nvSpPr>
        <p:spPr>
          <a:xfrm>
            <a:off x="1152144" y="2761488"/>
            <a:ext cx="3749040" cy="274320"/>
          </a:xfrm>
          <a:prstGeom prst="rect">
            <a:avLst/>
          </a:prstGeom>
          <a:noFill/>
          <a:ln/>
        </p:spPr>
        <p:txBody>
          <a:bodyPr wrap="square" lIns="0" tIns="0" rIns="0" bIns="0" rtlCol="0" anchor="ctr"/>
          <a:lstStyle/>
          <a:p>
            <a:pPr indent="0" marL="0">
              <a:buNone/>
            </a:pPr>
            <a:r>
              <a:rPr lang="en-US" sz="1150" dirty="0">
                <a:solidFill>
                  <a:srgbClr val="8B8AF0"/>
                </a:solidFill>
                <a:latin typeface="JetBrains Mono" pitchFamily="34" charset="0"/>
                <a:ea typeface="JetBrains Mono" pitchFamily="34" charset="-122"/>
                <a:cs typeface="JetBrains Mono" pitchFamily="34" charset="-120"/>
              </a:rPr>
              <a:t>npm install</a:t>
            </a:r>
            <a:endParaRPr lang="en-US" sz="1150" dirty="0"/>
          </a:p>
        </p:txBody>
      </p:sp>
      <p:sp>
        <p:nvSpPr>
          <p:cNvPr id="10" name="Text 8"/>
          <p:cNvSpPr/>
          <p:nvPr/>
        </p:nvSpPr>
        <p:spPr>
          <a:xfrm>
            <a:off x="1152144" y="3163824"/>
            <a:ext cx="3749040" cy="274320"/>
          </a:xfrm>
          <a:prstGeom prst="rect">
            <a:avLst/>
          </a:prstGeom>
          <a:noFill/>
          <a:ln/>
        </p:spPr>
        <p:txBody>
          <a:bodyPr wrap="square" lIns="0" tIns="0" rIns="0" bIns="0" rtlCol="0" anchor="ctr"/>
          <a:lstStyle/>
          <a:p>
            <a:pPr indent="0" marL="0">
              <a:buNone/>
            </a:pPr>
            <a:r>
              <a:rPr lang="en-US" sz="1150" dirty="0">
                <a:solidFill>
                  <a:srgbClr val="8B8AF0"/>
                </a:solidFill>
                <a:latin typeface="JetBrains Mono" pitchFamily="34" charset="0"/>
                <a:ea typeface="JetBrains Mono" pitchFamily="34" charset="-122"/>
                <a:cs typeface="JetBrains Mono" pitchFamily="34" charset="-120"/>
              </a:rPr>
              <a:t>cp .env.example .env</a:t>
            </a:r>
            <a:endParaRPr lang="en-US" sz="1150" dirty="0"/>
          </a:p>
        </p:txBody>
      </p:sp>
      <p:sp>
        <p:nvSpPr>
          <p:cNvPr id="11" name="Text 9"/>
          <p:cNvSpPr/>
          <p:nvPr/>
        </p:nvSpPr>
        <p:spPr>
          <a:xfrm>
            <a:off x="4937760" y="3163824"/>
            <a:ext cx="2011680" cy="274320"/>
          </a:xfrm>
          <a:prstGeom prst="rect">
            <a:avLst/>
          </a:prstGeom>
          <a:noFill/>
          <a:ln/>
        </p:spPr>
        <p:txBody>
          <a:bodyPr wrap="square" lIns="0" tIns="0" rIns="0" bIns="0" rtlCol="0" anchor="ctr"/>
          <a:lstStyle/>
          <a:p>
            <a:pPr indent="0" marL="0">
              <a:buNone/>
            </a:pPr>
            <a:r>
              <a:rPr lang="en-US" sz="950" dirty="0">
                <a:solidFill>
                  <a:srgbClr val="6B7280"/>
                </a:solidFill>
                <a:latin typeface="JetBrains Mono" pitchFamily="34" charset="0"/>
                <a:ea typeface="JetBrains Mono" pitchFamily="34" charset="-122"/>
                <a:cs typeface="JetBrains Mono" pitchFamily="34" charset="-120"/>
              </a:rPr>
              <a:t>paste a funded mnemonic</a:t>
            </a:r>
            <a:endParaRPr lang="en-US" sz="950" dirty="0"/>
          </a:p>
        </p:txBody>
      </p:sp>
      <p:sp>
        <p:nvSpPr>
          <p:cNvPr id="12" name="Text 10"/>
          <p:cNvSpPr/>
          <p:nvPr/>
        </p:nvSpPr>
        <p:spPr>
          <a:xfrm>
            <a:off x="1152144" y="3566160"/>
            <a:ext cx="3749040" cy="274320"/>
          </a:xfrm>
          <a:prstGeom prst="rect">
            <a:avLst/>
          </a:prstGeom>
          <a:noFill/>
          <a:ln/>
        </p:spPr>
        <p:txBody>
          <a:bodyPr wrap="square" lIns="0" tIns="0" rIns="0" bIns="0" rtlCol="0" anchor="ctr"/>
          <a:lstStyle/>
          <a:p>
            <a:pPr indent="0" marL="0">
              <a:buNone/>
            </a:pPr>
            <a:r>
              <a:rPr lang="en-US" sz="1150" dirty="0">
                <a:solidFill>
                  <a:srgbClr val="8B8AF0"/>
                </a:solidFill>
                <a:latin typeface="JetBrains Mono" pitchFamily="34" charset="0"/>
                <a:ea typeface="JetBrains Mono" pitchFamily="34" charset="-122"/>
                <a:cs typeface="JetBrains Mono" pitchFamily="34" charset="-120"/>
              </a:rPr>
              <a:t>npm run setup:asset</a:t>
            </a:r>
            <a:endParaRPr lang="en-US" sz="1150" dirty="0"/>
          </a:p>
        </p:txBody>
      </p:sp>
      <p:sp>
        <p:nvSpPr>
          <p:cNvPr id="13" name="Text 11"/>
          <p:cNvSpPr/>
          <p:nvPr/>
        </p:nvSpPr>
        <p:spPr>
          <a:xfrm>
            <a:off x="4937760" y="3566160"/>
            <a:ext cx="2011680" cy="274320"/>
          </a:xfrm>
          <a:prstGeom prst="rect">
            <a:avLst/>
          </a:prstGeom>
          <a:noFill/>
          <a:ln/>
        </p:spPr>
        <p:txBody>
          <a:bodyPr wrap="square" lIns="0" tIns="0" rIns="0" bIns="0" rtlCol="0" anchor="ctr"/>
          <a:lstStyle/>
          <a:p>
            <a:pPr indent="0" marL="0">
              <a:buNone/>
            </a:pPr>
            <a:r>
              <a:rPr lang="en-US" sz="950" dirty="0">
                <a:solidFill>
                  <a:srgbClr val="6B7280"/>
                </a:solidFill>
                <a:latin typeface="JetBrains Mono" pitchFamily="34" charset="0"/>
                <a:ea typeface="JetBrains Mono" pitchFamily="34" charset="-122"/>
                <a:cs typeface="JetBrains Mono" pitchFamily="34" charset="-120"/>
              </a:rPr>
              <a:t>mint the settlement asset</a:t>
            </a:r>
            <a:endParaRPr lang="en-US" sz="950" dirty="0"/>
          </a:p>
        </p:txBody>
      </p:sp>
      <p:sp>
        <p:nvSpPr>
          <p:cNvPr id="14" name="Text 12"/>
          <p:cNvSpPr/>
          <p:nvPr/>
        </p:nvSpPr>
        <p:spPr>
          <a:xfrm>
            <a:off x="1152144" y="3968496"/>
            <a:ext cx="3749040" cy="274320"/>
          </a:xfrm>
          <a:prstGeom prst="rect">
            <a:avLst/>
          </a:prstGeom>
          <a:noFill/>
          <a:ln/>
        </p:spPr>
        <p:txBody>
          <a:bodyPr wrap="square" lIns="0" tIns="0" rIns="0" bIns="0" rtlCol="0" anchor="ctr"/>
          <a:lstStyle/>
          <a:p>
            <a:pPr indent="0" marL="0">
              <a:buNone/>
            </a:pPr>
            <a:r>
              <a:rPr lang="en-US" sz="1150" dirty="0">
                <a:solidFill>
                  <a:srgbClr val="8B8AF0"/>
                </a:solidFill>
                <a:latin typeface="JetBrains Mono" pitchFamily="34" charset="0"/>
                <a:ea typeface="JetBrains Mono" pitchFamily="34" charset="-122"/>
                <a:cs typeface="JetBrains Mono" pitchFamily="34" charset="-120"/>
              </a:rPr>
              <a:t>npm run setup:registry</a:t>
            </a:r>
            <a:endParaRPr lang="en-US" sz="1150" dirty="0"/>
          </a:p>
        </p:txBody>
      </p:sp>
      <p:sp>
        <p:nvSpPr>
          <p:cNvPr id="15" name="Text 13"/>
          <p:cNvSpPr/>
          <p:nvPr/>
        </p:nvSpPr>
        <p:spPr>
          <a:xfrm>
            <a:off x="4937760" y="3968496"/>
            <a:ext cx="2011680" cy="274320"/>
          </a:xfrm>
          <a:prstGeom prst="rect">
            <a:avLst/>
          </a:prstGeom>
          <a:noFill/>
          <a:ln/>
        </p:spPr>
        <p:txBody>
          <a:bodyPr wrap="square" lIns="0" tIns="0" rIns="0" bIns="0" rtlCol="0" anchor="ctr"/>
          <a:lstStyle/>
          <a:p>
            <a:pPr indent="0" marL="0">
              <a:buNone/>
            </a:pPr>
            <a:r>
              <a:rPr lang="en-US" sz="950" dirty="0">
                <a:solidFill>
                  <a:srgbClr val="6B7280"/>
                </a:solidFill>
                <a:latin typeface="JetBrains Mono" pitchFamily="34" charset="0"/>
                <a:ea typeface="JetBrains Mono" pitchFamily="34" charset="-122"/>
                <a:cs typeface="JetBrains Mono" pitchFamily="34" charset="-120"/>
              </a:rPr>
              <a:t>put both agents on chain</a:t>
            </a:r>
            <a:endParaRPr lang="en-US" sz="950" dirty="0"/>
          </a:p>
        </p:txBody>
      </p:sp>
      <p:sp>
        <p:nvSpPr>
          <p:cNvPr id="16" name="Text 14"/>
          <p:cNvSpPr/>
          <p:nvPr/>
        </p:nvSpPr>
        <p:spPr>
          <a:xfrm>
            <a:off x="1152144" y="4370832"/>
            <a:ext cx="3749040" cy="274320"/>
          </a:xfrm>
          <a:prstGeom prst="rect">
            <a:avLst/>
          </a:prstGeom>
          <a:noFill/>
          <a:ln/>
        </p:spPr>
        <p:txBody>
          <a:bodyPr wrap="square" lIns="0" tIns="0" rIns="0" bIns="0" rtlCol="0" anchor="ctr"/>
          <a:lstStyle/>
          <a:p>
            <a:pPr indent="0" marL="0">
              <a:buNone/>
            </a:pPr>
            <a:r>
              <a:rPr lang="en-US" sz="1150" dirty="0">
                <a:solidFill>
                  <a:srgbClr val="8B8AF0"/>
                </a:solidFill>
                <a:latin typeface="JetBrains Mono" pitchFamily="34" charset="0"/>
                <a:ea typeface="JetBrains Mono" pitchFamily="34" charset="-122"/>
                <a:cs typeface="JetBrains Mono" pitchFamily="34" charset="-120"/>
              </a:rPr>
              <a:t>npm run ui</a:t>
            </a:r>
            <a:endParaRPr lang="en-US" sz="1150" dirty="0"/>
          </a:p>
        </p:txBody>
      </p:sp>
      <p:sp>
        <p:nvSpPr>
          <p:cNvPr id="17" name="Text 15"/>
          <p:cNvSpPr/>
          <p:nvPr/>
        </p:nvSpPr>
        <p:spPr>
          <a:xfrm>
            <a:off x="4937760" y="4370832"/>
            <a:ext cx="2011680" cy="274320"/>
          </a:xfrm>
          <a:prstGeom prst="rect">
            <a:avLst/>
          </a:prstGeom>
          <a:noFill/>
          <a:ln/>
        </p:spPr>
        <p:txBody>
          <a:bodyPr wrap="square" lIns="0" tIns="0" rIns="0" bIns="0" rtlCol="0" anchor="ctr"/>
          <a:lstStyle/>
          <a:p>
            <a:pPr indent="0" marL="0">
              <a:buNone/>
            </a:pPr>
            <a:r>
              <a:rPr lang="en-US" sz="950" dirty="0">
                <a:solidFill>
                  <a:srgbClr val="6B7280"/>
                </a:solidFill>
                <a:latin typeface="JetBrains Mono" pitchFamily="34" charset="0"/>
                <a:ea typeface="JetBrains Mono" pitchFamily="34" charset="-122"/>
                <a:cs typeface="JetBrains Mono" pitchFamily="34" charset="-120"/>
              </a:rPr>
              <a:t>the agent console</a:t>
            </a:r>
            <a:endParaRPr lang="en-US" sz="950" dirty="0"/>
          </a:p>
        </p:txBody>
      </p:sp>
      <p:sp>
        <p:nvSpPr>
          <p:cNvPr id="18" name="Shape 16"/>
          <p:cNvSpPr/>
          <p:nvPr/>
        </p:nvSpPr>
        <p:spPr>
          <a:xfrm>
            <a:off x="7406640" y="2505456"/>
            <a:ext cx="3959352" cy="1078992"/>
          </a:xfrm>
          <a:prstGeom prst="roundRect">
            <a:avLst>
              <a:gd name="adj" fmla="val 4237"/>
            </a:avLst>
          </a:prstGeom>
          <a:solidFill>
            <a:srgbClr val="EEF0FB"/>
          </a:solidFill>
          <a:ln w="12700">
            <a:solidFill>
              <a:srgbClr val="C9CBF0"/>
            </a:solidFill>
            <a:prstDash val="solid"/>
          </a:ln>
        </p:spPr>
      </p:sp>
      <p:sp>
        <p:nvSpPr>
          <p:cNvPr id="19" name="Text 17"/>
          <p:cNvSpPr/>
          <p:nvPr/>
        </p:nvSpPr>
        <p:spPr>
          <a:xfrm>
            <a:off x="7699248" y="2724912"/>
            <a:ext cx="3374136"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FAUCET · ONE WALLET</a:t>
            </a:r>
            <a:endParaRPr lang="en-US" sz="1000" dirty="0"/>
          </a:p>
        </p:txBody>
      </p:sp>
      <p:sp>
        <p:nvSpPr>
          <p:cNvPr id="20" name="Text 18"/>
          <p:cNvSpPr/>
          <p:nvPr/>
        </p:nvSpPr>
        <p:spPr>
          <a:xfrm>
            <a:off x="7699248" y="3035808"/>
            <a:ext cx="3374136" cy="310896"/>
          </a:xfrm>
          <a:prstGeom prst="rect">
            <a:avLst/>
          </a:prstGeom>
          <a:noFill/>
          <a:ln/>
        </p:spPr>
        <p:txBody>
          <a:bodyPr wrap="square" lIns="0" tIns="0" rIns="0" bIns="0" rtlCol="0" anchor="ctr"/>
          <a:lstStyle/>
          <a:p>
            <a:pPr indent="0" marL="0">
              <a:buNone/>
            </a:pPr>
            <a:r>
              <a:rPr lang="en-US" sz="1600" b="1" dirty="0">
                <a:solidFill>
                  <a:srgbClr val="0E1116"/>
                </a:solidFill>
                <a:latin typeface="Inter" pitchFamily="34" charset="0"/>
                <a:ea typeface="Inter" pitchFamily="34" charset="-122"/>
                <a:cs typeface="Inter" pitchFamily="34" charset="-120"/>
              </a:rPr>
              <a:t>voyage.moi.technology</a:t>
            </a:r>
            <a:endParaRPr lang="en-US" sz="1600" dirty="0"/>
          </a:p>
        </p:txBody>
      </p:sp>
      <p:sp>
        <p:nvSpPr>
          <p:cNvPr id="21" name="Shape 19"/>
          <p:cNvSpPr/>
          <p:nvPr/>
        </p:nvSpPr>
        <p:spPr>
          <a:xfrm>
            <a:off x="7406640" y="3712464"/>
            <a:ext cx="3959352" cy="1078992"/>
          </a:xfrm>
          <a:prstGeom prst="roundRect">
            <a:avLst>
              <a:gd name="adj" fmla="val 4237"/>
            </a:avLst>
          </a:prstGeom>
          <a:solidFill>
            <a:srgbClr val="F4F4F8"/>
          </a:solidFill>
          <a:ln w="12700">
            <a:solidFill>
              <a:srgbClr val="E4E5EC"/>
            </a:solidFill>
            <a:prstDash val="solid"/>
          </a:ln>
        </p:spPr>
      </p:sp>
      <p:sp>
        <p:nvSpPr>
          <p:cNvPr id="22" name="Text 20"/>
          <p:cNvSpPr/>
          <p:nvPr/>
        </p:nvSpPr>
        <p:spPr>
          <a:xfrm>
            <a:off x="7699248" y="3931920"/>
            <a:ext cx="3374136" cy="219456"/>
          </a:xfrm>
          <a:prstGeom prst="rect">
            <a:avLst/>
          </a:prstGeom>
          <a:noFill/>
          <a:ln/>
        </p:spPr>
        <p:txBody>
          <a:bodyPr wrap="square" lIns="0" tIns="0" rIns="0" bIns="0" rtlCol="0" anchor="ctr"/>
          <a:lstStyle/>
          <a:p>
            <a:pPr indent="0" marL="0">
              <a:buNone/>
            </a:pPr>
            <a:r>
              <a:rPr lang="en-US" sz="1000" spc="130" kern="0" dirty="0">
                <a:solidFill>
                  <a:srgbClr val="2D2BB6"/>
                </a:solidFill>
                <a:latin typeface="JetBrains Mono" pitchFamily="34" charset="0"/>
                <a:ea typeface="JetBrains Mono" pitchFamily="34" charset="-122"/>
                <a:cs typeface="JetBrains Mono" pitchFamily="34" charset="-120"/>
              </a:rPr>
              <a:t>NEXT</a:t>
            </a:r>
            <a:endParaRPr lang="en-US" sz="1000" dirty="0"/>
          </a:p>
        </p:txBody>
      </p:sp>
      <p:sp>
        <p:nvSpPr>
          <p:cNvPr id="23" name="Text 21"/>
          <p:cNvSpPr/>
          <p:nvPr/>
        </p:nvSpPr>
        <p:spPr>
          <a:xfrm>
            <a:off x="7699248" y="4242816"/>
            <a:ext cx="3374136" cy="310896"/>
          </a:xfrm>
          <a:prstGeom prst="rect">
            <a:avLst/>
          </a:prstGeom>
          <a:noFill/>
          <a:ln/>
        </p:spPr>
        <p:txBody>
          <a:bodyPr wrap="square" lIns="0" tIns="0" rIns="0" bIns="0" rtlCol="0" anchor="ctr"/>
          <a:lstStyle/>
          <a:p>
            <a:pPr indent="0" marL="0">
              <a:buNone/>
            </a:pPr>
            <a:r>
              <a:rPr lang="en-US" sz="1600" b="1" dirty="0">
                <a:solidFill>
                  <a:srgbClr val="0E1116"/>
                </a:solidFill>
                <a:latin typeface="Inter" pitchFamily="34" charset="0"/>
                <a:ea typeface="Inter" pitchFamily="34" charset="-122"/>
                <a:cs typeface="Inter" pitchFamily="34" charset="-120"/>
              </a:rPr>
              <a:t>Session 8 — authority</a:t>
            </a:r>
            <a:endParaRPr lang="en-US" sz="1600" dirty="0"/>
          </a:p>
        </p:txBody>
      </p:sp>
      <p:sp>
        <p:nvSpPr>
          <p:cNvPr id="24" name="Text 22"/>
          <p:cNvSpPr/>
          <p:nvPr/>
        </p:nvSpPr>
        <p:spPr>
          <a:xfrm>
            <a:off x="822960" y="5047488"/>
            <a:ext cx="10543032" cy="365760"/>
          </a:xfrm>
          <a:prstGeom prst="rect">
            <a:avLst/>
          </a:prstGeom>
          <a:noFill/>
          <a:ln/>
        </p:spPr>
        <p:txBody>
          <a:bodyPr wrap="square" lIns="0" tIns="0" rIns="0" bIns="0" rtlCol="0" anchor="ctr"/>
          <a:lstStyle/>
          <a:p>
            <a:pPr indent="0" marL="0">
              <a:buNone/>
            </a:pPr>
            <a:r>
              <a:rPr lang="en-US" sz="1500" b="1" dirty="0">
                <a:solidFill>
                  <a:srgbClr val="2D2BB6"/>
                </a:solidFill>
                <a:latin typeface="Inter" pitchFamily="34" charset="0"/>
                <a:ea typeface="Inter" pitchFamily="34" charset="-122"/>
                <a:cs typeface="Inter" pitchFamily="34" charset="-120"/>
              </a:rPr>
              <a:t>The payment was the easy half. Knowing who you're paying is what makes it safe.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MOI Builders Session 7 — Agentic Payments</dc:title>
  <dc:subject>PptxGenJS Presentation</dc:subject>
  <dc:creator>Adithya · Sarva Labs</dc:creator>
  <cp:lastModifiedBy>Adithya · Sarva Labs</cp:lastModifiedBy>
  <cp:revision>1</cp:revision>
  <dcterms:created xsi:type="dcterms:W3CDTF">2026-08-05T19:47:36Z</dcterms:created>
  <dcterms:modified xsi:type="dcterms:W3CDTF">2026-08-05T19:47:36Z</dcterms:modified>
</cp:coreProperties>
</file>